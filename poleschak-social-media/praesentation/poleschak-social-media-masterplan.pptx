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Anteil</c:v>
                </c:pt>
              </c:strCache>
            </c:strRef>
          </c:tx>
          <c:spPr>
            <a:solidFill>
              <a:schemeClr val="accent1"/>
            </a:solidFill>
            <a:ln w="9525" cap="flat">
              <a:solidFill>
                <a:srgbClr val="F9F9F9"/>
              </a:solidFill>
              <a:prstDash val="solid"/>
              <a:round/>
            </a:ln>
            <a:effectLst/>
          </c:spPr>
          <c:dPt>
            <c:idx val="0"/>
            <c:bubble3D val="0"/>
            <c:spPr>
              <a:solidFill>
                <a:srgbClr val="111111"/>
              </a:solidFill>
              <a:effectLst/>
            </c:spPr>
          </c:dPt>
          <c:dPt>
            <c:idx val="1"/>
            <c:bubble3D val="0"/>
            <c:spPr>
              <a:solidFill>
                <a:srgbClr val="EB5A1B"/>
              </a:solidFill>
              <a:effectLst/>
            </c:spPr>
          </c:dPt>
          <c:dPt>
            <c:idx val="2"/>
            <c:bubble3D val="0"/>
            <c:spPr>
              <a:solidFill>
                <a:srgbClr val="FF7F22"/>
              </a:solidFill>
              <a:effectLst/>
            </c:spPr>
          </c:dPt>
          <c:dPt>
            <c:idx val="3"/>
            <c:bubble3D val="0"/>
            <c:spPr>
              <a:solidFill>
                <a:srgbClr val="545559"/>
              </a:solidFill>
              <a:effectLst/>
            </c:spPr>
          </c:dPt>
          <c:dPt>
            <c:idx val="4"/>
            <c:bubble3D val="0"/>
            <c:spPr>
              <a:solidFill>
                <a:srgbClr val="B4B5BB"/>
              </a:solidFill>
              <a:effectLst/>
            </c:spPr>
          </c:dPt>
          <c:dLbls>
            <c:dLbl>
              <c:idx val="0"/>
              <c:numFmt formatCode="0%" sourceLinked="0"/>
              <c:spPr/>
              <c:txPr>
                <a:bodyPr/>
                <a:lstStyle/>
                <a:p>
                  <a:pPr>
                    <a:defRPr sz="1200" b="0" i="0" u="none" strike="noStrike">
                      <a:solidFill>
                        <a:srgbClr val="FFFFFF"/>
                      </a:solidFill>
                      <a:latin typeface="Poppins SemiBold"/>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Poppins SemiBold"/>
                    </a:defRPr>
                  </a:pPr>
                </a:p>
              </c:txPr>
              <c:showLegendKey val="0"/>
              <c:showVal val="0"/>
              <c:showCatName val="0"/>
              <c:showSerName val="0"/>
              <c:showPercent val="1"/>
              <c:showBubbleSize val="0"/>
            </c:dLbl>
            <c:dLbl>
              <c:idx val="2"/>
              <c:numFmt formatCode="0%" sourceLinked="0"/>
              <c:spPr/>
              <c:txPr>
                <a:bodyPr/>
                <a:lstStyle/>
                <a:p>
                  <a:pPr>
                    <a:defRPr sz="1200" b="0" i="0" u="none" strike="noStrike">
                      <a:solidFill>
                        <a:srgbClr val="FFFFFF"/>
                      </a:solidFill>
                      <a:latin typeface="Poppins SemiBold"/>
                    </a:defRPr>
                  </a:pPr>
                </a:p>
              </c:txPr>
              <c:showLegendKey val="0"/>
              <c:showVal val="0"/>
              <c:showCatName val="0"/>
              <c:showSerName val="0"/>
              <c:showPercent val="1"/>
              <c:showBubbleSize val="0"/>
            </c:dLbl>
            <c:dLbl>
              <c:idx val="3"/>
              <c:numFmt formatCode="0%" sourceLinked="0"/>
              <c:spPr/>
              <c:txPr>
                <a:bodyPr/>
                <a:lstStyle/>
                <a:p>
                  <a:pPr>
                    <a:defRPr sz="1200" b="0" i="0" u="none" strike="noStrike">
                      <a:solidFill>
                        <a:srgbClr val="FFFFFF"/>
                      </a:solidFill>
                      <a:latin typeface="Poppins SemiBold"/>
                    </a:defRPr>
                  </a:pPr>
                </a:p>
              </c:txPr>
              <c:showLegendKey val="0"/>
              <c:showVal val="0"/>
              <c:showCatName val="0"/>
              <c:showSerName val="0"/>
              <c:showPercent val="1"/>
              <c:showBubbleSize val="0"/>
            </c:dLbl>
            <c:dLbl>
              <c:idx val="4"/>
              <c:numFmt formatCode="0%" sourceLinked="0"/>
              <c:spPr/>
              <c:txPr>
                <a:bodyPr/>
                <a:lstStyle/>
                <a:p>
                  <a:pPr>
                    <a:defRPr sz="1200" b="0" i="0" u="none" strike="noStrike">
                      <a:solidFill>
                        <a:srgbClr val="FFFFFF"/>
                      </a:solidFill>
                      <a:latin typeface="Poppins SemiBold"/>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Aus der Leitstelle</c:v>
                </c:pt>
                <c:pt idx="1">
                  <c:v>Sicher wissen</c:v>
                </c:pt>
                <c:pt idx="2">
                  <c:v>Mach Alarm. Beruflich.</c:v>
                </c:pt>
                <c:pt idx="3">
                  <c:v>Familie Poleschak</c:v>
                </c:pt>
                <c:pt idx="4">
                  <c:v>Vertrauen</c:v>
                </c:pt>
              </c:strCache>
            </c:strRef>
          </c:cat>
          <c:val>
            <c:numRef>
              <c:f>Sheet1!$B$2:$B$6</c:f>
              <c:numCache>
                <c:ptCount val="5"/>
                <c:pt idx="0">
                  <c:v>25</c:v>
                </c:pt>
                <c:pt idx="1">
                  <c:v>30</c:v>
                </c:pt>
                <c:pt idx="2">
                  <c:v>30</c:v>
                </c:pt>
                <c:pt idx="3">
                  <c:v>10</c:v>
                </c:pt>
                <c:pt idx="4">
                  <c:v>5</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111"/>
                </a:solidFill>
                <a:latin typeface="Poppins SemiBold"/>
              </a:defRPr>
            </a:pPr>
            <a:r>
              <a:rPr sz="1200" b="0" i="0" u="none" strike="noStrike">
                <a:solidFill>
                  <a:srgbClr val="111111"/>
                </a:solidFill>
                <a:latin typeface="Poppins SemiBold"/>
              </a:rPr>
              <a:t>Werbebudget 3.800 € pro Jahr</a:t>
            </a:r>
          </a:p>
        </c:rich>
      </c:tx>
      <c:layout/>
      <c:overlay val="0"/>
    </c:title>
    <c:autoTitleDeleted val="0"/>
    <c:plotArea>
      <c:layout/>
      <c:barChart>
        <c:barDir val="bar"/>
        <c:grouping val="clustered"/>
        <c:varyColors val="0"/>
        <c:ser>
          <c:idx val="0"/>
          <c:order val="0"/>
          <c:tx>
            <c:strRef>
              <c:f>Sheet1!$B$1</c:f>
              <c:strCache>
                <c:ptCount val="1"/>
                <c:pt idx="0">
                  <c:v>Budget</c:v>
                </c:pt>
              </c:strCache>
            </c:strRef>
          </c:tx>
          <c:spPr>
            <a:solidFill>
              <a:srgbClr val="EB5A1B"/>
            </a:solidFill>
            <a:effectLst/>
          </c:spPr>
          <c:invertIfNegative val="0"/>
          <c:dLbls>
            <c:numFmt formatCode="#,##0 &quot;€&quot;" sourceLinked="0"/>
            <c:txPr>
              <a:bodyPr/>
              <a:lstStyle/>
              <a:p>
                <a:pPr>
                  <a:defRPr b="0" i="0" strike="noStrike" sz="1100" u="none">
                    <a:solidFill>
                      <a:srgbClr val="222222"/>
                    </a:solidFill>
                    <a:latin typeface="Arial"/>
                  </a:defRPr>
                </a:pPr>
              </a:p>
            </c:txPr>
            <c:showLegendKey val="0"/>
            <c:showVal val="1"/>
            <c:showCatName val="0"/>
            <c:showSerName val="0"/>
            <c:showPercent val="0"/>
            <c:showBubbleSize val="0"/>
            <c:showLeaderLines val="0"/>
          </c:dLbls>
          <c:cat>
            <c:multiLvlStrRef>
              <c:f>Sheet1!$A$2:$A$4</c:f>
              <c:multiLvlStrCache>
                <c:ptCount val="3"/>
                <c:lvl>
                  <c:pt idx="0">
                    <c:v>Kunden</c:v>
                  </c:pt>
                  <c:pt idx="1">
                    <c:v>Azubis</c:v>
                  </c:pt>
                  <c:pt idx="2">
                    <c:v>Fachkräfte</c:v>
                  </c:pt>
                </c:lvl>
              </c:multiLvlStrCache>
            </c:multiLvlStrRef>
          </c:cat>
          <c:val>
            <c:numRef>
              <c:f>Sheet1!$B$2:$B$4</c:f>
              <c:numCache>
                <c:formatCode>General</c:formatCode>
                <c:ptCount val="3"/>
                <c:pt idx="0">
                  <c:v>1500</c:v>
                </c:pt>
                <c:pt idx="1">
                  <c:v>1400</c:v>
                </c:pt>
                <c:pt idx="2">
                  <c:v>900</c:v>
                </c:pt>
              </c:numCache>
            </c:numRef>
          </c:val>
        </c:ser>
        <c:dLbls>
          <c:numFmt formatCode="#,##0 &quot;€&quot;" sourceLinked="0"/>
          <c:txPr>
            <a:bodyPr/>
            <a:lstStyle/>
            <a:p>
              <a:pPr>
                <a:defRPr b="0" i="0" strike="noStrike" sz="1100" u="none">
                  <a:solidFill>
                    <a:srgbClr val="2222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max val="19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111"/>
                </a:solidFill>
                <a:latin typeface="Poppins SemiBold"/>
              </a:defRPr>
            </a:pPr>
            <a:r>
              <a:rPr sz="1200" b="0" i="0" u="none" strike="noStrike">
                <a:solidFill>
                  <a:srgbClr val="111111"/>
                </a:solidFill>
                <a:latin typeface="Poppins SemiBold"/>
              </a:rPr>
              <a:t>Stunden pro Monat: ca. 41,6 von max. 43</a:t>
            </a:r>
          </a:p>
        </c:rich>
      </c:tx>
      <c:layout/>
      <c:overlay val="0"/>
    </c:title>
    <c:autoTitleDeleted val="0"/>
    <c:plotArea>
      <c:layout/>
      <c:barChart>
        <c:barDir val="bar"/>
        <c:grouping val="clustered"/>
        <c:varyColors val="0"/>
        <c:ser>
          <c:idx val="0"/>
          <c:order val="0"/>
          <c:tx>
            <c:strRef>
              <c:f>Sheet1!$B$1</c:f>
              <c:strCache>
                <c:ptCount val="1"/>
                <c:pt idx="0">
                  <c:v>Stunden</c:v>
                </c:pt>
              </c:strCache>
            </c:strRef>
          </c:tx>
          <c:spPr>
            <a:solidFill>
              <a:srgbClr val="EB5A1B"/>
            </a:solidFill>
            <a:effectLst/>
          </c:spPr>
          <c:invertIfNegative val="0"/>
          <c:dLbls>
            <c:numFmt formatCode="0.0 &quot;h&quot;" sourceLinked="0"/>
            <c:txPr>
              <a:bodyPr/>
              <a:lstStyle/>
              <a:p>
                <a:pPr>
                  <a:defRPr b="0" i="0" strike="noStrike" sz="1100" u="none">
                    <a:solidFill>
                      <a:srgbClr val="222222"/>
                    </a:solidFill>
                    <a:latin typeface="Arial"/>
                  </a:defRPr>
                </a:pPr>
              </a:p>
            </c:txPr>
            <c:showLegendKey val="0"/>
            <c:showVal val="1"/>
            <c:showCatName val="0"/>
            <c:showSerName val="0"/>
            <c:showPercent val="0"/>
            <c:showBubbleSize val="0"/>
            <c:showLeaderLines val="0"/>
          </c:dLbls>
          <c:cat>
            <c:multiLvlStrRef>
              <c:f>Sheet1!$A$2:$A$10</c:f>
              <c:multiLvlStrCache>
                <c:ptCount val="9"/>
                <c:lvl>
                  <c:pt idx="0">
                    <c:v>Reels</c:v>
                  </c:pt>
                  <c:pt idx="1">
                    <c:v>Karussells</c:v>
                  </c:pt>
                  <c:pt idx="2">
                    <c:v>Community</c:v>
                  </c:pt>
                  <c:pt idx="3">
                    <c:v>Material-Vorrat</c:v>
                  </c:pt>
                  <c:pt idx="4">
                    <c:v>Story-Tage</c:v>
                  </c:pt>
                  <c:pt idx="5">
                    <c:v>Planung &amp; Freigabe</c:v>
                  </c:pt>
                  <c:pt idx="6">
                    <c:v>Bild-Posts</c:v>
                  </c:pt>
                  <c:pt idx="7">
                    <c:v>Werbeanzeigen</c:v>
                  </c:pt>
                  <c:pt idx="8">
                    <c:v>Reporting</c:v>
                  </c:pt>
                </c:lvl>
              </c:multiLvlStrCache>
            </c:multiLvlStrRef>
          </c:cat>
          <c:val>
            <c:numRef>
              <c:f>Sheet1!$B$2:$B$10</c:f>
              <c:numCache>
                <c:formatCode>General</c:formatCode>
                <c:ptCount val="9"/>
                <c:pt idx="0">
                  <c:v>12</c:v>
                </c:pt>
                <c:pt idx="1">
                  <c:v>6</c:v>
                </c:pt>
                <c:pt idx="2">
                  <c:v>5.4</c:v>
                </c:pt>
                <c:pt idx="3">
                  <c:v>4.3</c:v>
                </c:pt>
                <c:pt idx="4">
                  <c:v>3.25</c:v>
                </c:pt>
                <c:pt idx="5">
                  <c:v>3.25</c:v>
                </c:pt>
                <c:pt idx="6">
                  <c:v>3</c:v>
                </c:pt>
                <c:pt idx="7">
                  <c:v>2.2</c:v>
                </c:pt>
                <c:pt idx="8">
                  <c:v>2.2</c:v>
                </c:pt>
              </c:numCache>
            </c:numRef>
          </c:val>
        </c:ser>
        <c:dLbls>
          <c:numFmt formatCode="0.0 &quot;h&quot;" sourceLinked="0"/>
          <c:txPr>
            <a:bodyPr/>
            <a:lstStyle/>
            <a:p>
              <a:pPr>
                <a:defRPr b="0" i="0" strike="noStrike" sz="1100" u="none">
                  <a:solidFill>
                    <a:srgbClr val="2222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max val="1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Der Claim ist die Idee in einem Satz. Unsere Leitstelle ist nachts wach, und genau das zeigen wir auf Instagram. In den nächsten 20 Minuten zeige ich, wie wir damit Kunden und neue Kolleginnen und Kollegen gewinnen und was es kostet.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Zahlen: Follower laut Suchmaschinen-Snippets (Stand Sept. 2026, ca.-Werte). Google-Bewertung Gaimersheim laut Das Örtliche. Kernbotschaft: Wir müssen nicht gegen große Accounts antreten, in unserer Region ist Platz 1 mit überschaubarem Aufwand erreichbar.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Probleme, eine Lösung: Mehr Einbrüche bedeuten mehr Beratungsbedarf, und uns fehlen Azubis und Fachkräfte. Instagram adressiert beides. Wichtig: 44,9 % der Einbrüche scheitern im Versuch, Sicherung wirkt. Das ist unsere positive Botschaft, wir machen keine Angst.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Kern der ganzen Strategie: Die Leitstelle ist unser Alleinstellungsmerkmal. Keine Agentur und kein Wettbewerber kann zeigen, was bei uns nachts passiert.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Beide Claims sind freigegeben. Die Ansprache „du“ ist eine Empfehlung, die letzte Entscheidung liegt bei der Geschäftsführung.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Prozentzahlen geben den Anteil am Content an. Saisonal verschiebt sich das: Oktober bis März mehr Kundenthemen, Januar bis April und September mehr Azubi-Themen.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Details im Marken-Kit (8 Seiten, liegt als PDF bei). Das Profilbild zeigt nur das Signal aus dem Logo. Das braucht Ihre Freigabe. Die Endfassung kommt aus der Vektordatei des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Zielgruppe hat ihren eigenen Look. Durch Farben, Schrift und Signal-Elemente bleibt alles als Poleschak erkennbar. Die Vorlagen sind fertig und werden in Canva als Markenvorlagen angelegt.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Profil wird im Aufbaumonat komplett neu aufgesetzt. Follower-Zahlen tragen wir nach der Nullmessung ein. Aktuell habe ich noch keinen Zugang zum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Anteile beziehen sich auf die Feed-Beiträge. Die Leitstellen-Säule ist klein, aber am wichtigsten für die Wiedererkennung.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Paket S passt genau in 43 Stunden pro Monat. Die Rhythmus-Tage sind Startwerte, die wir nach den ersten Daten optimieren.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Wiederkehrende Formate: Aufbau, Vorlage und Schnitt sind immer gleich. Dadurch schaffe ich mehr Qualität in weniger Zeit, und die Follower wissen, was sie erwartet.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Konkreter Plan für den ersten vollen Monat. Der Rauchmeldertag am Freitag, 13.11., ist ein bundesweiter Aktionstag. Stories kommen jeweils montags, mittwochs und freitags dazu.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Kampagnen folgen den Saisons: Einbruchsaison Oktober bis März, Azubi-Bewerbungsphase Januar bis April, Ausbildungsmesse im Herbst. Nach sechs Monaten gibt es ein Review mit echten Zahlen.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Niedrige Hürden sind der Schlüssel: kein Anschreiben, kein Formular-Marathon. Die Rückmeldung an Bewerber innerhalb von 48 Stunden übernimmt die Personalabteilung, das ist nicht Teil des Minijobs.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Mit etwa 2 Stunden pro Monat für Werbeanzeigen bauen wir keine komplexen Kampagnen. Geld fließt nur in Beiträge, die organisch schon funktionieren. Agentur-Richtwerte: 20–60 € pro Lead, 10–18 € pro Bewerbung. Wir rechnen vorsichtig mit dem doppelten Preis.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Vorlagen liegen in Originalgröße vor. Fotoplatzhalter werden mit echten Bildern aus dem Team gefüllt, nach Einwilligung.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Ziele gelten für Stufe 1 (Paket S). Nach der Nullmessung justieren wir die Follower- und Engagement-Ziele falls nötig nach. Benchmark Engagement: Socialinsider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bin bei der SWD angestellt. Social Media übernehme ich als Minijob bei der Poleschak GmbH, einem eigenen Arbeitgeber. Das ist für die Firma die günstigste Variante. Vorab prüfen lassen: Lohnbüro bzw. Steuerberater (getrennte Arbeitgeber bei gleicher Inhaberin). Aufbaumonat: nur 2 statt 4 Reels, damit die 43 h reichen.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Ehrlich gesagt: Eine Agentur ist nicht teurer. Der Unterschied liegt in Menge und Echtheit des Materials. Die 1.200 € Deckungsbeitrag sind eine Annahme, bitte mit Ihren Zahlen prüfen. Recruiting-Vollkosten: Agentur-Richtwerte (webtak.de).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Persönlicher Teil: Warum ich die richtige Person bin. Ein Foto von mir in der Leitstelle (ohne lesbare Monitore) wirkt hier sehr stark.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steht, was ich brauche. Rechts stehen Firmenprozesse, die außerhalb meiner 43 Stunden laufen, aber stark auf die Ziele einzahlen.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Zeitpunkt ist ideal: Der Aufbaumonat fällt in den Oktober, und der Start am Tag des Einbruchschutzes gibt uns sofort ein starkes Thema.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Abschluss mit drei klaren Entscheidungen, um die ich bitte. Danach Fragen. Unterlagen im Anhang: Marken-Kit (PDF), Vorlagen, Strategie-Dokument.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6"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slideLayout" Target="../slideLayouts/slideLayout1.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tmp/claude-0/-home-user-Marlene/67342075-d45e-5dfd-8246-b97e829a8c42/scratchpad/deck/img/waves.png">    </p:cNvPr>
          <p:cNvPicPr>
            <a:picLocks noChangeAspect="1"/>
          </p:cNvPicPr>
          <p:nvPr/>
        </p:nvPicPr>
        <p:blipFill>
          <a:blip r:embed="rId1"/>
          <a:stretch>
            <a:fillRect/>
          </a:stretch>
        </p:blipFill>
        <p:spPr>
          <a:xfrm>
            <a:off x="7680960" y="914400"/>
            <a:ext cx="4754880" cy="4754880"/>
          </a:xfrm>
          <a:prstGeom prst="rect">
            <a:avLst/>
          </a:prstGeom>
        </p:spPr>
      </p:pic>
      <p:sp>
        <p:nvSpPr>
          <p:cNvPr id="3" name="Shape 0"/>
          <p:cNvSpPr/>
          <p:nvPr/>
        </p:nvSpPr>
        <p:spPr>
          <a:xfrm>
            <a:off x="685800" y="704088"/>
            <a:ext cx="146304" cy="146304"/>
          </a:xfrm>
          <a:prstGeom prst="ellipse">
            <a:avLst/>
          </a:prstGeom>
          <a:solidFill>
            <a:srgbClr val="EB5A1B"/>
          </a:solidFill>
          <a:ln w="12700">
            <a:solidFill>
              <a:srgbClr val="EB5A1B"/>
            </a:solidFill>
            <a:prstDash val="solid"/>
          </a:ln>
        </p:spPr>
      </p:sp>
      <p:sp>
        <p:nvSpPr>
          <p:cNvPr id="4" name="Text 1"/>
          <p:cNvSpPr txBox="1"/>
          <p:nvPr/>
        </p:nvSpPr>
        <p:spPr>
          <a:xfrm>
            <a:off x="941832" y="64008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SOCIAL-MEDIA-MASTERPLAN · INSTAGRAM</a:t>
            </a:r>
            <a:endParaRPr lang="en-US" sz="1200" dirty="0"/>
          </a:p>
        </p:txBody>
      </p:sp>
      <p:pic>
        <p:nvPicPr>
          <p:cNvPr id="5" name="Image 1" descr="/home/user/Marlene/poleschak-social-media/assets/logo-negativ.png">    </p:cNvPr>
          <p:cNvPicPr>
            <a:picLocks noChangeAspect="1"/>
          </p:cNvPicPr>
          <p:nvPr/>
        </p:nvPicPr>
        <p:blipFill>
          <a:blip r:embed="rId2"/>
          <a:stretch>
            <a:fillRect/>
          </a:stretch>
        </p:blipFill>
        <p:spPr>
          <a:xfrm>
            <a:off x="685800" y="1325880"/>
            <a:ext cx="2413800" cy="1234440"/>
          </a:xfrm>
          <a:prstGeom prst="rect">
            <a:avLst/>
          </a:prstGeom>
        </p:spPr>
      </p:pic>
      <p:sp>
        <p:nvSpPr>
          <p:cNvPr id="6" name="Text 2"/>
          <p:cNvSpPr txBox="1"/>
          <p:nvPr/>
        </p:nvSpPr>
        <p:spPr>
          <a:xfrm>
            <a:off x="685800" y="2926080"/>
            <a:ext cx="7498080" cy="1920240"/>
          </a:xfrm>
          <a:prstGeom prst="rect">
            <a:avLst/>
          </a:prstGeom>
          <a:noFill/>
          <a:ln/>
        </p:spPr>
        <p:txBody>
          <a:bodyPr wrap="square" lIns="0" tIns="0" rIns="0" bIns="0" rtlCol="0" anchor="t"/>
          <a:lstStyle/>
          <a:p>
            <a:pPr indent="0" marL="0">
              <a:buNone/>
            </a:pPr>
            <a:r>
              <a:rPr lang="en-US" sz="5000" dirty="0">
                <a:solidFill>
                  <a:srgbClr val="FFFFFF"/>
                </a:solidFill>
                <a:latin typeface="Poppins ExtraBold" pitchFamily="34" charset="0"/>
                <a:ea typeface="Poppins ExtraBold" pitchFamily="34" charset="-122"/>
                <a:cs typeface="Poppins ExtraBold" pitchFamily="34" charset="-120"/>
              </a:rPr>
              <a:t>Wir sind wach,</a:t>
            </a:r>
            <a:endParaRPr lang="en-US" sz="5000" dirty="0"/>
          </a:p>
          <a:p>
            <a:pPr indent="0" marL="0">
              <a:buNone/>
            </a:pPr>
            <a:r>
              <a:rPr lang="en-US" sz="5000" dirty="0">
                <a:solidFill>
                  <a:srgbClr val="FFFFFF"/>
                </a:solidFill>
                <a:latin typeface="Poppins ExtraBold" pitchFamily="34" charset="0"/>
                <a:ea typeface="Poppins ExtraBold" pitchFamily="34" charset="-122"/>
                <a:cs typeface="Poppins ExtraBold" pitchFamily="34" charset="-120"/>
              </a:rPr>
              <a:t>damit du </a:t>
            </a:r>
            <a:pPr indent="0" marL="0">
              <a:buNone/>
            </a:pPr>
            <a:r>
              <a:rPr lang="en-US" sz="5000" dirty="0">
                <a:solidFill>
                  <a:srgbClr val="EB5A1B"/>
                </a:solidFill>
                <a:latin typeface="Poppins ExtraBold" pitchFamily="34" charset="0"/>
                <a:ea typeface="Poppins ExtraBold" pitchFamily="34" charset="-122"/>
                <a:cs typeface="Poppins ExtraBold" pitchFamily="34" charset="-120"/>
              </a:rPr>
              <a:t>schlafen</a:t>
            </a:r>
            <a:pPr indent="0" marL="0">
              <a:buNone/>
            </a:pPr>
            <a:r>
              <a:rPr lang="en-US" sz="5000" dirty="0">
                <a:solidFill>
                  <a:srgbClr val="FFFFFF"/>
                </a:solidFill>
                <a:latin typeface="Poppins ExtraBold" pitchFamily="34" charset="0"/>
                <a:ea typeface="Poppins ExtraBold" pitchFamily="34" charset="-122"/>
                <a:cs typeface="Poppins ExtraBold" pitchFamily="34" charset="-120"/>
              </a:rPr>
              <a:t> kannst.</a:t>
            </a:r>
            <a:endParaRPr lang="en-US" sz="5000" dirty="0"/>
          </a:p>
        </p:txBody>
      </p:sp>
      <p:sp>
        <p:nvSpPr>
          <p:cNvPr id="7" name="Text 3"/>
          <p:cNvSpPr txBox="1"/>
          <p:nvPr/>
        </p:nvSpPr>
        <p:spPr>
          <a:xfrm>
            <a:off x="685800" y="5989320"/>
            <a:ext cx="8229600" cy="320040"/>
          </a:xfrm>
          <a:prstGeom prst="rect">
            <a:avLst/>
          </a:prstGeom>
          <a:noFill/>
          <a:ln/>
        </p:spPr>
        <p:txBody>
          <a:bodyPr wrap="square" lIns="0" tIns="0" rIns="0" bIns="0" rtlCol="0" anchor="t"/>
          <a:lstStyle/>
          <a:p>
            <a:pPr indent="0" marL="0">
              <a:buNone/>
            </a:pPr>
            <a:r>
              <a:rPr lang="en-US" sz="1400" dirty="0">
                <a:solidFill>
                  <a:srgbClr val="B4B5BB"/>
                </a:solidFill>
                <a:latin typeface="Poppins" pitchFamily="34" charset="0"/>
                <a:ea typeface="Poppins" pitchFamily="34" charset="-122"/>
                <a:cs typeface="Poppins" pitchFamily="34" charset="-120"/>
              </a:rPr>
              <a:t>Vorschlag für die Geschäftsführung · 07.10.2026 · [Dein Name]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01 · AUSGANGSLAGE</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Die Nische ist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frei.</a:t>
            </a:r>
            <a:endParaRPr lang="en-US" sz="3400" dirty="0"/>
          </a:p>
        </p:txBody>
      </p:sp>
      <p:sp>
        <p:nvSpPr>
          <p:cNvPr id="5" name="Shape 3"/>
          <p:cNvSpPr/>
          <p:nvPr/>
        </p:nvSpPr>
        <p:spPr>
          <a:xfrm>
            <a:off x="685800" y="1965960"/>
            <a:ext cx="3017520" cy="1783080"/>
          </a:xfrm>
          <a:prstGeom prst="roundRect">
            <a:avLst>
              <a:gd name="adj" fmla="val 6154"/>
            </a:avLst>
          </a:prstGeom>
          <a:solidFill>
            <a:srgbClr val="F4F4F4"/>
          </a:solidFill>
          <a:ln w="12700">
            <a:solidFill>
              <a:srgbClr val="F4F4F4"/>
            </a:solidFill>
            <a:prstDash val="solid"/>
          </a:ln>
        </p:spPr>
      </p:sp>
      <p:sp>
        <p:nvSpPr>
          <p:cNvPr id="6" name="Text 4"/>
          <p:cNvSpPr txBox="1"/>
          <p:nvPr/>
        </p:nvSpPr>
        <p:spPr>
          <a:xfrm>
            <a:off x="960120" y="2221992"/>
            <a:ext cx="2560320" cy="685800"/>
          </a:xfrm>
          <a:prstGeom prst="rect">
            <a:avLst/>
          </a:prstGeom>
          <a:noFill/>
          <a:ln/>
        </p:spPr>
        <p:txBody>
          <a:bodyPr wrap="square" lIns="0" tIns="0" rIns="0" bIns="0" rtlCol="0" anchor="t"/>
          <a:lstStyle/>
          <a:p>
            <a:pPr indent="0" marL="0">
              <a:buNone/>
            </a:pPr>
            <a:r>
              <a:rPr lang="en-US" sz="3400" dirty="0">
                <a:solidFill>
                  <a:srgbClr val="EB5A1B"/>
                </a:solidFill>
                <a:latin typeface="Poppins ExtraBold" pitchFamily="34" charset="0"/>
                <a:ea typeface="Poppins ExtraBold" pitchFamily="34" charset="-122"/>
                <a:cs typeface="Poppins ExtraBold" pitchFamily="34" charset="-120"/>
              </a:rPr>
              <a:t>ca. 1.059</a:t>
            </a:r>
            <a:endParaRPr lang="en-US" sz="3400" dirty="0"/>
          </a:p>
        </p:txBody>
      </p:sp>
      <p:sp>
        <p:nvSpPr>
          <p:cNvPr id="7" name="Text 5"/>
          <p:cNvSpPr txBox="1"/>
          <p:nvPr/>
        </p:nvSpPr>
        <p:spPr>
          <a:xfrm>
            <a:off x="960120" y="2926080"/>
            <a:ext cx="2560320" cy="6858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Follower hat der größte regionale Wettbewerber (Pfättisch)</a:t>
            </a:r>
            <a:endParaRPr lang="en-US" sz="1300" dirty="0"/>
          </a:p>
        </p:txBody>
      </p:sp>
      <p:sp>
        <p:nvSpPr>
          <p:cNvPr id="8" name="Shape 6"/>
          <p:cNvSpPr/>
          <p:nvPr/>
        </p:nvSpPr>
        <p:spPr>
          <a:xfrm>
            <a:off x="3931920" y="1965960"/>
            <a:ext cx="3017520" cy="1783080"/>
          </a:xfrm>
          <a:prstGeom prst="roundRect">
            <a:avLst>
              <a:gd name="adj" fmla="val 6154"/>
            </a:avLst>
          </a:prstGeom>
          <a:solidFill>
            <a:srgbClr val="F4F4F4"/>
          </a:solidFill>
          <a:ln w="12700">
            <a:solidFill>
              <a:srgbClr val="F4F4F4"/>
            </a:solidFill>
            <a:prstDash val="solid"/>
          </a:ln>
        </p:spPr>
      </p:sp>
      <p:sp>
        <p:nvSpPr>
          <p:cNvPr id="9" name="Text 7"/>
          <p:cNvSpPr txBox="1"/>
          <p:nvPr/>
        </p:nvSpPr>
        <p:spPr>
          <a:xfrm>
            <a:off x="4206240" y="2221992"/>
            <a:ext cx="2560320" cy="685800"/>
          </a:xfrm>
          <a:prstGeom prst="rect">
            <a:avLst/>
          </a:prstGeom>
          <a:noFill/>
          <a:ln/>
        </p:spPr>
        <p:txBody>
          <a:bodyPr wrap="square" lIns="0" tIns="0" rIns="0" bIns="0" rtlCol="0" anchor="t"/>
          <a:lstStyle/>
          <a:p>
            <a:pPr indent="0" marL="0">
              <a:buNone/>
            </a:pPr>
            <a:r>
              <a:rPr lang="en-US" sz="3400" dirty="0">
                <a:solidFill>
                  <a:srgbClr val="EB5A1B"/>
                </a:solidFill>
                <a:latin typeface="Poppins ExtraBold" pitchFamily="34" charset="0"/>
                <a:ea typeface="Poppins ExtraBold" pitchFamily="34" charset="-122"/>
                <a:cs typeface="Poppins ExtraBold" pitchFamily="34" charset="-120"/>
              </a:rPr>
              <a:t>ca. 150</a:t>
            </a:r>
            <a:endParaRPr lang="en-US" sz="3400" dirty="0"/>
          </a:p>
        </p:txBody>
      </p:sp>
      <p:sp>
        <p:nvSpPr>
          <p:cNvPr id="10" name="Text 8"/>
          <p:cNvSpPr txBox="1"/>
          <p:nvPr/>
        </p:nvSpPr>
        <p:spPr>
          <a:xfrm>
            <a:off x="4206240" y="2926080"/>
            <a:ext cx="2560320" cy="6858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Follower hat unsere Facebook-Seite</a:t>
            </a:r>
            <a:endParaRPr lang="en-US" sz="1300" dirty="0"/>
          </a:p>
        </p:txBody>
      </p:sp>
      <p:sp>
        <p:nvSpPr>
          <p:cNvPr id="11" name="Shape 9"/>
          <p:cNvSpPr/>
          <p:nvPr/>
        </p:nvSpPr>
        <p:spPr>
          <a:xfrm>
            <a:off x="685800" y="3977640"/>
            <a:ext cx="3017520" cy="1783080"/>
          </a:xfrm>
          <a:prstGeom prst="roundRect">
            <a:avLst>
              <a:gd name="adj" fmla="val 6154"/>
            </a:avLst>
          </a:prstGeom>
          <a:solidFill>
            <a:srgbClr val="F4F4F4"/>
          </a:solidFill>
          <a:ln w="12700">
            <a:solidFill>
              <a:srgbClr val="F4F4F4"/>
            </a:solidFill>
            <a:prstDash val="solid"/>
          </a:ln>
        </p:spPr>
      </p:sp>
      <p:sp>
        <p:nvSpPr>
          <p:cNvPr id="12" name="Text 10"/>
          <p:cNvSpPr txBox="1"/>
          <p:nvPr/>
        </p:nvSpPr>
        <p:spPr>
          <a:xfrm>
            <a:off x="960120" y="4233672"/>
            <a:ext cx="2560320" cy="685800"/>
          </a:xfrm>
          <a:prstGeom prst="rect">
            <a:avLst/>
          </a:prstGeom>
          <a:noFill/>
          <a:ln/>
        </p:spPr>
        <p:txBody>
          <a:bodyPr wrap="square" lIns="0" tIns="0" rIns="0" bIns="0" rtlCol="0" anchor="t"/>
          <a:lstStyle/>
          <a:p>
            <a:pPr indent="0" marL="0">
              <a:buNone/>
            </a:pPr>
            <a:r>
              <a:rPr lang="en-US" sz="3400" dirty="0">
                <a:solidFill>
                  <a:srgbClr val="EB5A1B"/>
                </a:solidFill>
                <a:latin typeface="Poppins ExtraBold" pitchFamily="34" charset="0"/>
                <a:ea typeface="Poppins ExtraBold" pitchFamily="34" charset="-122"/>
                <a:cs typeface="Poppins ExtraBold" pitchFamily="34" charset="-120"/>
              </a:rPr>
              <a:t>17</a:t>
            </a:r>
            <a:endParaRPr lang="en-US" sz="3400" dirty="0"/>
          </a:p>
        </p:txBody>
      </p:sp>
      <p:sp>
        <p:nvSpPr>
          <p:cNvPr id="13" name="Text 11"/>
          <p:cNvSpPr txBox="1"/>
          <p:nvPr/>
        </p:nvSpPr>
        <p:spPr>
          <a:xfrm>
            <a:off x="960120" y="4937760"/>
            <a:ext cx="2560320" cy="6858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Follower hat unsere LinkedIn-Seite</a:t>
            </a:r>
            <a:endParaRPr lang="en-US" sz="1300" dirty="0"/>
          </a:p>
        </p:txBody>
      </p:sp>
      <p:sp>
        <p:nvSpPr>
          <p:cNvPr id="14" name="Shape 12"/>
          <p:cNvSpPr/>
          <p:nvPr/>
        </p:nvSpPr>
        <p:spPr>
          <a:xfrm>
            <a:off x="3931920" y="3977640"/>
            <a:ext cx="3017520" cy="1783080"/>
          </a:xfrm>
          <a:prstGeom prst="roundRect">
            <a:avLst>
              <a:gd name="adj" fmla="val 6154"/>
            </a:avLst>
          </a:prstGeom>
          <a:solidFill>
            <a:srgbClr val="F4F4F4"/>
          </a:solidFill>
          <a:ln w="12700">
            <a:solidFill>
              <a:srgbClr val="F4F4F4"/>
            </a:solidFill>
            <a:prstDash val="solid"/>
          </a:ln>
        </p:spPr>
      </p:sp>
      <p:sp>
        <p:nvSpPr>
          <p:cNvPr id="15" name="Text 13"/>
          <p:cNvSpPr txBox="1"/>
          <p:nvPr/>
        </p:nvSpPr>
        <p:spPr>
          <a:xfrm>
            <a:off x="4206240" y="4233672"/>
            <a:ext cx="2560320" cy="685800"/>
          </a:xfrm>
          <a:prstGeom prst="rect">
            <a:avLst/>
          </a:prstGeom>
          <a:noFill/>
          <a:ln/>
        </p:spPr>
        <p:txBody>
          <a:bodyPr wrap="square" lIns="0" tIns="0" rIns="0" bIns="0" rtlCol="0" anchor="t"/>
          <a:lstStyle/>
          <a:p>
            <a:pPr indent="0" marL="0">
              <a:buNone/>
            </a:pPr>
            <a:r>
              <a:rPr lang="en-US" sz="3400" dirty="0">
                <a:solidFill>
                  <a:srgbClr val="EB5A1B"/>
                </a:solidFill>
                <a:latin typeface="Poppins ExtraBold" pitchFamily="34" charset="0"/>
                <a:ea typeface="Poppins ExtraBold" pitchFamily="34" charset="-122"/>
                <a:cs typeface="Poppins ExtraBold" pitchFamily="34" charset="-120"/>
              </a:rPr>
              <a:t>5,0 ★</a:t>
            </a:r>
            <a:endParaRPr lang="en-US" sz="3400" dirty="0"/>
          </a:p>
        </p:txBody>
      </p:sp>
      <p:sp>
        <p:nvSpPr>
          <p:cNvPr id="16" name="Text 14"/>
          <p:cNvSpPr txBox="1"/>
          <p:nvPr/>
        </p:nvSpPr>
        <p:spPr>
          <a:xfrm>
            <a:off x="4206240" y="4937760"/>
            <a:ext cx="2560320" cy="6858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bei Google, aber nur 17 Bewertungen</a:t>
            </a:r>
            <a:endParaRPr lang="en-US" sz="1300" dirty="0"/>
          </a:p>
        </p:txBody>
      </p:sp>
      <p:sp>
        <p:nvSpPr>
          <p:cNvPr id="17" name="Text 15"/>
          <p:cNvSpPr txBox="1"/>
          <p:nvPr/>
        </p:nvSpPr>
        <p:spPr>
          <a:xfrm>
            <a:off x="7498080" y="1965960"/>
            <a:ext cx="4023360" cy="365760"/>
          </a:xfrm>
          <a:prstGeom prst="rect">
            <a:avLst/>
          </a:prstGeom>
          <a:noFill/>
          <a:ln/>
        </p:spPr>
        <p:txBody>
          <a:bodyPr wrap="square" lIns="0" tIns="0" rIns="0" bIns="0" rtlCol="0" anchor="t"/>
          <a:lstStyle/>
          <a:p>
            <a:pPr indent="0" marL="0">
              <a:buNone/>
            </a:pPr>
            <a:r>
              <a:rPr lang="en-US" sz="1800" dirty="0">
                <a:solidFill>
                  <a:srgbClr val="111111"/>
                </a:solidFill>
                <a:latin typeface="Poppins SemiBold" pitchFamily="34" charset="0"/>
                <a:ea typeface="Poppins SemiBold" pitchFamily="34" charset="-122"/>
                <a:cs typeface="Poppins SemiBold" pitchFamily="34" charset="-120"/>
              </a:rPr>
              <a:t>Was das bedeutet</a:t>
            </a:r>
            <a:endParaRPr lang="en-US" sz="1800" dirty="0"/>
          </a:p>
        </p:txBody>
      </p:sp>
      <p:sp>
        <p:nvSpPr>
          <p:cNvPr id="18" name="Shape 16"/>
          <p:cNvSpPr/>
          <p:nvPr/>
        </p:nvSpPr>
        <p:spPr>
          <a:xfrm>
            <a:off x="7498080" y="2556510"/>
            <a:ext cx="91440" cy="91440"/>
          </a:xfrm>
          <a:prstGeom prst="ellipse">
            <a:avLst/>
          </a:prstGeom>
          <a:solidFill>
            <a:srgbClr val="EB5A1B"/>
          </a:solidFill>
          <a:ln w="12700">
            <a:solidFill>
              <a:srgbClr val="EB5A1B"/>
            </a:solidFill>
            <a:prstDash val="solid"/>
          </a:ln>
        </p:spPr>
      </p:sp>
      <p:sp>
        <p:nvSpPr>
          <p:cNvPr id="19" name="Text 17"/>
          <p:cNvSpPr txBox="1"/>
          <p:nvPr/>
        </p:nvSpPr>
        <p:spPr>
          <a:xfrm>
            <a:off x="7726680" y="2468880"/>
            <a:ext cx="3794760" cy="836676"/>
          </a:xfrm>
          <a:prstGeom prst="rect">
            <a:avLst/>
          </a:prstGeom>
          <a:noFill/>
          <a:ln/>
        </p:spPr>
        <p:txBody>
          <a:bodyPr wrap="square" lIns="0" tIns="0" rIns="0" bIns="0" rtlCol="0" anchor="t"/>
          <a:lstStyle/>
          <a:p>
            <a:pPr indent="0" marL="0">
              <a:buNone/>
            </a:pPr>
            <a:r>
              <a:rPr lang="en-US" sz="1500" dirty="0">
                <a:solidFill>
                  <a:srgbClr val="222222"/>
                </a:solidFill>
                <a:latin typeface="Poppins" pitchFamily="34" charset="0"/>
                <a:ea typeface="Poppins" pitchFamily="34" charset="-122"/>
                <a:cs typeface="Poppins" pitchFamily="34" charset="-120"/>
              </a:rPr>
              <a:t>Kein Sicherheitstechnik-Betrieb in der Region nutzt Instagram ernsthaft.</a:t>
            </a:r>
            <a:endParaRPr lang="en-US" sz="1500" dirty="0"/>
          </a:p>
        </p:txBody>
      </p:sp>
      <p:sp>
        <p:nvSpPr>
          <p:cNvPr id="20" name="Shape 18"/>
          <p:cNvSpPr/>
          <p:nvPr/>
        </p:nvSpPr>
        <p:spPr>
          <a:xfrm>
            <a:off x="7498080" y="3502914"/>
            <a:ext cx="91440" cy="91440"/>
          </a:xfrm>
          <a:prstGeom prst="ellipse">
            <a:avLst/>
          </a:prstGeom>
          <a:solidFill>
            <a:srgbClr val="EB5A1B"/>
          </a:solidFill>
          <a:ln w="12700">
            <a:solidFill>
              <a:srgbClr val="EB5A1B"/>
            </a:solidFill>
            <a:prstDash val="solid"/>
          </a:ln>
        </p:spPr>
      </p:sp>
      <p:sp>
        <p:nvSpPr>
          <p:cNvPr id="21" name="Text 19"/>
          <p:cNvSpPr txBox="1"/>
          <p:nvPr/>
        </p:nvSpPr>
        <p:spPr>
          <a:xfrm>
            <a:off x="7726680" y="3415284"/>
            <a:ext cx="3794760" cy="569976"/>
          </a:xfrm>
          <a:prstGeom prst="rect">
            <a:avLst/>
          </a:prstGeom>
          <a:noFill/>
          <a:ln/>
        </p:spPr>
        <p:txBody>
          <a:bodyPr wrap="square" lIns="0" tIns="0" rIns="0" bIns="0" rtlCol="0" anchor="t"/>
          <a:lstStyle/>
          <a:p>
            <a:pPr indent="0" marL="0">
              <a:buNone/>
            </a:pPr>
            <a:r>
              <a:rPr lang="en-US" sz="1500" dirty="0">
                <a:solidFill>
                  <a:srgbClr val="222222"/>
                </a:solidFill>
                <a:latin typeface="Poppins" pitchFamily="34" charset="0"/>
                <a:ea typeface="Poppins" pitchFamily="34" charset="-122"/>
                <a:cs typeface="Poppins" pitchFamily="34" charset="-120"/>
              </a:rPr>
              <a:t>Unser Kanal hat aktuell keine feste Zuständigkeit.</a:t>
            </a:r>
            <a:endParaRPr lang="en-US" sz="1500" dirty="0"/>
          </a:p>
        </p:txBody>
      </p:sp>
      <p:sp>
        <p:nvSpPr>
          <p:cNvPr id="22" name="Shape 20"/>
          <p:cNvSpPr/>
          <p:nvPr/>
        </p:nvSpPr>
        <p:spPr>
          <a:xfrm>
            <a:off x="7498080" y="4182618"/>
            <a:ext cx="91440" cy="91440"/>
          </a:xfrm>
          <a:prstGeom prst="ellipse">
            <a:avLst/>
          </a:prstGeom>
          <a:solidFill>
            <a:srgbClr val="EB5A1B"/>
          </a:solidFill>
          <a:ln w="12700">
            <a:solidFill>
              <a:srgbClr val="EB5A1B"/>
            </a:solidFill>
            <a:prstDash val="solid"/>
          </a:ln>
        </p:spPr>
      </p:sp>
      <p:sp>
        <p:nvSpPr>
          <p:cNvPr id="23" name="Text 21"/>
          <p:cNvSpPr txBox="1"/>
          <p:nvPr/>
        </p:nvSpPr>
        <p:spPr>
          <a:xfrm>
            <a:off x="7726680" y="4094988"/>
            <a:ext cx="3794760" cy="569976"/>
          </a:xfrm>
          <a:prstGeom prst="rect">
            <a:avLst/>
          </a:prstGeom>
          <a:noFill/>
          <a:ln/>
        </p:spPr>
        <p:txBody>
          <a:bodyPr wrap="square" lIns="0" tIns="0" rIns="0" bIns="0" rtlCol="0" anchor="t"/>
          <a:lstStyle/>
          <a:p>
            <a:pPr indent="0" marL="0">
              <a:buNone/>
            </a:pPr>
            <a:r>
              <a:rPr lang="en-US" sz="1500" dirty="0">
                <a:solidFill>
                  <a:srgbClr val="222222"/>
                </a:solidFill>
                <a:latin typeface="Poppins" pitchFamily="34" charset="0"/>
                <a:ea typeface="Poppins" pitchFamily="34" charset="-122"/>
                <a:cs typeface="Poppins" pitchFamily="34" charset="-120"/>
              </a:rPr>
              <a:t>Mit ca. </a:t>
            </a:r>
            <a:pPr indent="0" marL="0">
              <a:buNone/>
            </a:pPr>
            <a:r>
              <a:rPr lang="en-US" sz="1500" b="1" dirty="0">
                <a:solidFill>
                  <a:srgbClr val="222222"/>
                </a:solidFill>
                <a:latin typeface="Poppins" pitchFamily="34" charset="0"/>
                <a:ea typeface="Poppins" pitchFamily="34" charset="-122"/>
                <a:cs typeface="Poppins" pitchFamily="34" charset="-120"/>
              </a:rPr>
              <a:t>1.100 echten Followern</a:t>
            </a:r>
            <a:pPr indent="0" marL="0">
              <a:buNone/>
            </a:pPr>
            <a:r>
              <a:rPr lang="en-US" sz="1500" dirty="0">
                <a:solidFill>
                  <a:srgbClr val="222222"/>
                </a:solidFill>
                <a:latin typeface="Poppins" pitchFamily="34" charset="0"/>
                <a:ea typeface="Poppins" pitchFamily="34" charset="-122"/>
                <a:cs typeface="Poppins" pitchFamily="34" charset="-120"/>
              </a:rPr>
              <a:t> aus der Region wären wir die </a:t>
            </a:r>
            <a:pPr indent="0" marL="0">
              <a:buNone/>
            </a:pPr>
            <a:r>
              <a:rPr lang="en-US" sz="1500" b="1" dirty="0">
                <a:solidFill>
                  <a:srgbClr val="EB5A1B"/>
                </a:solidFill>
                <a:latin typeface="Poppins" pitchFamily="34" charset="0"/>
                <a:ea typeface="Poppins" pitchFamily="34" charset="-122"/>
                <a:cs typeface="Poppins" pitchFamily="34" charset="-120"/>
              </a:rPr>
              <a:t>Nummer 1.</a:t>
            </a:r>
            <a:endParaRPr lang="en-US" sz="1500" dirty="0"/>
          </a:p>
        </p:txBody>
      </p:sp>
      <p:sp>
        <p:nvSpPr>
          <p:cNvPr id="24" name="Shape 22"/>
          <p:cNvSpPr/>
          <p:nvPr/>
        </p:nvSpPr>
        <p:spPr>
          <a:xfrm>
            <a:off x="7498080" y="4862322"/>
            <a:ext cx="91440" cy="91440"/>
          </a:xfrm>
          <a:prstGeom prst="ellipse">
            <a:avLst/>
          </a:prstGeom>
          <a:solidFill>
            <a:srgbClr val="EB5A1B"/>
          </a:solidFill>
          <a:ln w="12700">
            <a:solidFill>
              <a:srgbClr val="EB5A1B"/>
            </a:solidFill>
            <a:prstDash val="solid"/>
          </a:ln>
        </p:spPr>
      </p:sp>
      <p:sp>
        <p:nvSpPr>
          <p:cNvPr id="25" name="Text 23"/>
          <p:cNvSpPr txBox="1"/>
          <p:nvPr/>
        </p:nvSpPr>
        <p:spPr>
          <a:xfrm>
            <a:off x="7726680" y="4774692"/>
            <a:ext cx="3794760" cy="569976"/>
          </a:xfrm>
          <a:prstGeom prst="rect">
            <a:avLst/>
          </a:prstGeom>
          <a:noFill/>
          <a:ln/>
        </p:spPr>
        <p:txBody>
          <a:bodyPr wrap="square" lIns="0" tIns="0" rIns="0" bIns="0" rtlCol="0" anchor="t"/>
          <a:lstStyle/>
          <a:p>
            <a:pPr indent="0" marL="0">
              <a:buNone/>
            </a:pPr>
            <a:r>
              <a:rPr lang="en-US" sz="1500" dirty="0">
                <a:solidFill>
                  <a:srgbClr val="222222"/>
                </a:solidFill>
                <a:latin typeface="Poppins" pitchFamily="34" charset="0"/>
                <a:ea typeface="Poppins" pitchFamily="34" charset="-122"/>
                <a:cs typeface="Poppins" pitchFamily="34" charset="-120"/>
              </a:rPr>
              <a:t>Bewerber und Kunden prüfen uns online, bevor sie anrufen.</a:t>
            </a:r>
            <a:endParaRPr lang="en-US" sz="1500" dirty="0"/>
          </a:p>
        </p:txBody>
      </p:sp>
      <p:pic>
        <p:nvPicPr>
          <p:cNvPr id="26"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27" name="Text 24"/>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02 · WARUM JETZT</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FFFFFF"/>
                </a:solidFill>
                <a:latin typeface="Poppins ExtraBold" pitchFamily="34" charset="0"/>
                <a:ea typeface="Poppins ExtraBold" pitchFamily="34" charset="-122"/>
                <a:cs typeface="Poppins ExtraBold" pitchFamily="34" charset="-120"/>
              </a:rPr>
              <a:t>Einbrüche steigen.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Fachkräfte fehlen.</a:t>
            </a:r>
            <a:endParaRPr lang="en-US" sz="3400" dirty="0"/>
          </a:p>
        </p:txBody>
      </p:sp>
      <p:sp>
        <p:nvSpPr>
          <p:cNvPr id="5" name="Text 3"/>
          <p:cNvSpPr txBox="1"/>
          <p:nvPr/>
        </p:nvSpPr>
        <p:spPr>
          <a:xfrm>
            <a:off x="685800" y="2286000"/>
            <a:ext cx="2560320" cy="822960"/>
          </a:xfrm>
          <a:prstGeom prst="rect">
            <a:avLst/>
          </a:prstGeom>
          <a:noFill/>
          <a:ln/>
        </p:spPr>
        <p:txBody>
          <a:bodyPr wrap="square" lIns="0" tIns="0" rIns="0" bIns="0" rtlCol="0" anchor="t"/>
          <a:lstStyle/>
          <a:p>
            <a:pPr indent="0" marL="0">
              <a:buNone/>
            </a:pPr>
            <a:r>
              <a:rPr lang="en-US" sz="4000" dirty="0">
                <a:solidFill>
                  <a:srgbClr val="EB5A1B"/>
                </a:solidFill>
                <a:latin typeface="Poppins ExtraBold" pitchFamily="34" charset="0"/>
                <a:ea typeface="Poppins ExtraBold" pitchFamily="34" charset="-122"/>
                <a:cs typeface="Poppins ExtraBold" pitchFamily="34" charset="-120"/>
              </a:rPr>
              <a:t>82.920</a:t>
            </a:r>
            <a:endParaRPr lang="en-US" sz="4000" dirty="0"/>
          </a:p>
        </p:txBody>
      </p:sp>
      <p:sp>
        <p:nvSpPr>
          <p:cNvPr id="6" name="Text 4"/>
          <p:cNvSpPr txBox="1"/>
          <p:nvPr/>
        </p:nvSpPr>
        <p:spPr>
          <a:xfrm>
            <a:off x="685800" y="3154680"/>
            <a:ext cx="2377440" cy="914400"/>
          </a:xfrm>
          <a:prstGeom prst="rect">
            <a:avLst/>
          </a:prstGeom>
          <a:noFill/>
          <a:ln/>
        </p:spPr>
        <p:txBody>
          <a:bodyPr wrap="square" lIns="0" tIns="0" rIns="0" bIns="0" rtlCol="0" anchor="t"/>
          <a:lstStyle/>
          <a:p>
            <a:pPr indent="0" marL="0">
              <a:buNone/>
            </a:pPr>
            <a:r>
              <a:rPr lang="en-US" sz="1400" dirty="0">
                <a:solidFill>
                  <a:srgbClr val="DDDDDD"/>
                </a:solidFill>
                <a:latin typeface="Poppins" pitchFamily="34" charset="0"/>
                <a:ea typeface="Poppins" pitchFamily="34" charset="-122"/>
                <a:cs typeface="Poppins" pitchFamily="34" charset="-120"/>
              </a:rPr>
              <a:t>Wohnungseinbrüche 2025 in Deutschland (+5,7 %)</a:t>
            </a:r>
            <a:endParaRPr lang="en-US" sz="1400" dirty="0"/>
          </a:p>
        </p:txBody>
      </p:sp>
      <p:sp>
        <p:nvSpPr>
          <p:cNvPr id="7" name="Text 5"/>
          <p:cNvSpPr txBox="1"/>
          <p:nvPr/>
        </p:nvSpPr>
        <p:spPr>
          <a:xfrm>
            <a:off x="3429000" y="2286000"/>
            <a:ext cx="2560320" cy="822960"/>
          </a:xfrm>
          <a:prstGeom prst="rect">
            <a:avLst/>
          </a:prstGeom>
          <a:noFill/>
          <a:ln/>
        </p:spPr>
        <p:txBody>
          <a:bodyPr wrap="square" lIns="0" tIns="0" rIns="0" bIns="0" rtlCol="0" anchor="t"/>
          <a:lstStyle/>
          <a:p>
            <a:pPr indent="0" marL="0">
              <a:buNone/>
            </a:pPr>
            <a:r>
              <a:rPr lang="en-US" sz="4000" dirty="0">
                <a:solidFill>
                  <a:srgbClr val="EB5A1B"/>
                </a:solidFill>
                <a:latin typeface="Poppins ExtraBold" pitchFamily="34" charset="0"/>
                <a:ea typeface="Poppins ExtraBold" pitchFamily="34" charset="-122"/>
                <a:cs typeface="Poppins ExtraBold" pitchFamily="34" charset="-120"/>
              </a:rPr>
              <a:t>3.806</a:t>
            </a:r>
            <a:endParaRPr lang="en-US" sz="4000" dirty="0"/>
          </a:p>
        </p:txBody>
      </p:sp>
      <p:sp>
        <p:nvSpPr>
          <p:cNvPr id="8" name="Text 6"/>
          <p:cNvSpPr txBox="1"/>
          <p:nvPr/>
        </p:nvSpPr>
        <p:spPr>
          <a:xfrm>
            <a:off x="3429000" y="3154680"/>
            <a:ext cx="2377440" cy="914400"/>
          </a:xfrm>
          <a:prstGeom prst="rect">
            <a:avLst/>
          </a:prstGeom>
          <a:noFill/>
          <a:ln/>
        </p:spPr>
        <p:txBody>
          <a:bodyPr wrap="square" lIns="0" tIns="0" rIns="0" bIns="0" rtlCol="0" anchor="t"/>
          <a:lstStyle/>
          <a:p>
            <a:pPr indent="0" marL="0">
              <a:buNone/>
            </a:pPr>
            <a:r>
              <a:rPr lang="en-US" sz="1400" dirty="0">
                <a:solidFill>
                  <a:srgbClr val="DDDDDD"/>
                </a:solidFill>
                <a:latin typeface="Poppins" pitchFamily="34" charset="0"/>
                <a:ea typeface="Poppins" pitchFamily="34" charset="-122"/>
                <a:cs typeface="Poppins" pitchFamily="34" charset="-120"/>
              </a:rPr>
              <a:t>Wohnungseinbrüche 2025 in Bayern (+5,6 %)</a:t>
            </a:r>
            <a:endParaRPr lang="en-US" sz="1400" dirty="0"/>
          </a:p>
        </p:txBody>
      </p:sp>
      <p:sp>
        <p:nvSpPr>
          <p:cNvPr id="9" name="Text 7"/>
          <p:cNvSpPr txBox="1"/>
          <p:nvPr/>
        </p:nvSpPr>
        <p:spPr>
          <a:xfrm>
            <a:off x="6172200" y="2286000"/>
            <a:ext cx="2560320" cy="822960"/>
          </a:xfrm>
          <a:prstGeom prst="rect">
            <a:avLst/>
          </a:prstGeom>
          <a:noFill/>
          <a:ln/>
        </p:spPr>
        <p:txBody>
          <a:bodyPr wrap="square" lIns="0" tIns="0" rIns="0" bIns="0" rtlCol="0" anchor="t"/>
          <a:lstStyle/>
          <a:p>
            <a:pPr indent="0" marL="0">
              <a:buNone/>
            </a:pPr>
            <a:r>
              <a:rPr lang="en-US" sz="4000" dirty="0">
                <a:solidFill>
                  <a:srgbClr val="EB5A1B"/>
                </a:solidFill>
                <a:latin typeface="Poppins ExtraBold" pitchFamily="34" charset="0"/>
                <a:ea typeface="Poppins ExtraBold" pitchFamily="34" charset="-122"/>
                <a:cs typeface="Poppins ExtraBold" pitchFamily="34" charset="-120"/>
              </a:rPr>
              <a:t>3.850 €</a:t>
            </a:r>
            <a:endParaRPr lang="en-US" sz="4000" dirty="0"/>
          </a:p>
        </p:txBody>
      </p:sp>
      <p:sp>
        <p:nvSpPr>
          <p:cNvPr id="10" name="Text 8"/>
          <p:cNvSpPr txBox="1"/>
          <p:nvPr/>
        </p:nvSpPr>
        <p:spPr>
          <a:xfrm>
            <a:off x="6172200" y="3154680"/>
            <a:ext cx="2377440" cy="914400"/>
          </a:xfrm>
          <a:prstGeom prst="rect">
            <a:avLst/>
          </a:prstGeom>
          <a:noFill/>
          <a:ln/>
        </p:spPr>
        <p:txBody>
          <a:bodyPr wrap="square" lIns="0" tIns="0" rIns="0" bIns="0" rtlCol="0" anchor="t"/>
          <a:lstStyle/>
          <a:p>
            <a:pPr indent="0" marL="0">
              <a:buNone/>
            </a:pPr>
            <a:r>
              <a:rPr lang="en-US" sz="1400" dirty="0">
                <a:solidFill>
                  <a:srgbClr val="DDDDDD"/>
                </a:solidFill>
                <a:latin typeface="Poppins" pitchFamily="34" charset="0"/>
                <a:ea typeface="Poppins" pitchFamily="34" charset="-122"/>
                <a:cs typeface="Poppins" pitchFamily="34" charset="-120"/>
              </a:rPr>
              <a:t>durchschnittlicher Schaden pro Einbruch, so hoch wie nie</a:t>
            </a:r>
            <a:endParaRPr lang="en-US" sz="1400" dirty="0"/>
          </a:p>
        </p:txBody>
      </p:sp>
      <p:sp>
        <p:nvSpPr>
          <p:cNvPr id="11" name="Text 9"/>
          <p:cNvSpPr txBox="1"/>
          <p:nvPr/>
        </p:nvSpPr>
        <p:spPr>
          <a:xfrm>
            <a:off x="8915400" y="2286000"/>
            <a:ext cx="2560320" cy="822960"/>
          </a:xfrm>
          <a:prstGeom prst="rect">
            <a:avLst/>
          </a:prstGeom>
          <a:noFill/>
          <a:ln/>
        </p:spPr>
        <p:txBody>
          <a:bodyPr wrap="square" lIns="0" tIns="0" rIns="0" bIns="0" rtlCol="0" anchor="t"/>
          <a:lstStyle/>
          <a:p>
            <a:pPr indent="0" marL="0">
              <a:buNone/>
            </a:pPr>
            <a:r>
              <a:rPr lang="en-US" sz="4000" dirty="0">
                <a:solidFill>
                  <a:srgbClr val="EB5A1B"/>
                </a:solidFill>
                <a:latin typeface="Poppins ExtraBold" pitchFamily="34" charset="0"/>
                <a:ea typeface="Poppins ExtraBold" pitchFamily="34" charset="-122"/>
                <a:cs typeface="Poppins ExtraBold" pitchFamily="34" charset="-120"/>
              </a:rPr>
              <a:t>24 %</a:t>
            </a:r>
            <a:endParaRPr lang="en-US" sz="4000" dirty="0"/>
          </a:p>
        </p:txBody>
      </p:sp>
      <p:sp>
        <p:nvSpPr>
          <p:cNvPr id="12" name="Text 10"/>
          <p:cNvSpPr txBox="1"/>
          <p:nvPr/>
        </p:nvSpPr>
        <p:spPr>
          <a:xfrm>
            <a:off x="8915400" y="3154680"/>
            <a:ext cx="2377440" cy="914400"/>
          </a:xfrm>
          <a:prstGeom prst="rect">
            <a:avLst/>
          </a:prstGeom>
          <a:noFill/>
          <a:ln/>
        </p:spPr>
        <p:txBody>
          <a:bodyPr wrap="square" lIns="0" tIns="0" rIns="0" bIns="0" rtlCol="0" anchor="t"/>
          <a:lstStyle/>
          <a:p>
            <a:pPr indent="0" marL="0">
              <a:buNone/>
            </a:pPr>
            <a:r>
              <a:rPr lang="en-US" sz="1400" dirty="0">
                <a:solidFill>
                  <a:srgbClr val="DDDDDD"/>
                </a:solidFill>
                <a:latin typeface="Poppins" pitchFamily="34" charset="0"/>
                <a:ea typeface="Poppins" pitchFamily="34" charset="-122"/>
                <a:cs typeface="Poppins" pitchFamily="34" charset="-120"/>
              </a:rPr>
              <a:t>der Lehrstellen im Handwerk Oberbayern blieben unbesetzt</a:t>
            </a:r>
            <a:endParaRPr lang="en-US" sz="1400" dirty="0"/>
          </a:p>
        </p:txBody>
      </p:sp>
      <p:sp>
        <p:nvSpPr>
          <p:cNvPr id="13" name="Shape 11"/>
          <p:cNvSpPr/>
          <p:nvPr/>
        </p:nvSpPr>
        <p:spPr>
          <a:xfrm>
            <a:off x="685800" y="4434840"/>
            <a:ext cx="10789920" cy="960120"/>
          </a:xfrm>
          <a:prstGeom prst="roundRect">
            <a:avLst>
              <a:gd name="adj" fmla="val 11429"/>
            </a:avLst>
          </a:prstGeom>
          <a:solidFill>
            <a:srgbClr val="222222"/>
          </a:solidFill>
          <a:ln w="12700">
            <a:solidFill>
              <a:srgbClr val="222222"/>
            </a:solidFill>
            <a:prstDash val="solid"/>
          </a:ln>
        </p:spPr>
      </p:sp>
      <p:sp>
        <p:nvSpPr>
          <p:cNvPr id="14" name="Shape 12"/>
          <p:cNvSpPr/>
          <p:nvPr/>
        </p:nvSpPr>
        <p:spPr>
          <a:xfrm>
            <a:off x="960120" y="4636008"/>
            <a:ext cx="548640" cy="548640"/>
          </a:xfrm>
          <a:prstGeom prst="ellipse">
            <a:avLst/>
          </a:prstGeom>
          <a:solidFill>
            <a:srgbClr val="EB5A1B"/>
          </a:solidFill>
          <a:ln w="12700">
            <a:solidFill>
              <a:srgbClr val="EB5A1B"/>
            </a:solidFill>
            <a:prstDash val="solid"/>
          </a:ln>
        </p:spPr>
      </p:sp>
      <p:pic>
        <p:nvPicPr>
          <p:cNvPr id="15" name="Image 0" descr="/tmp/claude-0/-home-user-Marlene/67342075-d45e-5dfd-8246-b97e829a8c42/scratchpad/deck/img/FaCalendarDays-w.png">    </p:cNvPr>
          <p:cNvPicPr>
            <a:picLocks noChangeAspect="1"/>
          </p:cNvPicPr>
          <p:nvPr/>
        </p:nvPicPr>
        <p:blipFill>
          <a:blip r:embed="rId1"/>
          <a:stretch>
            <a:fillRect/>
          </a:stretch>
        </p:blipFill>
        <p:spPr>
          <a:xfrm>
            <a:off x="1102766" y="4778654"/>
            <a:ext cx="263347" cy="263347"/>
          </a:xfrm>
          <a:prstGeom prst="rect">
            <a:avLst/>
          </a:prstGeom>
        </p:spPr>
      </p:pic>
      <p:sp>
        <p:nvSpPr>
          <p:cNvPr id="16" name="Text 13"/>
          <p:cNvSpPr txBox="1"/>
          <p:nvPr/>
        </p:nvSpPr>
        <p:spPr>
          <a:xfrm>
            <a:off x="1737360" y="4681728"/>
            <a:ext cx="9509760" cy="54864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25.10.2026: Tag des Einbruchschutzes. </a:t>
            </a:r>
            <a:pPr indent="0" marL="0">
              <a:buNone/>
            </a:pPr>
            <a:r>
              <a:rPr lang="en-US" sz="1500" dirty="0">
                <a:solidFill>
                  <a:srgbClr val="DDDDDD"/>
                </a:solidFill>
                <a:latin typeface="Poppins" pitchFamily="34" charset="0"/>
                <a:ea typeface="Poppins" pitchFamily="34" charset="-122"/>
                <a:cs typeface="Poppins" pitchFamily="34" charset="-120"/>
              </a:rPr>
              <a:t>Mit der Zeitumstellung beginnt die Einbruchsaison. Der perfekte Startschuss für unseren Kanal.</a:t>
            </a:r>
            <a:endParaRPr lang="en-US" sz="1500" dirty="0"/>
          </a:p>
        </p:txBody>
      </p:sp>
      <p:sp>
        <p:nvSpPr>
          <p:cNvPr id="17" name="Text 14"/>
          <p:cNvSpPr txBox="1"/>
          <p:nvPr/>
        </p:nvSpPr>
        <p:spPr>
          <a:xfrm>
            <a:off x="685800" y="5715000"/>
            <a:ext cx="10789920" cy="274320"/>
          </a:xfrm>
          <a:prstGeom prst="rect">
            <a:avLst/>
          </a:prstGeom>
          <a:noFill/>
          <a:ln/>
        </p:spPr>
        <p:txBody>
          <a:bodyPr wrap="square" lIns="0" tIns="0" rIns="0" bIns="0" rtlCol="0" anchor="t"/>
          <a:lstStyle/>
          <a:p>
            <a:pPr indent="0" marL="0">
              <a:buNone/>
            </a:pPr>
            <a:r>
              <a:rPr lang="en-US" sz="1000" dirty="0">
                <a:solidFill>
                  <a:srgbClr val="545559"/>
                </a:solidFill>
                <a:latin typeface="Poppins" pitchFamily="34" charset="0"/>
                <a:ea typeface="Poppins" pitchFamily="34" charset="-122"/>
                <a:cs typeface="Poppins" pitchFamily="34" charset="-120"/>
              </a:rPr>
              <a:t>Quellen: PKS 2025 (BKA), StMI Bayern 16.03.2026, GDV 2025, HWK München (2023/24), polizei-beratung.de</a:t>
            </a:r>
            <a:endParaRPr lang="en-US" sz="1000" dirty="0"/>
          </a:p>
        </p:txBody>
      </p:sp>
      <p:pic>
        <p:nvPicPr>
          <p:cNvPr id="18" name="Image 1" descr="/home/user/Marlene/poleschak-social-media/assets/logo-negativ.png">    </p:cNvPr>
          <p:cNvPicPr>
            <a:picLocks noChangeAspect="1"/>
          </p:cNvPicPr>
          <p:nvPr/>
        </p:nvPicPr>
        <p:blipFill>
          <a:blip r:embed="rId2"/>
          <a:stretch>
            <a:fillRect/>
          </a:stretch>
        </p:blipFill>
        <p:spPr>
          <a:xfrm>
            <a:off x="685800" y="6291072"/>
            <a:ext cx="643680" cy="329184"/>
          </a:xfrm>
          <a:prstGeom prst="rect">
            <a:avLst/>
          </a:prstGeom>
        </p:spPr>
      </p:pic>
      <p:sp>
        <p:nvSpPr>
          <p:cNvPr id="19" name="Text 15"/>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03 · WAS UNS EINZIGARTIG MACHT</a:t>
            </a:r>
            <a:endParaRPr lang="en-US" sz="1200" dirty="0"/>
          </a:p>
        </p:txBody>
      </p:sp>
      <p:sp>
        <p:nvSpPr>
          <p:cNvPr id="4" name="Text 2"/>
          <p:cNvSpPr txBox="1"/>
          <p:nvPr/>
        </p:nvSpPr>
        <p:spPr>
          <a:xfrm>
            <a:off x="685800" y="868680"/>
            <a:ext cx="10789920" cy="1188720"/>
          </a:xfrm>
          <a:prstGeom prst="rect">
            <a:avLst/>
          </a:prstGeom>
          <a:noFill/>
          <a:ln/>
        </p:spPr>
        <p:txBody>
          <a:bodyPr wrap="square" lIns="0" tIns="0" rIns="0" bIns="0" rtlCol="0" anchor="t"/>
          <a:lstStyle/>
          <a:p>
            <a:pPr indent="0" marL="0">
              <a:buNone/>
            </a:pPr>
            <a:r>
              <a:rPr lang="en-US" sz="3000" dirty="0">
                <a:solidFill>
                  <a:srgbClr val="111111"/>
                </a:solidFill>
                <a:latin typeface="Poppins ExtraBold" pitchFamily="34" charset="0"/>
                <a:ea typeface="Poppins ExtraBold" pitchFamily="34" charset="-122"/>
                <a:cs typeface="Poppins ExtraBold" pitchFamily="34" charset="-120"/>
              </a:rPr>
              <a:t>Wir bauen nicht nur ein. </a:t>
            </a:r>
            <a:pPr indent="0" marL="0">
              <a:buNone/>
            </a:pPr>
            <a:r>
              <a:rPr lang="en-US" sz="3000" dirty="0">
                <a:solidFill>
                  <a:srgbClr val="EB5A1B"/>
                </a:solidFill>
                <a:latin typeface="Poppins ExtraBold" pitchFamily="34" charset="0"/>
                <a:ea typeface="Poppins ExtraBold" pitchFamily="34" charset="-122"/>
                <a:cs typeface="Poppins ExtraBold" pitchFamily="34" charset="-120"/>
              </a:rPr>
              <a:t>Wir sind da, wenn es ernst wird.</a:t>
            </a:r>
            <a:endParaRPr lang="en-US" sz="3000" dirty="0"/>
          </a:p>
        </p:txBody>
      </p:sp>
      <p:sp>
        <p:nvSpPr>
          <p:cNvPr id="5" name="Shape 3"/>
          <p:cNvSpPr/>
          <p:nvPr/>
        </p:nvSpPr>
        <p:spPr>
          <a:xfrm>
            <a:off x="685800" y="2331720"/>
            <a:ext cx="2514600" cy="2148840"/>
          </a:xfrm>
          <a:prstGeom prst="roundRect">
            <a:avLst>
              <a:gd name="adj" fmla="val 5106"/>
            </a:avLst>
          </a:prstGeom>
          <a:solidFill>
            <a:srgbClr val="F4F4F4"/>
          </a:solidFill>
          <a:ln w="12700">
            <a:solidFill>
              <a:srgbClr val="F4F4F4"/>
            </a:solidFill>
            <a:prstDash val="solid"/>
          </a:ln>
        </p:spPr>
      </p:sp>
      <p:sp>
        <p:nvSpPr>
          <p:cNvPr id="6" name="Shape 4"/>
          <p:cNvSpPr/>
          <p:nvPr/>
        </p:nvSpPr>
        <p:spPr>
          <a:xfrm>
            <a:off x="960120" y="2606040"/>
            <a:ext cx="640080" cy="640080"/>
          </a:xfrm>
          <a:prstGeom prst="ellipse">
            <a:avLst/>
          </a:prstGeom>
          <a:solidFill>
            <a:srgbClr val="EB5A1B"/>
          </a:solidFill>
          <a:ln w="12700">
            <a:solidFill>
              <a:srgbClr val="EB5A1B"/>
            </a:solidFill>
            <a:prstDash val="solid"/>
          </a:ln>
        </p:spPr>
      </p:sp>
      <p:pic>
        <p:nvPicPr>
          <p:cNvPr id="7" name="Image 0" descr="/tmp/claude-0/-home-user-Marlene/67342075-d45e-5dfd-8246-b97e829a8c42/scratchpad/deck/img/FaPenRuler-w.png">    </p:cNvPr>
          <p:cNvPicPr>
            <a:picLocks noChangeAspect="1"/>
          </p:cNvPicPr>
          <p:nvPr/>
        </p:nvPicPr>
        <p:blipFill>
          <a:blip r:embed="rId1"/>
          <a:stretch>
            <a:fillRect/>
          </a:stretch>
        </p:blipFill>
        <p:spPr>
          <a:xfrm>
            <a:off x="1126541" y="2772461"/>
            <a:ext cx="307238" cy="307238"/>
          </a:xfrm>
          <a:prstGeom prst="rect">
            <a:avLst/>
          </a:prstGeom>
        </p:spPr>
      </p:pic>
      <p:sp>
        <p:nvSpPr>
          <p:cNvPr id="8" name="Text 5"/>
          <p:cNvSpPr txBox="1"/>
          <p:nvPr/>
        </p:nvSpPr>
        <p:spPr>
          <a:xfrm>
            <a:off x="960120" y="3429000"/>
            <a:ext cx="210312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Planung</a:t>
            </a:r>
            <a:endParaRPr lang="en-US" sz="1800" dirty="0"/>
          </a:p>
        </p:txBody>
      </p:sp>
      <p:sp>
        <p:nvSpPr>
          <p:cNvPr id="9" name="Text 6"/>
          <p:cNvSpPr txBox="1"/>
          <p:nvPr/>
        </p:nvSpPr>
        <p:spPr>
          <a:xfrm>
            <a:off x="960120" y="3840480"/>
            <a:ext cx="2103120" cy="54864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Individuelles Sicherheitskonzept</a:t>
            </a:r>
            <a:endParaRPr lang="en-US" sz="1300" dirty="0"/>
          </a:p>
        </p:txBody>
      </p:sp>
      <p:sp>
        <p:nvSpPr>
          <p:cNvPr id="10" name="Text 7"/>
          <p:cNvSpPr txBox="1"/>
          <p:nvPr/>
        </p:nvSpPr>
        <p:spPr>
          <a:xfrm>
            <a:off x="3200400" y="3154680"/>
            <a:ext cx="274320" cy="457200"/>
          </a:xfrm>
          <a:prstGeom prst="rect">
            <a:avLst/>
          </a:prstGeom>
          <a:noFill/>
          <a:ln/>
        </p:spPr>
        <p:txBody>
          <a:bodyPr wrap="square" lIns="0" tIns="0" rIns="0" bIns="0" rtlCol="0" anchor="ctr"/>
          <a:lstStyle/>
          <a:p>
            <a:pPr algn="ctr" indent="0" marL="0">
              <a:buNone/>
            </a:pPr>
            <a:r>
              <a:rPr lang="en-US" sz="2200" dirty="0">
                <a:solidFill>
                  <a:srgbClr val="EB5A1B"/>
                </a:solidFill>
                <a:latin typeface="Poppins ExtraBold" pitchFamily="34" charset="0"/>
                <a:ea typeface="Poppins ExtraBold" pitchFamily="34" charset="-122"/>
                <a:cs typeface="Poppins ExtraBold" pitchFamily="34" charset="-120"/>
              </a:rPr>
              <a:t>→</a:t>
            </a:r>
            <a:endParaRPr lang="en-US" sz="2200" dirty="0"/>
          </a:p>
        </p:txBody>
      </p:sp>
      <p:sp>
        <p:nvSpPr>
          <p:cNvPr id="11" name="Shape 8"/>
          <p:cNvSpPr/>
          <p:nvPr/>
        </p:nvSpPr>
        <p:spPr>
          <a:xfrm>
            <a:off x="3474720" y="2331720"/>
            <a:ext cx="2514600" cy="2148840"/>
          </a:xfrm>
          <a:prstGeom prst="roundRect">
            <a:avLst>
              <a:gd name="adj" fmla="val 5106"/>
            </a:avLst>
          </a:prstGeom>
          <a:solidFill>
            <a:srgbClr val="F4F4F4"/>
          </a:solidFill>
          <a:ln w="12700">
            <a:solidFill>
              <a:srgbClr val="F4F4F4"/>
            </a:solidFill>
            <a:prstDash val="solid"/>
          </a:ln>
        </p:spPr>
      </p:sp>
      <p:sp>
        <p:nvSpPr>
          <p:cNvPr id="12" name="Shape 9"/>
          <p:cNvSpPr/>
          <p:nvPr/>
        </p:nvSpPr>
        <p:spPr>
          <a:xfrm>
            <a:off x="3749040" y="2606040"/>
            <a:ext cx="640080" cy="640080"/>
          </a:xfrm>
          <a:prstGeom prst="ellipse">
            <a:avLst/>
          </a:prstGeom>
          <a:solidFill>
            <a:srgbClr val="EB5A1B"/>
          </a:solidFill>
          <a:ln w="12700">
            <a:solidFill>
              <a:srgbClr val="EB5A1B"/>
            </a:solidFill>
            <a:prstDash val="solid"/>
          </a:ln>
        </p:spPr>
      </p:sp>
      <p:pic>
        <p:nvPicPr>
          <p:cNvPr id="13" name="Image 1" descr="/tmp/claude-0/-home-user-Marlene/67342075-d45e-5dfd-8246-b97e829a8c42/scratchpad/deck/img/FaScrewdriverWrench-w.png">    </p:cNvPr>
          <p:cNvPicPr>
            <a:picLocks noChangeAspect="1"/>
          </p:cNvPicPr>
          <p:nvPr/>
        </p:nvPicPr>
        <p:blipFill>
          <a:blip r:embed="rId2"/>
          <a:stretch>
            <a:fillRect/>
          </a:stretch>
        </p:blipFill>
        <p:spPr>
          <a:xfrm>
            <a:off x="3915461" y="2772461"/>
            <a:ext cx="307238" cy="307238"/>
          </a:xfrm>
          <a:prstGeom prst="rect">
            <a:avLst/>
          </a:prstGeom>
        </p:spPr>
      </p:pic>
      <p:sp>
        <p:nvSpPr>
          <p:cNvPr id="14" name="Text 10"/>
          <p:cNvSpPr txBox="1"/>
          <p:nvPr/>
        </p:nvSpPr>
        <p:spPr>
          <a:xfrm>
            <a:off x="3749040" y="3429000"/>
            <a:ext cx="210312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Einbau</a:t>
            </a:r>
            <a:endParaRPr lang="en-US" sz="1800" dirty="0"/>
          </a:p>
        </p:txBody>
      </p:sp>
      <p:sp>
        <p:nvSpPr>
          <p:cNvPr id="15" name="Text 11"/>
          <p:cNvSpPr txBox="1"/>
          <p:nvPr/>
        </p:nvSpPr>
        <p:spPr>
          <a:xfrm>
            <a:off x="3749040" y="3840480"/>
            <a:ext cx="2103120" cy="54864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VdS-anerkannte Errichtung</a:t>
            </a:r>
            <a:endParaRPr lang="en-US" sz="1300" dirty="0"/>
          </a:p>
        </p:txBody>
      </p:sp>
      <p:sp>
        <p:nvSpPr>
          <p:cNvPr id="16" name="Text 12"/>
          <p:cNvSpPr txBox="1"/>
          <p:nvPr/>
        </p:nvSpPr>
        <p:spPr>
          <a:xfrm>
            <a:off x="5989320" y="3154680"/>
            <a:ext cx="274320" cy="457200"/>
          </a:xfrm>
          <a:prstGeom prst="rect">
            <a:avLst/>
          </a:prstGeom>
          <a:noFill/>
          <a:ln/>
        </p:spPr>
        <p:txBody>
          <a:bodyPr wrap="square" lIns="0" tIns="0" rIns="0" bIns="0" rtlCol="0" anchor="ctr"/>
          <a:lstStyle/>
          <a:p>
            <a:pPr algn="ctr" indent="0" marL="0">
              <a:buNone/>
            </a:pPr>
            <a:r>
              <a:rPr lang="en-US" sz="2200" dirty="0">
                <a:solidFill>
                  <a:srgbClr val="EB5A1B"/>
                </a:solidFill>
                <a:latin typeface="Poppins ExtraBold" pitchFamily="34" charset="0"/>
                <a:ea typeface="Poppins ExtraBold" pitchFamily="34" charset="-122"/>
                <a:cs typeface="Poppins ExtraBold" pitchFamily="34" charset="-120"/>
              </a:rPr>
              <a:t>→</a:t>
            </a:r>
            <a:endParaRPr lang="en-US" sz="2200" dirty="0"/>
          </a:p>
        </p:txBody>
      </p:sp>
      <p:sp>
        <p:nvSpPr>
          <p:cNvPr id="17" name="Shape 13"/>
          <p:cNvSpPr/>
          <p:nvPr/>
        </p:nvSpPr>
        <p:spPr>
          <a:xfrm>
            <a:off x="6263640" y="2331720"/>
            <a:ext cx="2514600" cy="2148840"/>
          </a:xfrm>
          <a:prstGeom prst="roundRect">
            <a:avLst>
              <a:gd name="adj" fmla="val 5106"/>
            </a:avLst>
          </a:prstGeom>
          <a:solidFill>
            <a:srgbClr val="111111"/>
          </a:solidFill>
          <a:ln w="12700">
            <a:solidFill>
              <a:srgbClr val="111111"/>
            </a:solidFill>
            <a:prstDash val="solid"/>
          </a:ln>
        </p:spPr>
      </p:sp>
      <p:sp>
        <p:nvSpPr>
          <p:cNvPr id="18" name="Shape 14"/>
          <p:cNvSpPr/>
          <p:nvPr/>
        </p:nvSpPr>
        <p:spPr>
          <a:xfrm>
            <a:off x="6537960" y="2606040"/>
            <a:ext cx="640080" cy="640080"/>
          </a:xfrm>
          <a:prstGeom prst="ellipse">
            <a:avLst/>
          </a:prstGeom>
          <a:solidFill>
            <a:srgbClr val="EB5A1B"/>
          </a:solidFill>
          <a:ln w="12700">
            <a:solidFill>
              <a:srgbClr val="EB5A1B"/>
            </a:solidFill>
            <a:prstDash val="solid"/>
          </a:ln>
        </p:spPr>
      </p:sp>
      <p:pic>
        <p:nvPicPr>
          <p:cNvPr id="19" name="Image 2" descr="/tmp/claude-0/-home-user-Marlene/67342075-d45e-5dfd-8246-b97e829a8c42/scratchpad/deck/img/FaHeadset-w.png">    </p:cNvPr>
          <p:cNvPicPr>
            <a:picLocks noChangeAspect="1"/>
          </p:cNvPicPr>
          <p:nvPr/>
        </p:nvPicPr>
        <p:blipFill>
          <a:blip r:embed="rId3"/>
          <a:stretch>
            <a:fillRect/>
          </a:stretch>
        </p:blipFill>
        <p:spPr>
          <a:xfrm>
            <a:off x="6704381" y="2772461"/>
            <a:ext cx="307238" cy="307238"/>
          </a:xfrm>
          <a:prstGeom prst="rect">
            <a:avLst/>
          </a:prstGeom>
        </p:spPr>
      </p:pic>
      <p:sp>
        <p:nvSpPr>
          <p:cNvPr id="20" name="Text 15"/>
          <p:cNvSpPr txBox="1"/>
          <p:nvPr/>
        </p:nvSpPr>
        <p:spPr>
          <a:xfrm>
            <a:off x="6537960" y="3429000"/>
            <a:ext cx="2103120" cy="411480"/>
          </a:xfrm>
          <a:prstGeom prst="rect">
            <a:avLst/>
          </a:prstGeom>
          <a:noFill/>
          <a:ln/>
        </p:spPr>
        <p:txBody>
          <a:bodyPr wrap="square" lIns="0" tIns="0" rIns="0" bIns="0" rtlCol="0" anchor="t"/>
          <a:lstStyle/>
          <a:p>
            <a:pPr indent="0" marL="0">
              <a:buNone/>
            </a:pPr>
            <a:r>
              <a:rPr lang="en-US" sz="1800" dirty="0">
                <a:solidFill>
                  <a:srgbClr val="FFFFFF"/>
                </a:solidFill>
                <a:latin typeface="Poppins ExtraBold" pitchFamily="34" charset="0"/>
                <a:ea typeface="Poppins ExtraBold" pitchFamily="34" charset="-122"/>
                <a:cs typeface="Poppins ExtraBold" pitchFamily="34" charset="-120"/>
              </a:rPr>
              <a:t>24h-Leitstelle</a:t>
            </a:r>
            <a:endParaRPr lang="en-US" sz="1800" dirty="0"/>
          </a:p>
        </p:txBody>
      </p:sp>
      <p:sp>
        <p:nvSpPr>
          <p:cNvPr id="21" name="Text 16"/>
          <p:cNvSpPr txBox="1"/>
          <p:nvPr/>
        </p:nvSpPr>
        <p:spPr>
          <a:xfrm>
            <a:off x="6537960" y="3840480"/>
            <a:ext cx="2103120" cy="548640"/>
          </a:xfrm>
          <a:prstGeom prst="rect">
            <a:avLst/>
          </a:prstGeom>
          <a:noFill/>
          <a:ln/>
        </p:spPr>
        <p:txBody>
          <a:bodyPr wrap="square" lIns="0" tIns="0" rIns="0" bIns="0" rtlCol="0" anchor="t"/>
          <a:lstStyle/>
          <a:p>
            <a:pPr indent="0" marL="0">
              <a:buNone/>
            </a:pPr>
            <a:r>
              <a:rPr lang="en-US" sz="1300" dirty="0">
                <a:solidFill>
                  <a:srgbClr val="B4B5BB"/>
                </a:solidFill>
                <a:latin typeface="Poppins" pitchFamily="34" charset="0"/>
                <a:ea typeface="Poppins" pitchFamily="34" charset="-122"/>
                <a:cs typeface="Poppins" pitchFamily="34" charset="-120"/>
              </a:rPr>
              <a:t>Wir sind wach, rund um die Uhr</a:t>
            </a:r>
            <a:endParaRPr lang="en-US" sz="1300" dirty="0"/>
          </a:p>
        </p:txBody>
      </p:sp>
      <p:sp>
        <p:nvSpPr>
          <p:cNvPr id="22" name="Text 17"/>
          <p:cNvSpPr txBox="1"/>
          <p:nvPr/>
        </p:nvSpPr>
        <p:spPr>
          <a:xfrm>
            <a:off x="8778240" y="3154680"/>
            <a:ext cx="274320" cy="457200"/>
          </a:xfrm>
          <a:prstGeom prst="rect">
            <a:avLst/>
          </a:prstGeom>
          <a:noFill/>
          <a:ln/>
        </p:spPr>
        <p:txBody>
          <a:bodyPr wrap="square" lIns="0" tIns="0" rIns="0" bIns="0" rtlCol="0" anchor="ctr"/>
          <a:lstStyle/>
          <a:p>
            <a:pPr algn="ctr" indent="0" marL="0">
              <a:buNone/>
            </a:pPr>
            <a:r>
              <a:rPr lang="en-US" sz="2200" dirty="0">
                <a:solidFill>
                  <a:srgbClr val="EB5A1B"/>
                </a:solidFill>
                <a:latin typeface="Poppins ExtraBold" pitchFamily="34" charset="0"/>
                <a:ea typeface="Poppins ExtraBold" pitchFamily="34" charset="-122"/>
                <a:cs typeface="Poppins ExtraBold" pitchFamily="34" charset="-120"/>
              </a:rPr>
              <a:t>→</a:t>
            </a:r>
            <a:endParaRPr lang="en-US" sz="2200" dirty="0"/>
          </a:p>
        </p:txBody>
      </p:sp>
      <p:sp>
        <p:nvSpPr>
          <p:cNvPr id="23" name="Shape 18"/>
          <p:cNvSpPr/>
          <p:nvPr/>
        </p:nvSpPr>
        <p:spPr>
          <a:xfrm>
            <a:off x="9052560" y="2331720"/>
            <a:ext cx="2514600" cy="2148840"/>
          </a:xfrm>
          <a:prstGeom prst="roundRect">
            <a:avLst>
              <a:gd name="adj" fmla="val 5106"/>
            </a:avLst>
          </a:prstGeom>
          <a:solidFill>
            <a:srgbClr val="F4F4F4"/>
          </a:solidFill>
          <a:ln w="12700">
            <a:solidFill>
              <a:srgbClr val="F4F4F4"/>
            </a:solidFill>
            <a:prstDash val="solid"/>
          </a:ln>
        </p:spPr>
      </p:sp>
      <p:sp>
        <p:nvSpPr>
          <p:cNvPr id="24" name="Shape 19"/>
          <p:cNvSpPr/>
          <p:nvPr/>
        </p:nvSpPr>
        <p:spPr>
          <a:xfrm>
            <a:off x="9326880" y="2606040"/>
            <a:ext cx="640080" cy="640080"/>
          </a:xfrm>
          <a:prstGeom prst="ellipse">
            <a:avLst/>
          </a:prstGeom>
          <a:solidFill>
            <a:srgbClr val="EB5A1B"/>
          </a:solidFill>
          <a:ln w="12700">
            <a:solidFill>
              <a:srgbClr val="EB5A1B"/>
            </a:solidFill>
            <a:prstDash val="solid"/>
          </a:ln>
        </p:spPr>
      </p:sp>
      <p:pic>
        <p:nvPicPr>
          <p:cNvPr id="25" name="Image 3" descr="/tmp/claude-0/-home-user-Marlene/67342075-d45e-5dfd-8246-b97e829a8c42/scratchpad/deck/img/FaCarSide-w.png">    </p:cNvPr>
          <p:cNvPicPr>
            <a:picLocks noChangeAspect="1"/>
          </p:cNvPicPr>
          <p:nvPr/>
        </p:nvPicPr>
        <p:blipFill>
          <a:blip r:embed="rId4"/>
          <a:stretch>
            <a:fillRect/>
          </a:stretch>
        </p:blipFill>
        <p:spPr>
          <a:xfrm>
            <a:off x="9493301" y="2772461"/>
            <a:ext cx="307238" cy="307238"/>
          </a:xfrm>
          <a:prstGeom prst="rect">
            <a:avLst/>
          </a:prstGeom>
        </p:spPr>
      </p:pic>
      <p:sp>
        <p:nvSpPr>
          <p:cNvPr id="26" name="Text 20"/>
          <p:cNvSpPr txBox="1"/>
          <p:nvPr/>
        </p:nvSpPr>
        <p:spPr>
          <a:xfrm>
            <a:off x="9326880" y="3429000"/>
            <a:ext cx="210312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Wachdienst</a:t>
            </a:r>
            <a:endParaRPr lang="en-US" sz="1800" dirty="0"/>
          </a:p>
        </p:txBody>
      </p:sp>
      <p:sp>
        <p:nvSpPr>
          <p:cNvPr id="27" name="Text 21"/>
          <p:cNvSpPr txBox="1"/>
          <p:nvPr/>
        </p:nvSpPr>
        <p:spPr>
          <a:xfrm>
            <a:off x="9326880" y="3840480"/>
            <a:ext cx="2103120" cy="54864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SWD fährt raus, vor Ort</a:t>
            </a:r>
            <a:endParaRPr lang="en-US" sz="1300" dirty="0"/>
          </a:p>
        </p:txBody>
      </p:sp>
      <p:sp>
        <p:nvSpPr>
          <p:cNvPr id="28" name="Text 22"/>
          <p:cNvSpPr txBox="1"/>
          <p:nvPr/>
        </p:nvSpPr>
        <p:spPr>
          <a:xfrm>
            <a:off x="685800" y="4754880"/>
            <a:ext cx="10789920" cy="548640"/>
          </a:xfrm>
          <a:prstGeom prst="rect">
            <a:avLst/>
          </a:prstGeom>
          <a:noFill/>
          <a:ln/>
        </p:spPr>
        <p:txBody>
          <a:bodyPr wrap="square" lIns="0" tIns="0" rIns="0" bIns="0" rtlCol="0" anchor="t"/>
          <a:lstStyle/>
          <a:p>
            <a:pPr indent="0" marL="0">
              <a:buNone/>
            </a:pPr>
            <a:r>
              <a:rPr lang="en-US" sz="1500" dirty="0">
                <a:solidFill>
                  <a:srgbClr val="222222"/>
                </a:solidFill>
                <a:latin typeface="Poppins" pitchFamily="34" charset="0"/>
                <a:ea typeface="Poppins" pitchFamily="34" charset="-122"/>
                <a:cs typeface="Poppins" pitchFamily="34" charset="-120"/>
              </a:rPr>
              <a:t>Die meisten Wettbewerber decken nur Planung und Einbau ab. Die komplette Kette aus einer Hand ist unsere stärkste Geschichte, für Kunden und für Bewerber.</a:t>
            </a:r>
            <a:endParaRPr lang="en-US" sz="1500" dirty="0"/>
          </a:p>
        </p:txBody>
      </p:sp>
      <p:sp>
        <p:nvSpPr>
          <p:cNvPr id="29" name="Shape 23"/>
          <p:cNvSpPr/>
          <p:nvPr/>
        </p:nvSpPr>
        <p:spPr>
          <a:xfrm>
            <a:off x="685800" y="5440680"/>
            <a:ext cx="1138428" cy="384048"/>
          </a:xfrm>
          <a:prstGeom prst="roundRect">
            <a:avLst>
              <a:gd name="adj" fmla="val 28571"/>
            </a:avLst>
          </a:prstGeom>
          <a:solidFill>
            <a:srgbClr val="E9E9EA"/>
          </a:solidFill>
          <a:ln w="12700">
            <a:solidFill>
              <a:srgbClr val="E9E9EA"/>
            </a:solidFill>
            <a:prstDash val="solid"/>
          </a:ln>
        </p:spPr>
      </p:sp>
      <p:sp>
        <p:nvSpPr>
          <p:cNvPr id="30" name="Text 24"/>
          <p:cNvSpPr txBox="1"/>
          <p:nvPr/>
        </p:nvSpPr>
        <p:spPr>
          <a:xfrm>
            <a:off x="685800" y="5440680"/>
            <a:ext cx="1138428"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Seit 1975</a:t>
            </a:r>
            <a:endParaRPr lang="en-US" sz="1100" dirty="0"/>
          </a:p>
        </p:txBody>
      </p:sp>
      <p:sp>
        <p:nvSpPr>
          <p:cNvPr id="31" name="Shape 25"/>
          <p:cNvSpPr/>
          <p:nvPr/>
        </p:nvSpPr>
        <p:spPr>
          <a:xfrm>
            <a:off x="1961388" y="5440680"/>
            <a:ext cx="1042416" cy="384048"/>
          </a:xfrm>
          <a:prstGeom prst="roundRect">
            <a:avLst>
              <a:gd name="adj" fmla="val 28571"/>
            </a:avLst>
          </a:prstGeom>
          <a:solidFill>
            <a:srgbClr val="E9E9EA"/>
          </a:solidFill>
          <a:ln w="12700">
            <a:solidFill>
              <a:srgbClr val="E9E9EA"/>
            </a:solidFill>
            <a:prstDash val="solid"/>
          </a:ln>
        </p:spPr>
      </p:sp>
      <p:sp>
        <p:nvSpPr>
          <p:cNvPr id="32" name="Text 26"/>
          <p:cNvSpPr txBox="1"/>
          <p:nvPr/>
        </p:nvSpPr>
        <p:spPr>
          <a:xfrm>
            <a:off x="1961388" y="5440680"/>
            <a:ext cx="1042416"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VdS 3403</a:t>
            </a:r>
            <a:endParaRPr lang="en-US" sz="1100" dirty="0"/>
          </a:p>
        </p:txBody>
      </p:sp>
      <p:sp>
        <p:nvSpPr>
          <p:cNvPr id="33" name="Shape 27"/>
          <p:cNvSpPr/>
          <p:nvPr/>
        </p:nvSpPr>
        <p:spPr>
          <a:xfrm>
            <a:off x="3140964" y="5440680"/>
            <a:ext cx="1138428" cy="384048"/>
          </a:xfrm>
          <a:prstGeom prst="roundRect">
            <a:avLst>
              <a:gd name="adj" fmla="val 28571"/>
            </a:avLst>
          </a:prstGeom>
          <a:solidFill>
            <a:srgbClr val="E9E9EA"/>
          </a:solidFill>
          <a:ln w="12700">
            <a:solidFill>
              <a:srgbClr val="E9E9EA"/>
            </a:solidFill>
            <a:prstDash val="solid"/>
          </a:ln>
        </p:spPr>
      </p:sp>
      <p:sp>
        <p:nvSpPr>
          <p:cNvPr id="34" name="Text 28"/>
          <p:cNvSpPr txBox="1"/>
          <p:nvPr/>
        </p:nvSpPr>
        <p:spPr>
          <a:xfrm>
            <a:off x="3140964" y="5440680"/>
            <a:ext cx="1138428"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DIN 14675</a:t>
            </a:r>
            <a:endParaRPr lang="en-US" sz="1100" dirty="0"/>
          </a:p>
        </p:txBody>
      </p:sp>
      <p:sp>
        <p:nvSpPr>
          <p:cNvPr id="35" name="Shape 29"/>
          <p:cNvSpPr/>
          <p:nvPr/>
        </p:nvSpPr>
        <p:spPr>
          <a:xfrm>
            <a:off x="4416552" y="5440680"/>
            <a:ext cx="1042416" cy="384048"/>
          </a:xfrm>
          <a:prstGeom prst="roundRect">
            <a:avLst>
              <a:gd name="adj" fmla="val 28571"/>
            </a:avLst>
          </a:prstGeom>
          <a:solidFill>
            <a:srgbClr val="E9E9EA"/>
          </a:solidFill>
          <a:ln w="12700">
            <a:solidFill>
              <a:srgbClr val="E9E9EA"/>
            </a:solidFill>
            <a:prstDash val="solid"/>
          </a:ln>
        </p:spPr>
      </p:sp>
      <p:sp>
        <p:nvSpPr>
          <p:cNvPr id="36" name="Text 30"/>
          <p:cNvSpPr txBox="1"/>
          <p:nvPr/>
        </p:nvSpPr>
        <p:spPr>
          <a:xfrm>
            <a:off x="4416552" y="5440680"/>
            <a:ext cx="1042416"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ISO 9001</a:t>
            </a:r>
            <a:endParaRPr lang="en-US" sz="1100" dirty="0"/>
          </a:p>
        </p:txBody>
      </p:sp>
      <p:sp>
        <p:nvSpPr>
          <p:cNvPr id="37" name="Shape 31"/>
          <p:cNvSpPr/>
          <p:nvPr/>
        </p:nvSpPr>
        <p:spPr>
          <a:xfrm>
            <a:off x="5596128" y="5440680"/>
            <a:ext cx="2002536" cy="384048"/>
          </a:xfrm>
          <a:prstGeom prst="roundRect">
            <a:avLst>
              <a:gd name="adj" fmla="val 28571"/>
            </a:avLst>
          </a:prstGeom>
          <a:solidFill>
            <a:srgbClr val="E9E9EA"/>
          </a:solidFill>
          <a:ln w="12700">
            <a:solidFill>
              <a:srgbClr val="E9E9EA"/>
            </a:solidFill>
            <a:prstDash val="solid"/>
          </a:ln>
        </p:spPr>
      </p:sp>
      <p:sp>
        <p:nvSpPr>
          <p:cNvPr id="38" name="Text 32"/>
          <p:cNvSpPr txBox="1"/>
          <p:nvPr/>
        </p:nvSpPr>
        <p:spPr>
          <a:xfrm>
            <a:off x="5596128" y="5440680"/>
            <a:ext cx="2002536"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Telenot-Stützpunkt</a:t>
            </a:r>
            <a:endParaRPr lang="en-US" sz="1100" dirty="0"/>
          </a:p>
        </p:txBody>
      </p:sp>
      <p:sp>
        <p:nvSpPr>
          <p:cNvPr id="39" name="Shape 33"/>
          <p:cNvSpPr/>
          <p:nvPr/>
        </p:nvSpPr>
        <p:spPr>
          <a:xfrm>
            <a:off x="7735824" y="5440680"/>
            <a:ext cx="1426464" cy="384048"/>
          </a:xfrm>
          <a:prstGeom prst="roundRect">
            <a:avLst>
              <a:gd name="adj" fmla="val 28571"/>
            </a:avLst>
          </a:prstGeom>
          <a:solidFill>
            <a:srgbClr val="E9E9EA"/>
          </a:solidFill>
          <a:ln w="12700">
            <a:solidFill>
              <a:srgbClr val="E9E9EA"/>
            </a:solidFill>
            <a:prstDash val="solid"/>
          </a:ln>
        </p:spPr>
      </p:sp>
      <p:sp>
        <p:nvSpPr>
          <p:cNvPr id="40" name="Text 34"/>
          <p:cNvSpPr txBox="1"/>
          <p:nvPr/>
        </p:nvSpPr>
        <p:spPr>
          <a:xfrm>
            <a:off x="7735824" y="5440680"/>
            <a:ext cx="1426464" cy="384048"/>
          </a:xfrm>
          <a:prstGeom prst="rect">
            <a:avLst/>
          </a:prstGeom>
          <a:noFill/>
          <a:ln/>
        </p:spPr>
        <p:txBody>
          <a:bodyPr wrap="square" lIns="0" tIns="0" rIns="0" bIns="0" rtlCol="0" anchor="ctr"/>
          <a:lstStyle/>
          <a:p>
            <a:pPr algn="ctr" indent="0" marL="0">
              <a:buNone/>
            </a:pPr>
            <a:r>
              <a:rPr lang="en-US" sz="1100" dirty="0">
                <a:solidFill>
                  <a:srgbClr val="222222"/>
                </a:solidFill>
                <a:latin typeface="Poppins SemiBold" pitchFamily="34" charset="0"/>
                <a:ea typeface="Poppins SemiBold" pitchFamily="34" charset="-122"/>
                <a:cs typeface="Poppins SemiBold" pitchFamily="34" charset="-120"/>
              </a:rPr>
              <a:t>25 Jahre BHE</a:t>
            </a:r>
            <a:endParaRPr lang="en-US" sz="1100" dirty="0"/>
          </a:p>
        </p:txBody>
      </p:sp>
      <p:pic>
        <p:nvPicPr>
          <p:cNvPr id="41" name="Image 4" descr="/home/user/Marlene/poleschak-social-media/assets/logo-transparent.png">    </p:cNvPr>
          <p:cNvPicPr>
            <a:picLocks noChangeAspect="1"/>
          </p:cNvPicPr>
          <p:nvPr/>
        </p:nvPicPr>
        <p:blipFill>
          <a:blip r:embed="rId5"/>
          <a:stretch>
            <a:fillRect/>
          </a:stretch>
        </p:blipFill>
        <p:spPr>
          <a:xfrm>
            <a:off x="685800" y="6291072"/>
            <a:ext cx="643680" cy="329184"/>
          </a:xfrm>
          <a:prstGeom prst="rect">
            <a:avLst/>
          </a:prstGeom>
        </p:spPr>
      </p:pic>
      <p:sp>
        <p:nvSpPr>
          <p:cNvPr id="42" name="Text 35"/>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04 · MARKENKERN</a:t>
            </a:r>
            <a:endParaRPr lang="en-US" sz="1200" dirty="0"/>
          </a:p>
        </p:txBody>
      </p:sp>
      <p:sp>
        <p:nvSpPr>
          <p:cNvPr id="4" name="Text 2"/>
          <p:cNvSpPr txBox="1"/>
          <p:nvPr/>
        </p:nvSpPr>
        <p:spPr>
          <a:xfrm>
            <a:off x="685800" y="1097280"/>
            <a:ext cx="5029200" cy="320040"/>
          </a:xfrm>
          <a:prstGeom prst="rect">
            <a:avLst/>
          </a:prstGeom>
          <a:noFill/>
          <a:ln/>
        </p:spPr>
        <p:txBody>
          <a:bodyPr wrap="square" lIns="0" tIns="0" rIns="0" bIns="0" rtlCol="0" anchor="t"/>
          <a:lstStyle/>
          <a:p>
            <a:pPr indent="0" marL="0">
              <a:buNone/>
            </a:pPr>
            <a:r>
              <a:rPr lang="en-US" sz="1400" spc="300" kern="0" dirty="0">
                <a:solidFill>
                  <a:srgbClr val="B4B5BB"/>
                </a:solidFill>
                <a:latin typeface="Poppins Light" pitchFamily="34" charset="0"/>
                <a:ea typeface="Poppins Light" pitchFamily="34" charset="-122"/>
                <a:cs typeface="Poppins Light" pitchFamily="34" charset="-120"/>
              </a:rPr>
              <a:t>Für Kunden</a:t>
            </a:r>
            <a:endParaRPr lang="en-US" sz="1400" dirty="0"/>
          </a:p>
        </p:txBody>
      </p:sp>
      <p:sp>
        <p:nvSpPr>
          <p:cNvPr id="5" name="Text 3"/>
          <p:cNvSpPr txBox="1"/>
          <p:nvPr/>
        </p:nvSpPr>
        <p:spPr>
          <a:xfrm>
            <a:off x="685800" y="1463040"/>
            <a:ext cx="6583680" cy="1463040"/>
          </a:xfrm>
          <a:prstGeom prst="rect">
            <a:avLst/>
          </a:prstGeom>
          <a:noFill/>
          <a:ln/>
        </p:spPr>
        <p:txBody>
          <a:bodyPr wrap="square" lIns="0" tIns="0" rIns="0" bIns="0" rtlCol="0" anchor="t"/>
          <a:lstStyle/>
          <a:p>
            <a:pPr indent="0" marL="0">
              <a:buNone/>
            </a:pPr>
            <a:r>
              <a:rPr lang="en-US" sz="3600" dirty="0">
                <a:solidFill>
                  <a:srgbClr val="FFFFFF"/>
                </a:solidFill>
                <a:latin typeface="Poppins ExtraBold" pitchFamily="34" charset="0"/>
                <a:ea typeface="Poppins ExtraBold" pitchFamily="34" charset="-122"/>
                <a:cs typeface="Poppins ExtraBold" pitchFamily="34" charset="-120"/>
              </a:rPr>
              <a:t>Wir sind wach, damit du </a:t>
            </a:r>
            <a:pPr indent="0" marL="0">
              <a:buNone/>
            </a:pPr>
            <a:r>
              <a:rPr lang="en-US" sz="3600" dirty="0">
                <a:solidFill>
                  <a:srgbClr val="EB5A1B"/>
                </a:solidFill>
                <a:latin typeface="Poppins ExtraBold" pitchFamily="34" charset="0"/>
                <a:ea typeface="Poppins ExtraBold" pitchFamily="34" charset="-122"/>
                <a:cs typeface="Poppins ExtraBold" pitchFamily="34" charset="-120"/>
              </a:rPr>
              <a:t>schlafen</a:t>
            </a:r>
            <a:pPr indent="0" marL="0">
              <a:buNone/>
            </a:pPr>
            <a:r>
              <a:rPr lang="en-US" sz="3600" dirty="0">
                <a:solidFill>
                  <a:srgbClr val="FFFFFF"/>
                </a:solidFill>
                <a:latin typeface="Poppins ExtraBold" pitchFamily="34" charset="0"/>
                <a:ea typeface="Poppins ExtraBold" pitchFamily="34" charset="-122"/>
                <a:cs typeface="Poppins ExtraBold" pitchFamily="34" charset="-120"/>
              </a:rPr>
              <a:t> kannst.</a:t>
            </a:r>
            <a:endParaRPr lang="en-US" sz="3600" dirty="0"/>
          </a:p>
        </p:txBody>
      </p:sp>
      <p:sp>
        <p:nvSpPr>
          <p:cNvPr id="6" name="Text 4"/>
          <p:cNvSpPr txBox="1"/>
          <p:nvPr/>
        </p:nvSpPr>
        <p:spPr>
          <a:xfrm>
            <a:off x="685800" y="3246120"/>
            <a:ext cx="5029200" cy="320040"/>
          </a:xfrm>
          <a:prstGeom prst="rect">
            <a:avLst/>
          </a:prstGeom>
          <a:noFill/>
          <a:ln/>
        </p:spPr>
        <p:txBody>
          <a:bodyPr wrap="square" lIns="0" tIns="0" rIns="0" bIns="0" rtlCol="0" anchor="t"/>
          <a:lstStyle/>
          <a:p>
            <a:pPr indent="0" marL="0">
              <a:buNone/>
            </a:pPr>
            <a:r>
              <a:rPr lang="en-US" sz="1400" spc="300" kern="0" dirty="0">
                <a:solidFill>
                  <a:srgbClr val="B4B5BB"/>
                </a:solidFill>
                <a:latin typeface="Poppins Light" pitchFamily="34" charset="0"/>
                <a:ea typeface="Poppins Light" pitchFamily="34" charset="-122"/>
                <a:cs typeface="Poppins Light" pitchFamily="34" charset="-120"/>
              </a:rPr>
              <a:t>Für Bewerber</a:t>
            </a:r>
            <a:endParaRPr lang="en-US" sz="1400" dirty="0"/>
          </a:p>
        </p:txBody>
      </p:sp>
      <p:sp>
        <p:nvSpPr>
          <p:cNvPr id="7" name="Text 5"/>
          <p:cNvSpPr txBox="1"/>
          <p:nvPr/>
        </p:nvSpPr>
        <p:spPr>
          <a:xfrm>
            <a:off x="685800" y="3611880"/>
            <a:ext cx="6583680" cy="731520"/>
          </a:xfrm>
          <a:prstGeom prst="rect">
            <a:avLst/>
          </a:prstGeom>
          <a:noFill/>
          <a:ln/>
        </p:spPr>
        <p:txBody>
          <a:bodyPr wrap="square" lIns="0" tIns="0" rIns="0" bIns="0" rtlCol="0" anchor="ctr"/>
          <a:lstStyle/>
          <a:p>
            <a:pPr indent="0" marL="0">
              <a:buNone/>
            </a:pPr>
            <a:r>
              <a:rPr lang="en-US" sz="3600" dirty="0">
                <a:solidFill>
                  <a:srgbClr val="FFFFFF"/>
                </a:solidFill>
                <a:latin typeface="Poppins ExtraBold" pitchFamily="34" charset="0"/>
                <a:ea typeface="Poppins ExtraBold" pitchFamily="34" charset="-122"/>
                <a:cs typeface="Poppins ExtraBold" pitchFamily="34" charset="-120"/>
              </a:rPr>
              <a:t>Mach Alarm. </a:t>
            </a:r>
            <a:pPr indent="0" marL="0">
              <a:buNone/>
            </a:pPr>
            <a:r>
              <a:rPr lang="en-US" sz="3600" dirty="0">
                <a:solidFill>
                  <a:srgbClr val="EB5A1B"/>
                </a:solidFill>
                <a:latin typeface="Poppins ExtraBold" pitchFamily="34" charset="0"/>
                <a:ea typeface="Poppins ExtraBold" pitchFamily="34" charset="-122"/>
                <a:cs typeface="Poppins ExtraBold" pitchFamily="34" charset="-120"/>
              </a:rPr>
              <a:t>Beruflich.</a:t>
            </a:r>
            <a:endParaRPr lang="en-US" sz="3600" dirty="0"/>
          </a:p>
        </p:txBody>
      </p:sp>
      <p:sp>
        <p:nvSpPr>
          <p:cNvPr id="8" name="Text 6"/>
          <p:cNvSpPr txBox="1"/>
          <p:nvPr/>
        </p:nvSpPr>
        <p:spPr>
          <a:xfrm>
            <a:off x="7863840" y="1097280"/>
            <a:ext cx="3657600" cy="320040"/>
          </a:xfrm>
          <a:prstGeom prst="rect">
            <a:avLst/>
          </a:prstGeom>
          <a:noFill/>
          <a:ln/>
        </p:spPr>
        <p:txBody>
          <a:bodyPr wrap="square" lIns="0" tIns="0" rIns="0" bIns="0" rtlCol="0" anchor="t"/>
          <a:lstStyle/>
          <a:p>
            <a:pPr indent="0" marL="0">
              <a:buNone/>
            </a:pPr>
            <a:r>
              <a:rPr lang="en-US" sz="1400" spc="300" kern="0" dirty="0">
                <a:solidFill>
                  <a:srgbClr val="B4B5BB"/>
                </a:solidFill>
                <a:latin typeface="Poppins Light" pitchFamily="34" charset="0"/>
                <a:ea typeface="Poppins Light" pitchFamily="34" charset="-122"/>
                <a:cs typeface="Poppins Light" pitchFamily="34" charset="-120"/>
              </a:rPr>
              <a:t>Tonalität</a:t>
            </a:r>
            <a:endParaRPr lang="en-US" sz="1400" dirty="0"/>
          </a:p>
        </p:txBody>
      </p:sp>
      <p:sp>
        <p:nvSpPr>
          <p:cNvPr id="9" name="Shape 7"/>
          <p:cNvSpPr/>
          <p:nvPr/>
        </p:nvSpPr>
        <p:spPr>
          <a:xfrm>
            <a:off x="7863840" y="1554480"/>
            <a:ext cx="502920" cy="502920"/>
          </a:xfrm>
          <a:prstGeom prst="ellipse">
            <a:avLst/>
          </a:prstGeom>
          <a:solidFill>
            <a:srgbClr val="EB5A1B"/>
          </a:solidFill>
          <a:ln w="12700">
            <a:solidFill>
              <a:srgbClr val="EB5A1B"/>
            </a:solidFill>
            <a:prstDash val="solid"/>
          </a:ln>
        </p:spPr>
      </p:sp>
      <p:pic>
        <p:nvPicPr>
          <p:cNvPr id="10" name="Image 0" descr="/tmp/claude-0/-home-user-Marlene/67342075-d45e-5dfd-8246-b97e829a8c42/scratchpad/deck/img/FaMoon-w.png">    </p:cNvPr>
          <p:cNvPicPr>
            <a:picLocks noChangeAspect="1"/>
          </p:cNvPicPr>
          <p:nvPr/>
        </p:nvPicPr>
        <p:blipFill>
          <a:blip r:embed="rId1"/>
          <a:stretch>
            <a:fillRect/>
          </a:stretch>
        </p:blipFill>
        <p:spPr>
          <a:xfrm>
            <a:off x="7994599" y="1685239"/>
            <a:ext cx="241402" cy="241402"/>
          </a:xfrm>
          <a:prstGeom prst="rect">
            <a:avLst/>
          </a:prstGeom>
        </p:spPr>
      </p:pic>
      <p:sp>
        <p:nvSpPr>
          <p:cNvPr id="11" name="Text 8"/>
          <p:cNvSpPr txBox="1"/>
          <p:nvPr/>
        </p:nvSpPr>
        <p:spPr>
          <a:xfrm>
            <a:off x="8549640" y="1554480"/>
            <a:ext cx="3108960" cy="502920"/>
          </a:xfrm>
          <a:prstGeom prst="rect">
            <a:avLst/>
          </a:prstGeom>
          <a:noFill/>
          <a:ln/>
        </p:spPr>
        <p:txBody>
          <a:bodyPr wrap="square" lIns="0" tIns="0" rIns="0" bIns="0" rtlCol="0" anchor="ctr"/>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Ruhig statt panisch</a:t>
            </a:r>
            <a:endParaRPr lang="en-US" sz="1600" dirty="0"/>
          </a:p>
        </p:txBody>
      </p:sp>
      <p:sp>
        <p:nvSpPr>
          <p:cNvPr id="12" name="Shape 9"/>
          <p:cNvSpPr/>
          <p:nvPr/>
        </p:nvSpPr>
        <p:spPr>
          <a:xfrm>
            <a:off x="7863840" y="2331720"/>
            <a:ext cx="502920" cy="502920"/>
          </a:xfrm>
          <a:prstGeom prst="ellipse">
            <a:avLst/>
          </a:prstGeom>
          <a:solidFill>
            <a:srgbClr val="EB5A1B"/>
          </a:solidFill>
          <a:ln w="12700">
            <a:solidFill>
              <a:srgbClr val="EB5A1B"/>
            </a:solidFill>
            <a:prstDash val="solid"/>
          </a:ln>
        </p:spPr>
      </p:sp>
      <p:pic>
        <p:nvPicPr>
          <p:cNvPr id="13" name="Image 1" descr="/tmp/claude-0/-home-user-Marlene/67342075-d45e-5dfd-8246-b97e829a8c42/scratchpad/deck/img/FaCircleCheck-w.png">    </p:cNvPr>
          <p:cNvPicPr>
            <a:picLocks noChangeAspect="1"/>
          </p:cNvPicPr>
          <p:nvPr/>
        </p:nvPicPr>
        <p:blipFill>
          <a:blip r:embed="rId2"/>
          <a:stretch>
            <a:fillRect/>
          </a:stretch>
        </p:blipFill>
        <p:spPr>
          <a:xfrm>
            <a:off x="7994599" y="2462479"/>
            <a:ext cx="241402" cy="241402"/>
          </a:xfrm>
          <a:prstGeom prst="rect">
            <a:avLst/>
          </a:prstGeom>
        </p:spPr>
      </p:pic>
      <p:sp>
        <p:nvSpPr>
          <p:cNvPr id="14" name="Text 10"/>
          <p:cNvSpPr txBox="1"/>
          <p:nvPr/>
        </p:nvSpPr>
        <p:spPr>
          <a:xfrm>
            <a:off x="8549640" y="2331720"/>
            <a:ext cx="3108960" cy="502920"/>
          </a:xfrm>
          <a:prstGeom prst="rect">
            <a:avLst/>
          </a:prstGeom>
          <a:noFill/>
          <a:ln/>
        </p:spPr>
        <p:txBody>
          <a:bodyPr wrap="square" lIns="0" tIns="0" rIns="0" bIns="0" rtlCol="0" anchor="ctr"/>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Fakten statt Angstmache</a:t>
            </a:r>
            <a:endParaRPr lang="en-US" sz="1600" dirty="0"/>
          </a:p>
        </p:txBody>
      </p:sp>
      <p:sp>
        <p:nvSpPr>
          <p:cNvPr id="15" name="Shape 11"/>
          <p:cNvSpPr/>
          <p:nvPr/>
        </p:nvSpPr>
        <p:spPr>
          <a:xfrm>
            <a:off x="7863840" y="3108960"/>
            <a:ext cx="502920" cy="502920"/>
          </a:xfrm>
          <a:prstGeom prst="ellipse">
            <a:avLst/>
          </a:prstGeom>
          <a:solidFill>
            <a:srgbClr val="EB5A1B"/>
          </a:solidFill>
          <a:ln w="12700">
            <a:solidFill>
              <a:srgbClr val="EB5A1B"/>
            </a:solidFill>
            <a:prstDash val="solid"/>
          </a:ln>
        </p:spPr>
      </p:sp>
      <p:pic>
        <p:nvPicPr>
          <p:cNvPr id="16" name="Image 2" descr="/tmp/claude-0/-home-user-Marlene/67342075-d45e-5dfd-8246-b97e829a8c42/scratchpad/deck/img/FaMapLocationDot-w.png">    </p:cNvPr>
          <p:cNvPicPr>
            <a:picLocks noChangeAspect="1"/>
          </p:cNvPicPr>
          <p:nvPr/>
        </p:nvPicPr>
        <p:blipFill>
          <a:blip r:embed="rId3"/>
          <a:stretch>
            <a:fillRect/>
          </a:stretch>
        </p:blipFill>
        <p:spPr>
          <a:xfrm>
            <a:off x="7994599" y="3239719"/>
            <a:ext cx="241402" cy="241402"/>
          </a:xfrm>
          <a:prstGeom prst="rect">
            <a:avLst/>
          </a:prstGeom>
        </p:spPr>
      </p:pic>
      <p:sp>
        <p:nvSpPr>
          <p:cNvPr id="17" name="Text 12"/>
          <p:cNvSpPr txBox="1"/>
          <p:nvPr/>
        </p:nvSpPr>
        <p:spPr>
          <a:xfrm>
            <a:off x="8549640" y="3108960"/>
            <a:ext cx="3108960" cy="502920"/>
          </a:xfrm>
          <a:prstGeom prst="rect">
            <a:avLst/>
          </a:prstGeom>
          <a:noFill/>
          <a:ln/>
        </p:spPr>
        <p:txBody>
          <a:bodyPr wrap="square" lIns="0" tIns="0" rIns="0" bIns="0" rtlCol="0" anchor="ctr"/>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Nahbar und regional</a:t>
            </a:r>
            <a:endParaRPr lang="en-US" sz="1600" dirty="0"/>
          </a:p>
        </p:txBody>
      </p:sp>
      <p:sp>
        <p:nvSpPr>
          <p:cNvPr id="18" name="Shape 13"/>
          <p:cNvSpPr/>
          <p:nvPr/>
        </p:nvSpPr>
        <p:spPr>
          <a:xfrm>
            <a:off x="7863840" y="3886200"/>
            <a:ext cx="502920" cy="502920"/>
          </a:xfrm>
          <a:prstGeom prst="ellipse">
            <a:avLst/>
          </a:prstGeom>
          <a:solidFill>
            <a:srgbClr val="EB5A1B"/>
          </a:solidFill>
          <a:ln w="12700">
            <a:solidFill>
              <a:srgbClr val="EB5A1B"/>
            </a:solidFill>
            <a:prstDash val="solid"/>
          </a:ln>
        </p:spPr>
      </p:sp>
      <p:pic>
        <p:nvPicPr>
          <p:cNvPr id="19" name="Image 3" descr="/tmp/claude-0/-home-user-Marlene/67342075-d45e-5dfd-8246-b97e829a8c42/scratchpad/deck/img/FaEyeSlash-w.png">    </p:cNvPr>
          <p:cNvPicPr>
            <a:picLocks noChangeAspect="1"/>
          </p:cNvPicPr>
          <p:nvPr/>
        </p:nvPicPr>
        <p:blipFill>
          <a:blip r:embed="rId4"/>
          <a:stretch>
            <a:fillRect/>
          </a:stretch>
        </p:blipFill>
        <p:spPr>
          <a:xfrm>
            <a:off x="7994599" y="4016959"/>
            <a:ext cx="241402" cy="241402"/>
          </a:xfrm>
          <a:prstGeom prst="rect">
            <a:avLst/>
          </a:prstGeom>
        </p:spPr>
      </p:pic>
      <p:sp>
        <p:nvSpPr>
          <p:cNvPr id="20" name="Text 14"/>
          <p:cNvSpPr txBox="1"/>
          <p:nvPr/>
        </p:nvSpPr>
        <p:spPr>
          <a:xfrm>
            <a:off x="8549640" y="3886200"/>
            <a:ext cx="3108960" cy="502920"/>
          </a:xfrm>
          <a:prstGeom prst="rect">
            <a:avLst/>
          </a:prstGeom>
          <a:noFill/>
          <a:ln/>
        </p:spPr>
        <p:txBody>
          <a:bodyPr wrap="square" lIns="0" tIns="0" rIns="0" bIns="0" rtlCol="0" anchor="ctr"/>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Immer diskret</a:t>
            </a:r>
            <a:endParaRPr lang="en-US" sz="1600" dirty="0"/>
          </a:p>
        </p:txBody>
      </p:sp>
      <p:sp>
        <p:nvSpPr>
          <p:cNvPr id="21" name="Shape 15"/>
          <p:cNvSpPr/>
          <p:nvPr/>
        </p:nvSpPr>
        <p:spPr>
          <a:xfrm>
            <a:off x="685800" y="4800600"/>
            <a:ext cx="10789920" cy="822960"/>
          </a:xfrm>
          <a:prstGeom prst="roundRect">
            <a:avLst>
              <a:gd name="adj" fmla="val 13333"/>
            </a:avLst>
          </a:prstGeom>
          <a:solidFill>
            <a:srgbClr val="222222"/>
          </a:solidFill>
          <a:ln w="12700">
            <a:solidFill>
              <a:srgbClr val="222222"/>
            </a:solidFill>
            <a:prstDash val="solid"/>
          </a:ln>
        </p:spPr>
      </p:sp>
      <p:sp>
        <p:nvSpPr>
          <p:cNvPr id="22" name="Text 16"/>
          <p:cNvSpPr txBox="1"/>
          <p:nvPr/>
        </p:nvSpPr>
        <p:spPr>
          <a:xfrm>
            <a:off x="960120" y="4800600"/>
            <a:ext cx="10241280" cy="822960"/>
          </a:xfrm>
          <a:prstGeom prst="rect">
            <a:avLst/>
          </a:prstGeom>
          <a:noFill/>
          <a:ln/>
        </p:spPr>
        <p:txBody>
          <a:bodyPr wrap="square" lIns="0" tIns="0" rIns="0" bIns="0" rtlCol="0" anchor="ctr"/>
          <a:lstStyle/>
          <a:p>
            <a:pPr indent="0" marL="0">
              <a:buNone/>
            </a:pPr>
            <a:r>
              <a:rPr lang="en-US" sz="1400" dirty="0">
                <a:solidFill>
                  <a:srgbClr val="FFFFFF"/>
                </a:solidFill>
                <a:latin typeface="Poppins SemiBold" pitchFamily="34" charset="0"/>
                <a:ea typeface="Poppins SemiBold" pitchFamily="34" charset="-122"/>
                <a:cs typeface="Poppins SemiBold" pitchFamily="34" charset="-120"/>
              </a:rPr>
              <a:t>Ansprache: </a:t>
            </a:r>
            <a:pPr indent="0" marL="0">
              <a:buNone/>
            </a:pPr>
            <a:r>
              <a:rPr lang="en-US" sz="1400" dirty="0">
                <a:solidFill>
                  <a:srgbClr val="DDDDDD"/>
                </a:solidFill>
                <a:latin typeface="Poppins" pitchFamily="34" charset="0"/>
                <a:ea typeface="Poppins" pitchFamily="34" charset="-122"/>
                <a:cs typeface="Poppins" pitchFamily="34" charset="-120"/>
              </a:rPr>
              <a:t>„du“ auf Instagram (Plattform-Norm, Recruiting). „Sie“ auf Website, in Angeboten und in der Beratung. In Nachrichten spiegeln wir den Kunden.</a:t>
            </a:r>
            <a:endParaRPr lang="en-US" sz="1400" dirty="0"/>
          </a:p>
        </p:txBody>
      </p:sp>
      <p:pic>
        <p:nvPicPr>
          <p:cNvPr id="23" name="Image 4" descr="/home/user/Marlene/poleschak-social-media/assets/logo-negativ.png">    </p:cNvPr>
          <p:cNvPicPr>
            <a:picLocks noChangeAspect="1"/>
          </p:cNvPicPr>
          <p:nvPr/>
        </p:nvPicPr>
        <p:blipFill>
          <a:blip r:embed="rId5"/>
          <a:stretch>
            <a:fillRect/>
          </a:stretch>
        </p:blipFill>
        <p:spPr>
          <a:xfrm>
            <a:off x="685800" y="6291072"/>
            <a:ext cx="643680" cy="329184"/>
          </a:xfrm>
          <a:prstGeom prst="rect">
            <a:avLst/>
          </a:prstGeom>
        </p:spPr>
      </p:pic>
      <p:sp>
        <p:nvSpPr>
          <p:cNvPr id="24" name="Text 17"/>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05 · ZIELGRUPPEN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Drei Menschen, für die wir posten.</a:t>
            </a:r>
            <a:endParaRPr lang="en-US" sz="3400" dirty="0"/>
          </a:p>
        </p:txBody>
      </p:sp>
      <p:sp>
        <p:nvSpPr>
          <p:cNvPr id="5" name="Shape 3"/>
          <p:cNvSpPr/>
          <p:nvPr/>
        </p:nvSpPr>
        <p:spPr>
          <a:xfrm>
            <a:off x="685800" y="1920240"/>
            <a:ext cx="3383280" cy="3931920"/>
          </a:xfrm>
          <a:prstGeom prst="roundRect">
            <a:avLst>
              <a:gd name="adj" fmla="val 3243"/>
            </a:avLst>
          </a:prstGeom>
          <a:solidFill>
            <a:srgbClr val="F4F4F4"/>
          </a:solidFill>
          <a:ln w="12700">
            <a:solidFill>
              <a:srgbClr val="F4F4F4"/>
            </a:solidFill>
            <a:prstDash val="solid"/>
          </a:ln>
        </p:spPr>
      </p:sp>
      <p:sp>
        <p:nvSpPr>
          <p:cNvPr id="6" name="Shape 4"/>
          <p:cNvSpPr/>
          <p:nvPr/>
        </p:nvSpPr>
        <p:spPr>
          <a:xfrm>
            <a:off x="960120" y="2194560"/>
            <a:ext cx="640080" cy="640080"/>
          </a:xfrm>
          <a:prstGeom prst="ellipse">
            <a:avLst/>
          </a:prstGeom>
          <a:solidFill>
            <a:srgbClr val="EB5A1B"/>
          </a:solidFill>
          <a:ln w="12700">
            <a:solidFill>
              <a:srgbClr val="EB5A1B"/>
            </a:solidFill>
            <a:prstDash val="solid"/>
          </a:ln>
        </p:spPr>
      </p:sp>
      <p:pic>
        <p:nvPicPr>
          <p:cNvPr id="7" name="Image 0" descr="/tmp/claude-0/-home-user-Marlene/67342075-d45e-5dfd-8246-b97e829a8c42/scratchpad/deck/img/FaHouse-w.png">    </p:cNvPr>
          <p:cNvPicPr>
            <a:picLocks noChangeAspect="1"/>
          </p:cNvPicPr>
          <p:nvPr/>
        </p:nvPicPr>
        <p:blipFill>
          <a:blip r:embed="rId1"/>
          <a:stretch>
            <a:fillRect/>
          </a:stretch>
        </p:blipFill>
        <p:spPr>
          <a:xfrm>
            <a:off x="1126541" y="2360981"/>
            <a:ext cx="307238" cy="307238"/>
          </a:xfrm>
          <a:prstGeom prst="rect">
            <a:avLst/>
          </a:prstGeom>
        </p:spPr>
      </p:pic>
      <p:sp>
        <p:nvSpPr>
          <p:cNvPr id="8" name="Text 5"/>
          <p:cNvSpPr txBox="1"/>
          <p:nvPr/>
        </p:nvSpPr>
        <p:spPr>
          <a:xfrm>
            <a:off x="2697480" y="2240280"/>
            <a:ext cx="1097280" cy="548640"/>
          </a:xfrm>
          <a:prstGeom prst="rect">
            <a:avLst/>
          </a:prstGeom>
          <a:noFill/>
          <a:ln/>
        </p:spPr>
        <p:txBody>
          <a:bodyPr wrap="square" lIns="0" tIns="0" rIns="0" bIns="0" rtlCol="0" anchor="t"/>
          <a:lstStyle/>
          <a:p>
            <a:pPr algn="r" indent="0" marL="0">
              <a:buNone/>
            </a:pPr>
            <a:r>
              <a:rPr lang="en-US" sz="2600" dirty="0">
                <a:solidFill>
                  <a:srgbClr val="EB5A1B"/>
                </a:solidFill>
                <a:latin typeface="Poppins ExtraBold" pitchFamily="34" charset="0"/>
                <a:ea typeface="Poppins ExtraBold" pitchFamily="34" charset="-122"/>
                <a:cs typeface="Poppins ExtraBold" pitchFamily="34" charset="-120"/>
              </a:rPr>
              <a:t>45 %</a:t>
            </a:r>
            <a:endParaRPr lang="en-US" sz="2600" dirty="0"/>
          </a:p>
        </p:txBody>
      </p:sp>
      <p:sp>
        <p:nvSpPr>
          <p:cNvPr id="9" name="Text 6"/>
          <p:cNvSpPr txBox="1"/>
          <p:nvPr/>
        </p:nvSpPr>
        <p:spPr>
          <a:xfrm>
            <a:off x="960120" y="3017520"/>
            <a:ext cx="283464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Familie Huber</a:t>
            </a:r>
            <a:endParaRPr lang="en-US" sz="1800" dirty="0"/>
          </a:p>
        </p:txBody>
      </p:sp>
      <p:sp>
        <p:nvSpPr>
          <p:cNvPr id="10" name="Text 7"/>
          <p:cNvSpPr txBox="1"/>
          <p:nvPr/>
        </p:nvSpPr>
        <p:spPr>
          <a:xfrm>
            <a:off x="960120" y="3474720"/>
            <a:ext cx="2834640" cy="6858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Eigenheim in der Region, 35–65</a:t>
            </a:r>
            <a:endParaRPr lang="en-US" sz="1300" dirty="0"/>
          </a:p>
        </p:txBody>
      </p:sp>
      <p:sp>
        <p:nvSpPr>
          <p:cNvPr id="11" name="Text 8"/>
          <p:cNvSpPr txBox="1"/>
          <p:nvPr/>
        </p:nvSpPr>
        <p:spPr>
          <a:xfrm>
            <a:off x="960120" y="4206240"/>
            <a:ext cx="2834640" cy="73152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Auslöser: Einbruch in der Nachbarschaft, dunkle Jahreszeit, Urlaub</a:t>
            </a:r>
            <a:endParaRPr lang="en-US" sz="1300" dirty="0"/>
          </a:p>
        </p:txBody>
      </p:sp>
      <p:sp>
        <p:nvSpPr>
          <p:cNvPr id="12" name="Shape 9"/>
          <p:cNvSpPr/>
          <p:nvPr/>
        </p:nvSpPr>
        <p:spPr>
          <a:xfrm>
            <a:off x="960120" y="5120640"/>
            <a:ext cx="2834640" cy="457200"/>
          </a:xfrm>
          <a:prstGeom prst="roundRect">
            <a:avLst>
              <a:gd name="adj" fmla="val 24000"/>
            </a:avLst>
          </a:prstGeom>
          <a:solidFill>
            <a:srgbClr val="111111"/>
          </a:solidFill>
          <a:ln w="12700">
            <a:solidFill>
              <a:srgbClr val="111111"/>
            </a:solidFill>
            <a:prstDash val="solid"/>
          </a:ln>
        </p:spPr>
      </p:sp>
      <p:sp>
        <p:nvSpPr>
          <p:cNvPr id="13" name="Text 10"/>
          <p:cNvSpPr txBox="1"/>
          <p:nvPr/>
        </p:nvSpPr>
        <p:spPr>
          <a:xfrm>
            <a:off x="960120" y="5120640"/>
            <a:ext cx="283464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 Kostenlose Sicherheitsberatung</a:t>
            </a:r>
            <a:endParaRPr lang="en-US" sz="1200" dirty="0"/>
          </a:p>
        </p:txBody>
      </p:sp>
      <p:sp>
        <p:nvSpPr>
          <p:cNvPr id="14" name="Shape 11"/>
          <p:cNvSpPr/>
          <p:nvPr/>
        </p:nvSpPr>
        <p:spPr>
          <a:xfrm>
            <a:off x="4343400" y="1920240"/>
            <a:ext cx="3383280" cy="3931920"/>
          </a:xfrm>
          <a:prstGeom prst="roundRect">
            <a:avLst>
              <a:gd name="adj" fmla="val 3243"/>
            </a:avLst>
          </a:prstGeom>
          <a:solidFill>
            <a:srgbClr val="F4F4F4"/>
          </a:solidFill>
          <a:ln w="12700">
            <a:solidFill>
              <a:srgbClr val="F4F4F4"/>
            </a:solidFill>
            <a:prstDash val="solid"/>
          </a:ln>
        </p:spPr>
      </p:sp>
      <p:sp>
        <p:nvSpPr>
          <p:cNvPr id="15" name="Shape 12"/>
          <p:cNvSpPr/>
          <p:nvPr/>
        </p:nvSpPr>
        <p:spPr>
          <a:xfrm>
            <a:off x="4617720" y="2194560"/>
            <a:ext cx="640080" cy="640080"/>
          </a:xfrm>
          <a:prstGeom prst="ellipse">
            <a:avLst/>
          </a:prstGeom>
          <a:solidFill>
            <a:srgbClr val="EB5A1B"/>
          </a:solidFill>
          <a:ln w="12700">
            <a:solidFill>
              <a:srgbClr val="EB5A1B"/>
            </a:solidFill>
            <a:prstDash val="solid"/>
          </a:ln>
        </p:spPr>
      </p:sp>
      <p:pic>
        <p:nvPicPr>
          <p:cNvPr id="16" name="Image 1" descr="/tmp/claude-0/-home-user-Marlene/67342075-d45e-5dfd-8246-b97e829a8c42/scratchpad/deck/img/FaUserGraduate-w.png">    </p:cNvPr>
          <p:cNvPicPr>
            <a:picLocks noChangeAspect="1"/>
          </p:cNvPicPr>
          <p:nvPr/>
        </p:nvPicPr>
        <p:blipFill>
          <a:blip r:embed="rId2"/>
          <a:stretch>
            <a:fillRect/>
          </a:stretch>
        </p:blipFill>
        <p:spPr>
          <a:xfrm>
            <a:off x="4784141" y="2360981"/>
            <a:ext cx="307238" cy="307238"/>
          </a:xfrm>
          <a:prstGeom prst="rect">
            <a:avLst/>
          </a:prstGeom>
        </p:spPr>
      </p:pic>
      <p:sp>
        <p:nvSpPr>
          <p:cNvPr id="17" name="Text 13"/>
          <p:cNvSpPr txBox="1"/>
          <p:nvPr/>
        </p:nvSpPr>
        <p:spPr>
          <a:xfrm>
            <a:off x="6355080" y="2240280"/>
            <a:ext cx="1097280" cy="548640"/>
          </a:xfrm>
          <a:prstGeom prst="rect">
            <a:avLst/>
          </a:prstGeom>
          <a:noFill/>
          <a:ln/>
        </p:spPr>
        <p:txBody>
          <a:bodyPr wrap="square" lIns="0" tIns="0" rIns="0" bIns="0" rtlCol="0" anchor="t"/>
          <a:lstStyle/>
          <a:p>
            <a:pPr algn="r" indent="0" marL="0">
              <a:buNone/>
            </a:pPr>
            <a:r>
              <a:rPr lang="en-US" sz="2600" dirty="0">
                <a:solidFill>
                  <a:srgbClr val="EB5A1B"/>
                </a:solidFill>
                <a:latin typeface="Poppins ExtraBold" pitchFamily="34" charset="0"/>
                <a:ea typeface="Poppins ExtraBold" pitchFamily="34" charset="-122"/>
                <a:cs typeface="Poppins ExtraBold" pitchFamily="34" charset="-120"/>
              </a:rPr>
              <a:t>30 %</a:t>
            </a:r>
            <a:endParaRPr lang="en-US" sz="2600" dirty="0"/>
          </a:p>
        </p:txBody>
      </p:sp>
      <p:sp>
        <p:nvSpPr>
          <p:cNvPr id="18" name="Text 14"/>
          <p:cNvSpPr txBox="1"/>
          <p:nvPr/>
        </p:nvSpPr>
        <p:spPr>
          <a:xfrm>
            <a:off x="4617720" y="3017520"/>
            <a:ext cx="283464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Leon, 16 (+ Mama)</a:t>
            </a:r>
            <a:endParaRPr lang="en-US" sz="1800" dirty="0"/>
          </a:p>
        </p:txBody>
      </p:sp>
      <p:sp>
        <p:nvSpPr>
          <p:cNvPr id="19" name="Text 15"/>
          <p:cNvSpPr txBox="1"/>
          <p:nvPr/>
        </p:nvSpPr>
        <p:spPr>
          <a:xfrm>
            <a:off x="4617720" y="3474720"/>
            <a:ext cx="2834640" cy="6858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Schüler, technikbegeistert, auf Reels und TikTok</a:t>
            </a:r>
            <a:endParaRPr lang="en-US" sz="1300" dirty="0"/>
          </a:p>
        </p:txBody>
      </p:sp>
      <p:sp>
        <p:nvSpPr>
          <p:cNvPr id="20" name="Text 16"/>
          <p:cNvSpPr txBox="1"/>
          <p:nvPr/>
        </p:nvSpPr>
        <p:spPr>
          <a:xfrm>
            <a:off x="4617720" y="4206240"/>
            <a:ext cx="2834640" cy="73152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Frage: „Sind die Leute nett? Was verdiene ich?“</a:t>
            </a:r>
            <a:endParaRPr lang="en-US" sz="1300" dirty="0"/>
          </a:p>
        </p:txBody>
      </p:sp>
      <p:sp>
        <p:nvSpPr>
          <p:cNvPr id="21" name="Shape 17"/>
          <p:cNvSpPr/>
          <p:nvPr/>
        </p:nvSpPr>
        <p:spPr>
          <a:xfrm>
            <a:off x="4617720" y="5120640"/>
            <a:ext cx="2834640" cy="457200"/>
          </a:xfrm>
          <a:prstGeom prst="roundRect">
            <a:avLst>
              <a:gd name="adj" fmla="val 24000"/>
            </a:avLst>
          </a:prstGeom>
          <a:solidFill>
            <a:srgbClr val="111111"/>
          </a:solidFill>
          <a:ln w="12700">
            <a:solidFill>
              <a:srgbClr val="111111"/>
            </a:solidFill>
            <a:prstDash val="solid"/>
          </a:ln>
        </p:spPr>
      </p:sp>
      <p:sp>
        <p:nvSpPr>
          <p:cNvPr id="22" name="Text 18"/>
          <p:cNvSpPr txBox="1"/>
          <p:nvPr/>
        </p:nvSpPr>
        <p:spPr>
          <a:xfrm>
            <a:off x="4617720" y="5120640"/>
            <a:ext cx="283464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 Praktikum per WhatsApp</a:t>
            </a:r>
            <a:endParaRPr lang="en-US" sz="1200" dirty="0"/>
          </a:p>
        </p:txBody>
      </p:sp>
      <p:sp>
        <p:nvSpPr>
          <p:cNvPr id="23" name="Shape 19"/>
          <p:cNvSpPr/>
          <p:nvPr/>
        </p:nvSpPr>
        <p:spPr>
          <a:xfrm>
            <a:off x="8001000" y="1920240"/>
            <a:ext cx="3383280" cy="3931920"/>
          </a:xfrm>
          <a:prstGeom prst="roundRect">
            <a:avLst>
              <a:gd name="adj" fmla="val 3243"/>
            </a:avLst>
          </a:prstGeom>
          <a:solidFill>
            <a:srgbClr val="F4F4F4"/>
          </a:solidFill>
          <a:ln w="12700">
            <a:solidFill>
              <a:srgbClr val="F4F4F4"/>
            </a:solidFill>
            <a:prstDash val="solid"/>
          </a:ln>
        </p:spPr>
      </p:sp>
      <p:sp>
        <p:nvSpPr>
          <p:cNvPr id="24" name="Shape 20"/>
          <p:cNvSpPr/>
          <p:nvPr/>
        </p:nvSpPr>
        <p:spPr>
          <a:xfrm>
            <a:off x="8275320" y="2194560"/>
            <a:ext cx="640080" cy="640080"/>
          </a:xfrm>
          <a:prstGeom prst="ellipse">
            <a:avLst/>
          </a:prstGeom>
          <a:solidFill>
            <a:srgbClr val="EB5A1B"/>
          </a:solidFill>
          <a:ln w="12700">
            <a:solidFill>
              <a:srgbClr val="EB5A1B"/>
            </a:solidFill>
            <a:prstDash val="solid"/>
          </a:ln>
        </p:spPr>
      </p:sp>
      <p:pic>
        <p:nvPicPr>
          <p:cNvPr id="25" name="Image 2" descr="/tmp/claude-0/-home-user-Marlene/67342075-d45e-5dfd-8246-b97e829a8c42/scratchpad/deck/img/FaUserTie-w.png">    </p:cNvPr>
          <p:cNvPicPr>
            <a:picLocks noChangeAspect="1"/>
          </p:cNvPicPr>
          <p:nvPr/>
        </p:nvPicPr>
        <p:blipFill>
          <a:blip r:embed="rId3"/>
          <a:stretch>
            <a:fillRect/>
          </a:stretch>
        </p:blipFill>
        <p:spPr>
          <a:xfrm>
            <a:off x="8441741" y="2360981"/>
            <a:ext cx="307238" cy="307238"/>
          </a:xfrm>
          <a:prstGeom prst="rect">
            <a:avLst/>
          </a:prstGeom>
        </p:spPr>
      </p:pic>
      <p:sp>
        <p:nvSpPr>
          <p:cNvPr id="26" name="Text 21"/>
          <p:cNvSpPr txBox="1"/>
          <p:nvPr/>
        </p:nvSpPr>
        <p:spPr>
          <a:xfrm>
            <a:off x="10012680" y="2240280"/>
            <a:ext cx="1097280" cy="548640"/>
          </a:xfrm>
          <a:prstGeom prst="rect">
            <a:avLst/>
          </a:prstGeom>
          <a:noFill/>
          <a:ln/>
        </p:spPr>
        <p:txBody>
          <a:bodyPr wrap="square" lIns="0" tIns="0" rIns="0" bIns="0" rtlCol="0" anchor="t"/>
          <a:lstStyle/>
          <a:p>
            <a:pPr algn="r" indent="0" marL="0">
              <a:buNone/>
            </a:pPr>
            <a:r>
              <a:rPr lang="en-US" sz="2600" dirty="0">
                <a:solidFill>
                  <a:srgbClr val="EB5A1B"/>
                </a:solidFill>
                <a:latin typeface="Poppins ExtraBold" pitchFamily="34" charset="0"/>
                <a:ea typeface="Poppins ExtraBold" pitchFamily="34" charset="-122"/>
                <a:cs typeface="Poppins ExtraBold" pitchFamily="34" charset="-120"/>
              </a:rPr>
              <a:t>15 %</a:t>
            </a:r>
            <a:endParaRPr lang="en-US" sz="2600" dirty="0"/>
          </a:p>
        </p:txBody>
      </p:sp>
      <p:sp>
        <p:nvSpPr>
          <p:cNvPr id="27" name="Text 22"/>
          <p:cNvSpPr txBox="1"/>
          <p:nvPr/>
        </p:nvSpPr>
        <p:spPr>
          <a:xfrm>
            <a:off x="8275320" y="3017520"/>
            <a:ext cx="2834640" cy="411480"/>
          </a:xfrm>
          <a:prstGeom prst="rect">
            <a:avLst/>
          </a:prstGeom>
          <a:noFill/>
          <a:ln/>
        </p:spPr>
        <p:txBody>
          <a:bodyPr wrap="square" lIns="0" tIns="0" rIns="0" bIns="0" rtlCol="0" anchor="t"/>
          <a:lstStyle/>
          <a:p>
            <a:pPr indent="0" marL="0">
              <a:buNone/>
            </a:pPr>
            <a:r>
              <a:rPr lang="en-US" sz="1800" dirty="0">
                <a:solidFill>
                  <a:srgbClr val="111111"/>
                </a:solidFill>
                <a:latin typeface="Poppins ExtraBold" pitchFamily="34" charset="0"/>
                <a:ea typeface="Poppins ExtraBold" pitchFamily="34" charset="-122"/>
                <a:cs typeface="Poppins ExtraBold" pitchFamily="34" charset="-120"/>
              </a:rPr>
              <a:t>Markus &amp; Sabrina</a:t>
            </a:r>
            <a:endParaRPr lang="en-US" sz="1800" dirty="0"/>
          </a:p>
        </p:txBody>
      </p:sp>
      <p:sp>
        <p:nvSpPr>
          <p:cNvPr id="28" name="Text 23"/>
          <p:cNvSpPr txBox="1"/>
          <p:nvPr/>
        </p:nvSpPr>
        <p:spPr>
          <a:xfrm>
            <a:off x="8275320" y="3474720"/>
            <a:ext cx="2834640" cy="68580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Elektroniker bzw. Quereinsteigerin (Leitstelle, Sicherheitsdienst)</a:t>
            </a:r>
            <a:endParaRPr lang="en-US" sz="1300" dirty="0"/>
          </a:p>
        </p:txBody>
      </p:sp>
      <p:sp>
        <p:nvSpPr>
          <p:cNvPr id="29" name="Text 24"/>
          <p:cNvSpPr txBox="1"/>
          <p:nvPr/>
        </p:nvSpPr>
        <p:spPr>
          <a:xfrm>
            <a:off x="8275320" y="4206240"/>
            <a:ext cx="2834640" cy="73152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Suchen Abwechslung, Sicherheit, Wertschätzung</a:t>
            </a:r>
            <a:endParaRPr lang="en-US" sz="1300" dirty="0"/>
          </a:p>
        </p:txBody>
      </p:sp>
      <p:sp>
        <p:nvSpPr>
          <p:cNvPr id="30" name="Shape 25"/>
          <p:cNvSpPr/>
          <p:nvPr/>
        </p:nvSpPr>
        <p:spPr>
          <a:xfrm>
            <a:off x="8275320" y="5120640"/>
            <a:ext cx="2834640" cy="457200"/>
          </a:xfrm>
          <a:prstGeom prst="roundRect">
            <a:avLst>
              <a:gd name="adj" fmla="val 24000"/>
            </a:avLst>
          </a:prstGeom>
          <a:solidFill>
            <a:srgbClr val="111111"/>
          </a:solidFill>
          <a:ln w="12700">
            <a:solidFill>
              <a:srgbClr val="111111"/>
            </a:solidFill>
            <a:prstDash val="solid"/>
          </a:ln>
        </p:spPr>
      </p:sp>
      <p:sp>
        <p:nvSpPr>
          <p:cNvPr id="31" name="Text 26"/>
          <p:cNvSpPr txBox="1"/>
          <p:nvPr/>
        </p:nvSpPr>
        <p:spPr>
          <a:xfrm>
            <a:off x="8275320" y="5120640"/>
            <a:ext cx="283464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 Bewerbung in 60 Sekunden</a:t>
            </a:r>
            <a:endParaRPr lang="en-US" sz="1200" dirty="0"/>
          </a:p>
        </p:txBody>
      </p:sp>
      <p:sp>
        <p:nvSpPr>
          <p:cNvPr id="32" name="Text 27"/>
          <p:cNvSpPr txBox="1"/>
          <p:nvPr/>
        </p:nvSpPr>
        <p:spPr>
          <a:xfrm>
            <a:off x="685800" y="5943600"/>
            <a:ext cx="10789920" cy="27432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+ 10 % Marke &amp; Region für alle. Gewerbekunden erreichen wir später über LinkedIn (Stufe 2).</a:t>
            </a:r>
            <a:endParaRPr lang="en-US" sz="1100" dirty="0"/>
          </a:p>
        </p:txBody>
      </p:sp>
      <p:pic>
        <p:nvPicPr>
          <p:cNvPr id="33" name="Image 3" descr="/home/user/Marlene/poleschak-social-media/assets/logo-transparent.png">    </p:cNvPr>
          <p:cNvPicPr>
            <a:picLocks noChangeAspect="1"/>
          </p:cNvPicPr>
          <p:nvPr/>
        </p:nvPicPr>
        <p:blipFill>
          <a:blip r:embed="rId4"/>
          <a:stretch>
            <a:fillRect/>
          </a:stretch>
        </p:blipFill>
        <p:spPr>
          <a:xfrm>
            <a:off x="685800" y="6291072"/>
            <a:ext cx="643680" cy="329184"/>
          </a:xfrm>
          <a:prstGeom prst="rect">
            <a:avLst/>
          </a:prstGeom>
        </p:spPr>
      </p:pic>
      <p:sp>
        <p:nvSpPr>
          <p:cNvPr id="34" name="Text 28"/>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06 · MARKEN-KIT</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Das Logo bleibt.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Die Regeln sind neu.</a:t>
            </a:r>
            <a:endParaRPr lang="en-US" sz="3400" dirty="0"/>
          </a:p>
        </p:txBody>
      </p:sp>
      <p:sp>
        <p:nvSpPr>
          <p:cNvPr id="5" name="Shape 3"/>
          <p:cNvSpPr/>
          <p:nvPr/>
        </p:nvSpPr>
        <p:spPr>
          <a:xfrm>
            <a:off x="685800" y="1874520"/>
            <a:ext cx="1600200" cy="1600200"/>
          </a:xfrm>
          <a:prstGeom prst="roundRect">
            <a:avLst>
              <a:gd name="adj" fmla="val 5714"/>
            </a:avLst>
          </a:prstGeom>
          <a:solidFill>
            <a:srgbClr val="EB5A1B"/>
          </a:solidFill>
          <a:ln w="12700">
            <a:solidFill>
              <a:srgbClr val="EB5A1B"/>
            </a:solidFill>
            <a:prstDash val="solid"/>
          </a:ln>
        </p:spPr>
      </p:sp>
      <p:sp>
        <p:nvSpPr>
          <p:cNvPr id="6" name="Text 4"/>
          <p:cNvSpPr txBox="1"/>
          <p:nvPr/>
        </p:nvSpPr>
        <p:spPr>
          <a:xfrm>
            <a:off x="822960" y="2788920"/>
            <a:ext cx="13716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Signal-Orange</a:t>
            </a:r>
            <a:endParaRPr lang="en-US" sz="1200" dirty="0"/>
          </a:p>
        </p:txBody>
      </p:sp>
      <p:sp>
        <p:nvSpPr>
          <p:cNvPr id="7" name="Text 5"/>
          <p:cNvSpPr txBox="1"/>
          <p:nvPr/>
        </p:nvSpPr>
        <p:spPr>
          <a:xfrm>
            <a:off x="822960" y="3063240"/>
            <a:ext cx="1371600" cy="274320"/>
          </a:xfrm>
          <a:prstGeom prst="rect">
            <a:avLst/>
          </a:prstGeom>
          <a:noFill/>
          <a:ln/>
        </p:spPr>
        <p:txBody>
          <a:bodyPr wrap="square" lIns="0" tIns="0" rIns="0" bIns="0" rtlCol="0" anchor="t"/>
          <a:lstStyle/>
          <a:p>
            <a:pPr indent="0" marL="0">
              <a:buNone/>
            </a:pPr>
            <a:r>
              <a:rPr lang="en-US" sz="1100" dirty="0">
                <a:solidFill>
                  <a:srgbClr val="FFFFFF"/>
                </a:solidFill>
                <a:latin typeface="Poppins" pitchFamily="34" charset="0"/>
                <a:ea typeface="Poppins" pitchFamily="34" charset="-122"/>
                <a:cs typeface="Poppins" pitchFamily="34" charset="-120"/>
              </a:rPr>
              <a:t>#EB5A1B</a:t>
            </a:r>
            <a:endParaRPr lang="en-US" sz="1100" dirty="0"/>
          </a:p>
        </p:txBody>
      </p:sp>
      <p:sp>
        <p:nvSpPr>
          <p:cNvPr id="8" name="Shape 6"/>
          <p:cNvSpPr/>
          <p:nvPr/>
        </p:nvSpPr>
        <p:spPr>
          <a:xfrm>
            <a:off x="2468880" y="1874520"/>
            <a:ext cx="1600200" cy="1600200"/>
          </a:xfrm>
          <a:prstGeom prst="roundRect">
            <a:avLst>
              <a:gd name="adj" fmla="val 5714"/>
            </a:avLst>
          </a:prstGeom>
          <a:solidFill>
            <a:srgbClr val="111111"/>
          </a:solidFill>
          <a:ln w="12700">
            <a:solidFill>
              <a:srgbClr val="111111"/>
            </a:solidFill>
            <a:prstDash val="solid"/>
          </a:ln>
        </p:spPr>
      </p:sp>
      <p:sp>
        <p:nvSpPr>
          <p:cNvPr id="9" name="Text 7"/>
          <p:cNvSpPr txBox="1"/>
          <p:nvPr/>
        </p:nvSpPr>
        <p:spPr>
          <a:xfrm>
            <a:off x="2606040" y="2788920"/>
            <a:ext cx="13716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Nacht</a:t>
            </a:r>
            <a:endParaRPr lang="en-US" sz="1200" dirty="0"/>
          </a:p>
        </p:txBody>
      </p:sp>
      <p:sp>
        <p:nvSpPr>
          <p:cNvPr id="10" name="Text 8"/>
          <p:cNvSpPr txBox="1"/>
          <p:nvPr/>
        </p:nvSpPr>
        <p:spPr>
          <a:xfrm>
            <a:off x="2606040" y="3063240"/>
            <a:ext cx="1371600" cy="274320"/>
          </a:xfrm>
          <a:prstGeom prst="rect">
            <a:avLst/>
          </a:prstGeom>
          <a:noFill/>
          <a:ln/>
        </p:spPr>
        <p:txBody>
          <a:bodyPr wrap="square" lIns="0" tIns="0" rIns="0" bIns="0" rtlCol="0" anchor="t"/>
          <a:lstStyle/>
          <a:p>
            <a:pPr indent="0" marL="0">
              <a:buNone/>
            </a:pPr>
            <a:r>
              <a:rPr lang="en-US" sz="1100" dirty="0">
                <a:solidFill>
                  <a:srgbClr val="FFFFFF"/>
                </a:solidFill>
                <a:latin typeface="Poppins" pitchFamily="34" charset="0"/>
                <a:ea typeface="Poppins" pitchFamily="34" charset="-122"/>
                <a:cs typeface="Poppins" pitchFamily="34" charset="-120"/>
              </a:rPr>
              <a:t>#111111</a:t>
            </a:r>
            <a:endParaRPr lang="en-US" sz="1100" dirty="0"/>
          </a:p>
        </p:txBody>
      </p:sp>
      <p:sp>
        <p:nvSpPr>
          <p:cNvPr id="11" name="Shape 9"/>
          <p:cNvSpPr/>
          <p:nvPr/>
        </p:nvSpPr>
        <p:spPr>
          <a:xfrm>
            <a:off x="4251960" y="1874520"/>
            <a:ext cx="1600200" cy="1600200"/>
          </a:xfrm>
          <a:prstGeom prst="roundRect">
            <a:avLst>
              <a:gd name="adj" fmla="val 5714"/>
            </a:avLst>
          </a:prstGeom>
          <a:solidFill>
            <a:srgbClr val="222222"/>
          </a:solidFill>
          <a:ln w="12700">
            <a:solidFill>
              <a:srgbClr val="222222"/>
            </a:solidFill>
            <a:prstDash val="solid"/>
          </a:ln>
        </p:spPr>
      </p:sp>
      <p:sp>
        <p:nvSpPr>
          <p:cNvPr id="12" name="Text 10"/>
          <p:cNvSpPr txBox="1"/>
          <p:nvPr/>
        </p:nvSpPr>
        <p:spPr>
          <a:xfrm>
            <a:off x="4389120" y="2788920"/>
            <a:ext cx="1371600" cy="274320"/>
          </a:xfrm>
          <a:prstGeom prst="rect">
            <a:avLst/>
          </a:prstGeom>
          <a:noFill/>
          <a:ln/>
        </p:spPr>
        <p:txBody>
          <a:bodyPr wrap="square" lIns="0" tIns="0" rIns="0" bIns="0" rtlCol="0" anchor="t"/>
          <a:lstStyle/>
          <a:p>
            <a:pPr indent="0" marL="0">
              <a:buNone/>
            </a:pPr>
            <a:r>
              <a:rPr lang="en-US" sz="1200" dirty="0">
                <a:solidFill>
                  <a:srgbClr val="FFFFFF"/>
                </a:solidFill>
                <a:latin typeface="Poppins SemiBold" pitchFamily="34" charset="0"/>
                <a:ea typeface="Poppins SemiBold" pitchFamily="34" charset="-122"/>
                <a:cs typeface="Poppins SemiBold" pitchFamily="34" charset="-120"/>
              </a:rPr>
              <a:t>Anthrazit</a:t>
            </a:r>
            <a:endParaRPr lang="en-US" sz="1200" dirty="0"/>
          </a:p>
        </p:txBody>
      </p:sp>
      <p:sp>
        <p:nvSpPr>
          <p:cNvPr id="13" name="Text 11"/>
          <p:cNvSpPr txBox="1"/>
          <p:nvPr/>
        </p:nvSpPr>
        <p:spPr>
          <a:xfrm>
            <a:off x="4389120" y="3063240"/>
            <a:ext cx="1371600" cy="274320"/>
          </a:xfrm>
          <a:prstGeom prst="rect">
            <a:avLst/>
          </a:prstGeom>
          <a:noFill/>
          <a:ln/>
        </p:spPr>
        <p:txBody>
          <a:bodyPr wrap="square" lIns="0" tIns="0" rIns="0" bIns="0" rtlCol="0" anchor="t"/>
          <a:lstStyle/>
          <a:p>
            <a:pPr indent="0" marL="0">
              <a:buNone/>
            </a:pPr>
            <a:r>
              <a:rPr lang="en-US" sz="1100" dirty="0">
                <a:solidFill>
                  <a:srgbClr val="FFFFFF"/>
                </a:solidFill>
                <a:latin typeface="Poppins" pitchFamily="34" charset="0"/>
                <a:ea typeface="Poppins" pitchFamily="34" charset="-122"/>
                <a:cs typeface="Poppins" pitchFamily="34" charset="-120"/>
              </a:rPr>
              <a:t>#222222</a:t>
            </a:r>
            <a:endParaRPr lang="en-US" sz="1100" dirty="0"/>
          </a:p>
        </p:txBody>
      </p:sp>
      <p:sp>
        <p:nvSpPr>
          <p:cNvPr id="14" name="Shape 12"/>
          <p:cNvSpPr/>
          <p:nvPr/>
        </p:nvSpPr>
        <p:spPr>
          <a:xfrm>
            <a:off x="6035040" y="1874520"/>
            <a:ext cx="1600200" cy="1600200"/>
          </a:xfrm>
          <a:prstGeom prst="roundRect">
            <a:avLst>
              <a:gd name="adj" fmla="val 5714"/>
            </a:avLst>
          </a:prstGeom>
          <a:solidFill>
            <a:srgbClr val="F4F4F4"/>
          </a:solidFill>
          <a:ln w="12700">
            <a:solidFill>
              <a:srgbClr val="DDDDDD"/>
            </a:solidFill>
            <a:prstDash val="solid"/>
          </a:ln>
        </p:spPr>
      </p:sp>
      <p:sp>
        <p:nvSpPr>
          <p:cNvPr id="15" name="Text 13"/>
          <p:cNvSpPr txBox="1"/>
          <p:nvPr/>
        </p:nvSpPr>
        <p:spPr>
          <a:xfrm>
            <a:off x="6172200" y="2788920"/>
            <a:ext cx="1371600" cy="274320"/>
          </a:xfrm>
          <a:prstGeom prst="rect">
            <a:avLst/>
          </a:prstGeom>
          <a:noFill/>
          <a:ln/>
        </p:spPr>
        <p:txBody>
          <a:bodyPr wrap="square" lIns="0" tIns="0" rIns="0" bIns="0" rtlCol="0" anchor="t"/>
          <a:lstStyle/>
          <a:p>
            <a:pPr indent="0" marL="0">
              <a:buNone/>
            </a:pPr>
            <a:r>
              <a:rPr lang="en-US" sz="1200" dirty="0">
                <a:solidFill>
                  <a:srgbClr val="111111"/>
                </a:solidFill>
                <a:latin typeface="Poppins SemiBold" pitchFamily="34" charset="0"/>
                <a:ea typeface="Poppins SemiBold" pitchFamily="34" charset="-122"/>
                <a:cs typeface="Poppins SemiBold" pitchFamily="34" charset="-120"/>
              </a:rPr>
              <a:t>Hellgrau</a:t>
            </a:r>
            <a:endParaRPr lang="en-US" sz="1200" dirty="0"/>
          </a:p>
        </p:txBody>
      </p:sp>
      <p:sp>
        <p:nvSpPr>
          <p:cNvPr id="16" name="Text 14"/>
          <p:cNvSpPr txBox="1"/>
          <p:nvPr/>
        </p:nvSpPr>
        <p:spPr>
          <a:xfrm>
            <a:off x="6172200" y="3063240"/>
            <a:ext cx="1371600" cy="274320"/>
          </a:xfrm>
          <a:prstGeom prst="rect">
            <a:avLst/>
          </a:prstGeom>
          <a:noFill/>
          <a:ln/>
        </p:spPr>
        <p:txBody>
          <a:bodyPr wrap="square" lIns="0" tIns="0" rIns="0" bIns="0" rtlCol="0" anchor="t"/>
          <a:lstStyle/>
          <a:p>
            <a:pPr indent="0" marL="0">
              <a:buNone/>
            </a:pPr>
            <a:r>
              <a:rPr lang="en-US" sz="1100" dirty="0">
                <a:solidFill>
                  <a:srgbClr val="111111"/>
                </a:solidFill>
                <a:latin typeface="Poppins" pitchFamily="34" charset="0"/>
                <a:ea typeface="Poppins" pitchFamily="34" charset="-122"/>
                <a:cs typeface="Poppins" pitchFamily="34" charset="-120"/>
              </a:rPr>
              <a:t>#F4F4F4</a:t>
            </a:r>
            <a:endParaRPr lang="en-US" sz="1100" dirty="0"/>
          </a:p>
        </p:txBody>
      </p:sp>
      <p:sp>
        <p:nvSpPr>
          <p:cNvPr id="17" name="Text 15"/>
          <p:cNvSpPr txBox="1"/>
          <p:nvPr/>
        </p:nvSpPr>
        <p:spPr>
          <a:xfrm>
            <a:off x="685800" y="3611880"/>
            <a:ext cx="6949440" cy="32004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60 % Nacht/Weiß · 30 % Grau · 10 % Orange. Orange markiert das Wichtigste, nie alles.</a:t>
            </a:r>
            <a:endParaRPr lang="en-US" sz="1300" dirty="0"/>
          </a:p>
        </p:txBody>
      </p:sp>
      <p:sp>
        <p:nvSpPr>
          <p:cNvPr id="18" name="Text 16"/>
          <p:cNvSpPr txBox="1"/>
          <p:nvPr/>
        </p:nvSpPr>
        <p:spPr>
          <a:xfrm>
            <a:off x="685800" y="4160520"/>
            <a:ext cx="3657600" cy="731520"/>
          </a:xfrm>
          <a:prstGeom prst="rect">
            <a:avLst/>
          </a:prstGeom>
          <a:noFill/>
          <a:ln/>
        </p:spPr>
        <p:txBody>
          <a:bodyPr wrap="square" lIns="0" tIns="0" rIns="0" bIns="0" rtlCol="0" anchor="t"/>
          <a:lstStyle/>
          <a:p>
            <a:pPr indent="0" marL="0">
              <a:buNone/>
            </a:pPr>
            <a:r>
              <a:rPr lang="en-US" sz="4400" dirty="0">
                <a:solidFill>
                  <a:srgbClr val="111111"/>
                </a:solidFill>
                <a:latin typeface="Poppins ExtraBold" pitchFamily="34" charset="0"/>
                <a:ea typeface="Poppins ExtraBold" pitchFamily="34" charset="-122"/>
                <a:cs typeface="Poppins ExtraBold" pitchFamily="34" charset="-120"/>
              </a:rPr>
              <a:t>Poppins</a:t>
            </a:r>
            <a:endParaRPr lang="en-US" sz="4400" dirty="0"/>
          </a:p>
        </p:txBody>
      </p:sp>
      <p:sp>
        <p:nvSpPr>
          <p:cNvPr id="19" name="Text 17"/>
          <p:cNvSpPr txBox="1"/>
          <p:nvPr/>
        </p:nvSpPr>
        <p:spPr>
          <a:xfrm>
            <a:off x="685800" y="4937760"/>
            <a:ext cx="6766560" cy="640080"/>
          </a:xfrm>
          <a:prstGeom prst="rect">
            <a:avLst/>
          </a:prstGeom>
          <a:noFill/>
          <a:ln/>
        </p:spPr>
        <p:txBody>
          <a:bodyPr wrap="square" lIns="0" tIns="0" rIns="0" bIns="0" rtlCol="0" anchor="t"/>
          <a:lstStyle/>
          <a:p>
            <a:pPr indent="0" marL="0">
              <a:buNone/>
            </a:pPr>
            <a:r>
              <a:rPr lang="en-US" sz="1300" dirty="0">
                <a:solidFill>
                  <a:srgbClr val="545559"/>
                </a:solidFill>
                <a:latin typeface="Poppins" pitchFamily="34" charset="0"/>
                <a:ea typeface="Poppins" pitchFamily="34" charset="-122"/>
                <a:cs typeface="Poppins" pitchFamily="34" charset="-120"/>
              </a:rPr>
              <a:t>ExtraBold für Headlines · SemiBold für Sublines · Regular für Text · Light für Kicker. Kostenlos, in Canva vorhanden.</a:t>
            </a:r>
            <a:endParaRPr lang="en-US" sz="1300" dirty="0"/>
          </a:p>
        </p:txBody>
      </p:sp>
      <p:sp>
        <p:nvSpPr>
          <p:cNvPr id="20" name="Shape 18"/>
          <p:cNvSpPr/>
          <p:nvPr/>
        </p:nvSpPr>
        <p:spPr>
          <a:xfrm>
            <a:off x="8092440" y="1874520"/>
            <a:ext cx="3429000" cy="3840480"/>
          </a:xfrm>
          <a:prstGeom prst="roundRect">
            <a:avLst>
              <a:gd name="adj" fmla="val 3200"/>
            </a:avLst>
          </a:prstGeom>
          <a:solidFill>
            <a:srgbClr val="F4F4F4"/>
          </a:solidFill>
          <a:ln w="12700">
            <a:solidFill>
              <a:srgbClr val="F4F4F4"/>
            </a:solidFill>
            <a:prstDash val="solid"/>
          </a:ln>
        </p:spPr>
      </p:sp>
      <p:pic>
        <p:nvPicPr>
          <p:cNvPr id="21" name="Image 0" descr="/home/user/Marlene/poleschak-social-media/assets/profilbild-weiss.png">    </p:cNvPr>
          <p:cNvPicPr>
            <a:picLocks noChangeAspect="1"/>
          </p:cNvPicPr>
          <p:nvPr/>
        </p:nvPicPr>
        <p:blipFill>
          <a:blip r:embed="rId1"/>
          <a:stretch>
            <a:fillRect/>
          </a:stretch>
        </p:blipFill>
        <p:spPr>
          <a:xfrm>
            <a:off x="8887968" y="2148840"/>
            <a:ext cx="1828800" cy="1828800"/>
          </a:xfrm>
          <a:prstGeom prst="rect">
            <a:avLst/>
          </a:prstGeom>
        </p:spPr>
      </p:pic>
      <p:sp>
        <p:nvSpPr>
          <p:cNvPr id="22" name="Text 19"/>
          <p:cNvSpPr txBox="1"/>
          <p:nvPr/>
        </p:nvSpPr>
        <p:spPr>
          <a:xfrm>
            <a:off x="8321040" y="4114800"/>
            <a:ext cx="3017520" cy="365760"/>
          </a:xfrm>
          <a:prstGeom prst="rect">
            <a:avLst/>
          </a:prstGeom>
          <a:noFill/>
          <a:ln/>
        </p:spPr>
        <p:txBody>
          <a:bodyPr wrap="square" lIns="0" tIns="0" rIns="0" bIns="0" rtlCol="0" anchor="t"/>
          <a:lstStyle/>
          <a:p>
            <a:pPr algn="ctr" indent="0" marL="0">
              <a:buNone/>
            </a:pPr>
            <a:r>
              <a:rPr lang="en-US" sz="1500" dirty="0">
                <a:solidFill>
                  <a:srgbClr val="111111"/>
                </a:solidFill>
                <a:latin typeface="Poppins SemiBold" pitchFamily="34" charset="0"/>
                <a:ea typeface="Poppins SemiBold" pitchFamily="34" charset="-122"/>
                <a:cs typeface="Poppins SemiBold" pitchFamily="34" charset="-120"/>
              </a:rPr>
              <a:t>Profilbild: das Signal</a:t>
            </a:r>
            <a:endParaRPr lang="en-US" sz="1500" dirty="0"/>
          </a:p>
        </p:txBody>
      </p:sp>
      <p:sp>
        <p:nvSpPr>
          <p:cNvPr id="23" name="Text 20"/>
          <p:cNvSpPr txBox="1"/>
          <p:nvPr/>
        </p:nvSpPr>
        <p:spPr>
          <a:xfrm>
            <a:off x="8321040" y="4480560"/>
            <a:ext cx="3017520" cy="822960"/>
          </a:xfrm>
          <a:prstGeom prst="rect">
            <a:avLst/>
          </a:prstGeom>
          <a:noFill/>
          <a:ln/>
        </p:spPr>
        <p:txBody>
          <a:bodyPr wrap="square" lIns="0" tIns="0" rIns="0" bIns="0" rtlCol="0" anchor="t"/>
          <a:lstStyle/>
          <a:p>
            <a:pPr algn="ctr" indent="0" marL="0">
              <a:buNone/>
            </a:pPr>
            <a:r>
              <a:rPr lang="en-US" sz="1200" dirty="0">
                <a:solidFill>
                  <a:srgbClr val="545559"/>
                </a:solidFill>
                <a:latin typeface="Poppins" pitchFamily="34" charset="0"/>
                <a:ea typeface="Poppins" pitchFamily="34" charset="-122"/>
                <a:cs typeface="Poppins" pitchFamily="34" charset="-120"/>
              </a:rPr>
              <a:t>Der Schriftzug ist im kleinen Kreis nicht lesbar, das Signal schon. Wiedererkennbar auf einen Blick.</a:t>
            </a:r>
            <a:endParaRPr lang="en-US" sz="1200" dirty="0"/>
          </a:p>
        </p:txBody>
      </p:sp>
      <p:pic>
        <p:nvPicPr>
          <p:cNvPr id="24" name="Image 1" descr="/home/user/Marlene/poleschak-social-media/assets/logo-transparent.png">    </p:cNvPr>
          <p:cNvPicPr>
            <a:picLocks noChangeAspect="1"/>
          </p:cNvPicPr>
          <p:nvPr/>
        </p:nvPicPr>
        <p:blipFill>
          <a:blip r:embed="rId2"/>
          <a:stretch>
            <a:fillRect/>
          </a:stretch>
        </p:blipFill>
        <p:spPr>
          <a:xfrm>
            <a:off x="685800" y="6291072"/>
            <a:ext cx="643680" cy="329184"/>
          </a:xfrm>
          <a:prstGeom prst="rect">
            <a:avLst/>
          </a:prstGeom>
        </p:spPr>
      </p:pic>
      <p:sp>
        <p:nvSpPr>
          <p:cNvPr id="25" name="Text 21"/>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9EA"/>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07 · DREI VORLAGEN-WELTEN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Drei Welten.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Eine DNA.</a:t>
            </a:r>
            <a:endParaRPr lang="en-US" sz="3400" dirty="0"/>
          </a:p>
        </p:txBody>
      </p:sp>
      <p:pic>
        <p:nvPicPr>
          <p:cNvPr id="5" name="Image 0" descr="/home/user/Marlene/poleschak-social-media/vorlagen/export/karussell-schwachstellen-4.png">    </p:cNvPr>
          <p:cNvPicPr>
            <a:picLocks noChangeAspect="1"/>
          </p:cNvPicPr>
          <p:nvPr/>
        </p:nvPicPr>
        <p:blipFill>
          <a:blip r:embed="rId1"/>
          <a:stretch>
            <a:fillRect/>
          </a:stretch>
        </p:blipFill>
        <p:spPr>
          <a:xfrm>
            <a:off x="868680" y="1783080"/>
            <a:ext cx="2852928" cy="3566160"/>
          </a:xfrm>
          <a:prstGeom prst="rect">
            <a:avLst/>
          </a:prstGeom>
          <a:effectLst>
            <a:outerShdw sx="100000" sy="100000" kx="0" ky="0" algn="bl" rotWithShape="0" blurRad="101600" dist="38100" dir="5400000">
              <a:srgbClr val="000000">
                <a:alpha val="25000"/>
              </a:srgbClr>
            </a:outerShdw>
          </a:effectLst>
        </p:spPr>
      </p:pic>
      <p:sp>
        <p:nvSpPr>
          <p:cNvPr id="6" name="Text 3"/>
          <p:cNvSpPr txBox="1"/>
          <p:nvPr/>
        </p:nvSpPr>
        <p:spPr>
          <a:xfrm>
            <a:off x="868680" y="5440680"/>
            <a:ext cx="2926080" cy="365760"/>
          </a:xfrm>
          <a:prstGeom prst="rect">
            <a:avLst/>
          </a:prstGeom>
          <a:noFill/>
          <a:ln/>
        </p:spPr>
        <p:txBody>
          <a:bodyPr wrap="square" lIns="0" tIns="0" rIns="0" bIns="0" rtlCol="0" anchor="t"/>
          <a:lstStyle/>
          <a:p>
            <a:pPr indent="0" marL="0">
              <a:buNone/>
            </a:pPr>
            <a:r>
              <a:rPr lang="en-US" sz="1700" dirty="0">
                <a:solidFill>
                  <a:srgbClr val="111111"/>
                </a:solidFill>
                <a:latin typeface="Poppins ExtraBold" pitchFamily="34" charset="0"/>
                <a:ea typeface="Poppins ExtraBold" pitchFamily="34" charset="-122"/>
                <a:cs typeface="Poppins ExtraBold" pitchFamily="34" charset="-120"/>
              </a:rPr>
              <a:t>Nachtschicht</a:t>
            </a:r>
            <a:endParaRPr lang="en-US" sz="1700" dirty="0"/>
          </a:p>
        </p:txBody>
      </p:sp>
      <p:sp>
        <p:nvSpPr>
          <p:cNvPr id="7" name="Text 4"/>
          <p:cNvSpPr txBox="1"/>
          <p:nvPr/>
        </p:nvSpPr>
        <p:spPr>
          <a:xfrm>
            <a:off x="868680" y="5806440"/>
            <a:ext cx="292608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Kunden · Leitstelle · Einsätze</a:t>
            </a:r>
            <a:endParaRPr lang="en-US" sz="1200" dirty="0"/>
          </a:p>
        </p:txBody>
      </p:sp>
      <p:pic>
        <p:nvPicPr>
          <p:cNvPr id="8" name="Image 1" descr="/home/user/Marlene/poleschak-social-media/vorlagen/export/post-pks-2025.png">    </p:cNvPr>
          <p:cNvPicPr>
            <a:picLocks noChangeAspect="1"/>
          </p:cNvPicPr>
          <p:nvPr/>
        </p:nvPicPr>
        <p:blipFill>
          <a:blip r:embed="rId2"/>
          <a:stretch>
            <a:fillRect/>
          </a:stretch>
        </p:blipFill>
        <p:spPr>
          <a:xfrm>
            <a:off x="4526280" y="1783080"/>
            <a:ext cx="2852928" cy="3566160"/>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4526280" y="5440680"/>
            <a:ext cx="2926080" cy="365760"/>
          </a:xfrm>
          <a:prstGeom prst="rect">
            <a:avLst/>
          </a:prstGeom>
          <a:noFill/>
          <a:ln/>
        </p:spPr>
        <p:txBody>
          <a:bodyPr wrap="square" lIns="0" tIns="0" rIns="0" bIns="0" rtlCol="0" anchor="t"/>
          <a:lstStyle/>
          <a:p>
            <a:pPr indent="0" marL="0">
              <a:buNone/>
            </a:pPr>
            <a:r>
              <a:rPr lang="en-US" sz="1700" dirty="0">
                <a:solidFill>
                  <a:srgbClr val="111111"/>
                </a:solidFill>
                <a:latin typeface="Poppins ExtraBold" pitchFamily="34" charset="0"/>
                <a:ea typeface="Poppins ExtraBold" pitchFamily="34" charset="-122"/>
                <a:cs typeface="Poppins ExtraBold" pitchFamily="34" charset="-120"/>
              </a:rPr>
              <a:t>Wissen</a:t>
            </a:r>
            <a:endParaRPr lang="en-US" sz="1700" dirty="0"/>
          </a:p>
        </p:txBody>
      </p:sp>
      <p:sp>
        <p:nvSpPr>
          <p:cNvPr id="10" name="Text 6"/>
          <p:cNvSpPr txBox="1"/>
          <p:nvPr/>
        </p:nvSpPr>
        <p:spPr>
          <a:xfrm>
            <a:off x="4526280" y="5806440"/>
            <a:ext cx="292608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Tipps · Mythen · Zahlen</a:t>
            </a:r>
            <a:endParaRPr lang="en-US" sz="1200" dirty="0"/>
          </a:p>
        </p:txBody>
      </p:sp>
      <p:pic>
        <p:nvPicPr>
          <p:cNvPr id="11" name="Image 2" descr="/home/user/Marlene/poleschak-social-media/vorlagen/export/post-karriere-ausbildung.png">    </p:cNvPr>
          <p:cNvPicPr>
            <a:picLocks noChangeAspect="1"/>
          </p:cNvPicPr>
          <p:nvPr/>
        </p:nvPicPr>
        <p:blipFill>
          <a:blip r:embed="rId3"/>
          <a:stretch>
            <a:fillRect/>
          </a:stretch>
        </p:blipFill>
        <p:spPr>
          <a:xfrm>
            <a:off x="8183880" y="1783080"/>
            <a:ext cx="2852928" cy="3566160"/>
          </a:xfrm>
          <a:prstGeom prst="rect">
            <a:avLst/>
          </a:prstGeom>
          <a:effectLst>
            <a:outerShdw sx="100000" sy="100000" kx="0" ky="0" algn="bl" rotWithShape="0" blurRad="101600" dist="38100" dir="5400000">
              <a:srgbClr val="000000">
                <a:alpha val="25000"/>
              </a:srgbClr>
            </a:outerShdw>
          </a:effectLst>
        </p:spPr>
      </p:pic>
      <p:sp>
        <p:nvSpPr>
          <p:cNvPr id="12" name="Text 7"/>
          <p:cNvSpPr txBox="1"/>
          <p:nvPr/>
        </p:nvSpPr>
        <p:spPr>
          <a:xfrm>
            <a:off x="8183880" y="5440680"/>
            <a:ext cx="2926080" cy="365760"/>
          </a:xfrm>
          <a:prstGeom prst="rect">
            <a:avLst/>
          </a:prstGeom>
          <a:noFill/>
          <a:ln/>
        </p:spPr>
        <p:txBody>
          <a:bodyPr wrap="square" lIns="0" tIns="0" rIns="0" bIns="0" rtlCol="0" anchor="t"/>
          <a:lstStyle/>
          <a:p>
            <a:pPr indent="0" marL="0">
              <a:buNone/>
            </a:pPr>
            <a:r>
              <a:rPr lang="en-US" sz="1700" dirty="0">
                <a:solidFill>
                  <a:srgbClr val="111111"/>
                </a:solidFill>
                <a:latin typeface="Poppins ExtraBold" pitchFamily="34" charset="0"/>
                <a:ea typeface="Poppins ExtraBold" pitchFamily="34" charset="-122"/>
                <a:cs typeface="Poppins ExtraBold" pitchFamily="34" charset="-120"/>
              </a:rPr>
              <a:t>Karriere</a:t>
            </a:r>
            <a:endParaRPr lang="en-US" sz="1700" dirty="0"/>
          </a:p>
        </p:txBody>
      </p:sp>
      <p:sp>
        <p:nvSpPr>
          <p:cNvPr id="13" name="Text 8"/>
          <p:cNvSpPr txBox="1"/>
          <p:nvPr/>
        </p:nvSpPr>
        <p:spPr>
          <a:xfrm>
            <a:off x="8183880" y="5806440"/>
            <a:ext cx="292608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Azubis · Fachkräfte · Team</a:t>
            </a:r>
            <a:endParaRPr lang="en-US" sz="1200" dirty="0"/>
          </a:p>
        </p:txBody>
      </p:sp>
      <p:pic>
        <p:nvPicPr>
          <p:cNvPr id="14" name="Image 3" descr="/home/user/Marlene/poleschak-social-media/assets/logo-transparent.png">    </p:cNvPr>
          <p:cNvPicPr>
            <a:picLocks noChangeAspect="1"/>
          </p:cNvPicPr>
          <p:nvPr/>
        </p:nvPicPr>
        <p:blipFill>
          <a:blip r:embed="rId4"/>
          <a:stretch>
            <a:fillRect/>
          </a:stretch>
        </p:blipFill>
        <p:spPr>
          <a:xfrm>
            <a:off x="685800" y="6291072"/>
            <a:ext cx="643680" cy="329184"/>
          </a:xfrm>
          <a:prstGeom prst="rect">
            <a:avLst/>
          </a:prstGeom>
        </p:spPr>
      </p:pic>
      <p:sp>
        <p:nvSpPr>
          <p:cNvPr id="15" name="Text 9"/>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08 · PROFIL-RELAUNCH</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FFFFFF"/>
                </a:solidFill>
                <a:latin typeface="Poppins ExtraBold" pitchFamily="34" charset="0"/>
                <a:ea typeface="Poppins ExtraBold" pitchFamily="34" charset="-122"/>
                <a:cs typeface="Poppins ExtraBold" pitchFamily="34" charset="-120"/>
              </a:rPr>
              <a:t>Der erste Eindruck in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3 Sekunden.</a:t>
            </a:r>
            <a:endParaRPr lang="en-US" sz="3400" dirty="0"/>
          </a:p>
        </p:txBody>
      </p:sp>
      <p:pic>
        <p:nvPicPr>
          <p:cNvPr id="5" name="Image 0" descr="/tmp/claude-0/-home-user-Marlene/67342075-d45e-5dfd-8246-b97e829a8c42/scratchpad/deck/img/ig-mockup.png">    </p:cNvPr>
          <p:cNvPicPr>
            <a:picLocks noChangeAspect="1"/>
          </p:cNvPicPr>
          <p:nvPr/>
        </p:nvPicPr>
        <p:blipFill>
          <a:blip r:embed="rId1"/>
          <a:stretch>
            <a:fillRect/>
          </a:stretch>
        </p:blipFill>
        <p:spPr>
          <a:xfrm>
            <a:off x="685800" y="1783080"/>
            <a:ext cx="4229463" cy="4297680"/>
          </a:xfrm>
          <a:prstGeom prst="rect">
            <a:avLst/>
          </a:prstGeom>
        </p:spPr>
      </p:pic>
      <p:sp>
        <p:nvSpPr>
          <p:cNvPr id="6" name="Shape 3"/>
          <p:cNvSpPr/>
          <p:nvPr/>
        </p:nvSpPr>
        <p:spPr>
          <a:xfrm>
            <a:off x="5463903" y="1828800"/>
            <a:ext cx="502920" cy="502920"/>
          </a:xfrm>
          <a:prstGeom prst="ellipse">
            <a:avLst/>
          </a:prstGeom>
          <a:solidFill>
            <a:srgbClr val="EB5A1B"/>
          </a:solidFill>
          <a:ln w="12700">
            <a:solidFill>
              <a:srgbClr val="EB5A1B"/>
            </a:solidFill>
            <a:prstDash val="solid"/>
          </a:ln>
        </p:spPr>
      </p:sp>
      <p:pic>
        <p:nvPicPr>
          <p:cNvPr id="7" name="Image 1" descr="/tmp/claude-0/-home-user-Marlene/67342075-d45e-5dfd-8246-b97e829a8c42/scratchpad/deck/img/FaBolt-w.png">    </p:cNvPr>
          <p:cNvPicPr>
            <a:picLocks noChangeAspect="1"/>
          </p:cNvPicPr>
          <p:nvPr/>
        </p:nvPicPr>
        <p:blipFill>
          <a:blip r:embed="rId2"/>
          <a:stretch>
            <a:fillRect/>
          </a:stretch>
        </p:blipFill>
        <p:spPr>
          <a:xfrm>
            <a:off x="5594662" y="1959559"/>
            <a:ext cx="241402" cy="241402"/>
          </a:xfrm>
          <a:prstGeom prst="rect">
            <a:avLst/>
          </a:prstGeom>
        </p:spPr>
      </p:pic>
      <p:sp>
        <p:nvSpPr>
          <p:cNvPr id="8" name="Text 4"/>
          <p:cNvSpPr txBox="1"/>
          <p:nvPr/>
        </p:nvSpPr>
        <p:spPr>
          <a:xfrm>
            <a:off x="6149703" y="1810512"/>
            <a:ext cx="4754880" cy="32004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Profilbild: das Signal</a:t>
            </a:r>
            <a:endParaRPr lang="en-US" sz="1500" dirty="0"/>
          </a:p>
        </p:txBody>
      </p:sp>
      <p:sp>
        <p:nvSpPr>
          <p:cNvPr id="9" name="Text 5"/>
          <p:cNvSpPr txBox="1"/>
          <p:nvPr/>
        </p:nvSpPr>
        <p:spPr>
          <a:xfrm>
            <a:off x="6149703" y="2121408"/>
            <a:ext cx="4754880" cy="3200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wiedererkennbar im Feed und in Stories</a:t>
            </a:r>
            <a:endParaRPr lang="en-US" sz="1200" dirty="0"/>
          </a:p>
        </p:txBody>
      </p:sp>
      <p:sp>
        <p:nvSpPr>
          <p:cNvPr id="10" name="Shape 6"/>
          <p:cNvSpPr/>
          <p:nvPr/>
        </p:nvSpPr>
        <p:spPr>
          <a:xfrm>
            <a:off x="5463903" y="2651760"/>
            <a:ext cx="502920" cy="502920"/>
          </a:xfrm>
          <a:prstGeom prst="ellipse">
            <a:avLst/>
          </a:prstGeom>
          <a:solidFill>
            <a:srgbClr val="EB5A1B"/>
          </a:solidFill>
          <a:ln w="12700">
            <a:solidFill>
              <a:srgbClr val="EB5A1B"/>
            </a:solidFill>
            <a:prstDash val="solid"/>
          </a:ln>
        </p:spPr>
      </p:sp>
      <p:pic>
        <p:nvPicPr>
          <p:cNvPr id="11" name="Image 2" descr="/tmp/claude-0/-home-user-Marlene/67342075-d45e-5dfd-8246-b97e829a8c42/scratchpad/deck/img/FaListCheck-w.png">    </p:cNvPr>
          <p:cNvPicPr>
            <a:picLocks noChangeAspect="1"/>
          </p:cNvPicPr>
          <p:nvPr/>
        </p:nvPicPr>
        <p:blipFill>
          <a:blip r:embed="rId3"/>
          <a:stretch>
            <a:fillRect/>
          </a:stretch>
        </p:blipFill>
        <p:spPr>
          <a:xfrm>
            <a:off x="5594662" y="2782519"/>
            <a:ext cx="241402" cy="241402"/>
          </a:xfrm>
          <a:prstGeom prst="rect">
            <a:avLst/>
          </a:prstGeom>
        </p:spPr>
      </p:pic>
      <p:sp>
        <p:nvSpPr>
          <p:cNvPr id="12" name="Text 7"/>
          <p:cNvSpPr txBox="1"/>
          <p:nvPr/>
        </p:nvSpPr>
        <p:spPr>
          <a:xfrm>
            <a:off x="6149703" y="2633472"/>
            <a:ext cx="4754880" cy="32004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Bio in 4 Zeilen</a:t>
            </a:r>
            <a:endParaRPr lang="en-US" sz="1500" dirty="0"/>
          </a:p>
        </p:txBody>
      </p:sp>
      <p:sp>
        <p:nvSpPr>
          <p:cNvPr id="13" name="Text 8"/>
          <p:cNvSpPr txBox="1"/>
          <p:nvPr/>
        </p:nvSpPr>
        <p:spPr>
          <a:xfrm>
            <a:off x="6149703" y="2944368"/>
            <a:ext cx="4754880" cy="3200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Versprechen · Leistungen · seit 1975 &amp; Region · Handlung</a:t>
            </a:r>
            <a:endParaRPr lang="en-US" sz="1200" dirty="0"/>
          </a:p>
        </p:txBody>
      </p:sp>
      <p:sp>
        <p:nvSpPr>
          <p:cNvPr id="14" name="Shape 9"/>
          <p:cNvSpPr/>
          <p:nvPr/>
        </p:nvSpPr>
        <p:spPr>
          <a:xfrm>
            <a:off x="5463903" y="3474720"/>
            <a:ext cx="502920" cy="502920"/>
          </a:xfrm>
          <a:prstGeom prst="ellipse">
            <a:avLst/>
          </a:prstGeom>
          <a:solidFill>
            <a:srgbClr val="EB5A1B"/>
          </a:solidFill>
          <a:ln w="12700">
            <a:solidFill>
              <a:srgbClr val="EB5A1B"/>
            </a:solidFill>
            <a:prstDash val="solid"/>
          </a:ln>
        </p:spPr>
      </p:sp>
      <p:pic>
        <p:nvPicPr>
          <p:cNvPr id="15" name="Image 3" descr="/tmp/claude-0/-home-user-Marlene/67342075-d45e-5dfd-8246-b97e829a8c42/scratchpad/deck/img/FaStar-w.png">    </p:cNvPr>
          <p:cNvPicPr>
            <a:picLocks noChangeAspect="1"/>
          </p:cNvPicPr>
          <p:nvPr/>
        </p:nvPicPr>
        <p:blipFill>
          <a:blip r:embed="rId4"/>
          <a:stretch>
            <a:fillRect/>
          </a:stretch>
        </p:blipFill>
        <p:spPr>
          <a:xfrm>
            <a:off x="5594662" y="3605479"/>
            <a:ext cx="241402" cy="241402"/>
          </a:xfrm>
          <a:prstGeom prst="rect">
            <a:avLst/>
          </a:prstGeom>
        </p:spPr>
      </p:pic>
      <p:sp>
        <p:nvSpPr>
          <p:cNvPr id="16" name="Text 10"/>
          <p:cNvSpPr txBox="1"/>
          <p:nvPr/>
        </p:nvSpPr>
        <p:spPr>
          <a:xfrm>
            <a:off x="6149703" y="3456432"/>
            <a:ext cx="4754880" cy="32004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5 Highlights</a:t>
            </a:r>
            <a:endParaRPr lang="en-US" sz="1500" dirty="0"/>
          </a:p>
        </p:txBody>
      </p:sp>
      <p:sp>
        <p:nvSpPr>
          <p:cNvPr id="17" name="Text 11"/>
          <p:cNvSpPr txBox="1"/>
          <p:nvPr/>
        </p:nvSpPr>
        <p:spPr>
          <a:xfrm>
            <a:off x="6149703" y="3767328"/>
            <a:ext cx="4754880" cy="3200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Über uns · Leitstelle · Karriere · Tipps · Kunden</a:t>
            </a:r>
            <a:endParaRPr lang="en-US" sz="1200" dirty="0"/>
          </a:p>
        </p:txBody>
      </p:sp>
      <p:sp>
        <p:nvSpPr>
          <p:cNvPr id="18" name="Shape 12"/>
          <p:cNvSpPr/>
          <p:nvPr/>
        </p:nvSpPr>
        <p:spPr>
          <a:xfrm>
            <a:off x="5463903" y="4297680"/>
            <a:ext cx="502920" cy="502920"/>
          </a:xfrm>
          <a:prstGeom prst="ellipse">
            <a:avLst/>
          </a:prstGeom>
          <a:solidFill>
            <a:srgbClr val="EB5A1B"/>
          </a:solidFill>
          <a:ln w="12700">
            <a:solidFill>
              <a:srgbClr val="EB5A1B"/>
            </a:solidFill>
            <a:prstDash val="solid"/>
          </a:ln>
        </p:spPr>
      </p:sp>
      <p:pic>
        <p:nvPicPr>
          <p:cNvPr id="19" name="Image 4" descr="/tmp/claude-0/-home-user-Marlene/67342075-d45e-5dfd-8246-b97e829a8c42/scratchpad/deck/img/FaWhatsapp-w.png">    </p:cNvPr>
          <p:cNvPicPr>
            <a:picLocks noChangeAspect="1"/>
          </p:cNvPicPr>
          <p:nvPr/>
        </p:nvPicPr>
        <p:blipFill>
          <a:blip r:embed="rId5"/>
          <a:stretch>
            <a:fillRect/>
          </a:stretch>
        </p:blipFill>
        <p:spPr>
          <a:xfrm>
            <a:off x="5594662" y="4428439"/>
            <a:ext cx="241402" cy="241402"/>
          </a:xfrm>
          <a:prstGeom prst="rect">
            <a:avLst/>
          </a:prstGeom>
        </p:spPr>
      </p:pic>
      <p:sp>
        <p:nvSpPr>
          <p:cNvPr id="20" name="Text 13"/>
          <p:cNvSpPr txBox="1"/>
          <p:nvPr/>
        </p:nvSpPr>
        <p:spPr>
          <a:xfrm>
            <a:off x="6149703" y="4279392"/>
            <a:ext cx="4754880" cy="32004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WhatsApp als Haupt-Button</a:t>
            </a:r>
            <a:endParaRPr lang="en-US" sz="1500" dirty="0"/>
          </a:p>
        </p:txBody>
      </p:sp>
      <p:sp>
        <p:nvSpPr>
          <p:cNvPr id="21" name="Text 14"/>
          <p:cNvSpPr txBox="1"/>
          <p:nvPr/>
        </p:nvSpPr>
        <p:spPr>
          <a:xfrm>
            <a:off x="6149703" y="4590288"/>
            <a:ext cx="4754880" cy="3200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niedrigste Hürde für Kunden und Azubis</a:t>
            </a:r>
            <a:endParaRPr lang="en-US" sz="1200" dirty="0"/>
          </a:p>
        </p:txBody>
      </p:sp>
      <p:sp>
        <p:nvSpPr>
          <p:cNvPr id="22" name="Shape 15"/>
          <p:cNvSpPr/>
          <p:nvPr/>
        </p:nvSpPr>
        <p:spPr>
          <a:xfrm>
            <a:off x="5463903" y="5120640"/>
            <a:ext cx="502920" cy="502920"/>
          </a:xfrm>
          <a:prstGeom prst="ellipse">
            <a:avLst/>
          </a:prstGeom>
          <a:solidFill>
            <a:srgbClr val="EB5A1B"/>
          </a:solidFill>
          <a:ln w="12700">
            <a:solidFill>
              <a:srgbClr val="EB5A1B"/>
            </a:solidFill>
            <a:prstDash val="solid"/>
          </a:ln>
        </p:spPr>
      </p:sp>
      <p:pic>
        <p:nvPicPr>
          <p:cNvPr id="23" name="Image 5" descr="/tmp/claude-0/-home-user-Marlene/67342075-d45e-5dfd-8246-b97e829a8c42/scratchpad/deck/img/FaLock-w.png">    </p:cNvPr>
          <p:cNvPicPr>
            <a:picLocks noChangeAspect="1"/>
          </p:cNvPicPr>
          <p:nvPr/>
        </p:nvPicPr>
        <p:blipFill>
          <a:blip r:embed="rId6"/>
          <a:stretch>
            <a:fillRect/>
          </a:stretch>
        </p:blipFill>
        <p:spPr>
          <a:xfrm>
            <a:off x="5594662" y="5251399"/>
            <a:ext cx="241402" cy="241402"/>
          </a:xfrm>
          <a:prstGeom prst="rect">
            <a:avLst/>
          </a:prstGeom>
        </p:spPr>
      </p:pic>
      <p:sp>
        <p:nvSpPr>
          <p:cNvPr id="24" name="Text 16"/>
          <p:cNvSpPr txBox="1"/>
          <p:nvPr/>
        </p:nvSpPr>
        <p:spPr>
          <a:xfrm>
            <a:off x="6149703" y="5102352"/>
            <a:ext cx="4754880" cy="320040"/>
          </a:xfrm>
          <a:prstGeom prst="rect">
            <a:avLst/>
          </a:prstGeom>
          <a:noFill/>
          <a:ln/>
        </p:spPr>
        <p:txBody>
          <a:bodyPr wrap="square" lIns="0" tIns="0" rIns="0" bIns="0" rtlCol="0" anchor="t"/>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Kein Notrufkanal</a:t>
            </a:r>
            <a:endParaRPr lang="en-US" sz="1500" dirty="0"/>
          </a:p>
        </p:txBody>
      </p:sp>
      <p:sp>
        <p:nvSpPr>
          <p:cNvPr id="25" name="Text 17"/>
          <p:cNvSpPr txBox="1"/>
          <p:nvPr/>
        </p:nvSpPr>
        <p:spPr>
          <a:xfrm>
            <a:off x="6149703" y="5413248"/>
            <a:ext cx="4754880" cy="3200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automatische Antwort verweist auf 110 und die Leitstelle</a:t>
            </a:r>
            <a:endParaRPr lang="en-US" sz="1200" dirty="0"/>
          </a:p>
        </p:txBody>
      </p:sp>
      <p:pic>
        <p:nvPicPr>
          <p:cNvPr id="26" name="Image 6" descr="/home/user/Marlene/poleschak-social-media/assets/logo-negativ.png">    </p:cNvPr>
          <p:cNvPicPr>
            <a:picLocks noChangeAspect="1"/>
          </p:cNvPicPr>
          <p:nvPr/>
        </p:nvPicPr>
        <p:blipFill>
          <a:blip r:embed="rId7"/>
          <a:stretch>
            <a:fillRect/>
          </a:stretch>
        </p:blipFill>
        <p:spPr>
          <a:xfrm>
            <a:off x="685800" y="6291072"/>
            <a:ext cx="643680" cy="329184"/>
          </a:xfrm>
          <a:prstGeom prst="rect">
            <a:avLst/>
          </a:prstGeom>
        </p:spPr>
      </p:pic>
      <p:sp>
        <p:nvSpPr>
          <p:cNvPr id="27" name="Text 18"/>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09 · STRATEGIE</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Fünf Content-Säulen.</a:t>
            </a:r>
            <a:endParaRPr lang="en-US" sz="3400" dirty="0"/>
          </a:p>
        </p:txBody>
      </p:sp>
      <p:sp>
        <p:nvSpPr>
          <p:cNvPr id="5" name="Shape 3"/>
          <p:cNvSpPr/>
          <p:nvPr/>
        </p:nvSpPr>
        <p:spPr>
          <a:xfrm>
            <a:off x="685800" y="1874520"/>
            <a:ext cx="548640" cy="548640"/>
          </a:xfrm>
          <a:prstGeom prst="ellipse">
            <a:avLst/>
          </a:prstGeom>
          <a:solidFill>
            <a:srgbClr val="EB5A1B"/>
          </a:solidFill>
          <a:ln w="12700">
            <a:solidFill>
              <a:srgbClr val="EB5A1B"/>
            </a:solidFill>
            <a:prstDash val="solid"/>
          </a:ln>
        </p:spPr>
      </p:sp>
      <p:pic>
        <p:nvPicPr>
          <p:cNvPr id="6" name="Image 0" descr="/tmp/claude-0/-home-user-Marlene/67342075-d45e-5dfd-8246-b97e829a8c42/scratchpad/deck/img/FaHeadset-w.png">    </p:cNvPr>
          <p:cNvPicPr>
            <a:picLocks noChangeAspect="1"/>
          </p:cNvPicPr>
          <p:nvPr/>
        </p:nvPicPr>
        <p:blipFill>
          <a:blip r:embed="rId1"/>
          <a:stretch>
            <a:fillRect/>
          </a:stretch>
        </p:blipFill>
        <p:spPr>
          <a:xfrm>
            <a:off x="828446" y="2017166"/>
            <a:ext cx="263347" cy="263347"/>
          </a:xfrm>
          <a:prstGeom prst="rect">
            <a:avLst/>
          </a:prstGeom>
        </p:spPr>
      </p:pic>
      <p:sp>
        <p:nvSpPr>
          <p:cNvPr id="7" name="Text 4"/>
          <p:cNvSpPr txBox="1"/>
          <p:nvPr/>
        </p:nvSpPr>
        <p:spPr>
          <a:xfrm>
            <a:off x="1417320" y="1856232"/>
            <a:ext cx="411480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Aus der Leitstelle</a:t>
            </a:r>
            <a:endParaRPr lang="en-US" sz="1500" dirty="0"/>
          </a:p>
        </p:txBody>
      </p:sp>
      <p:sp>
        <p:nvSpPr>
          <p:cNvPr id="8" name="Text 5"/>
          <p:cNvSpPr txBox="1"/>
          <p:nvPr/>
        </p:nvSpPr>
        <p:spPr>
          <a:xfrm>
            <a:off x="1417320" y="2167128"/>
            <a:ext cx="411480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Nachtschicht, Alarmablauf, Technik</a:t>
            </a:r>
            <a:endParaRPr lang="en-US" sz="1200" dirty="0"/>
          </a:p>
        </p:txBody>
      </p:sp>
      <p:sp>
        <p:nvSpPr>
          <p:cNvPr id="9" name="Text 6"/>
          <p:cNvSpPr txBox="1"/>
          <p:nvPr/>
        </p:nvSpPr>
        <p:spPr>
          <a:xfrm>
            <a:off x="5394960" y="1920240"/>
            <a:ext cx="914400" cy="411480"/>
          </a:xfrm>
          <a:prstGeom prst="rect">
            <a:avLst/>
          </a:prstGeom>
          <a:noFill/>
          <a:ln/>
        </p:spPr>
        <p:txBody>
          <a:bodyPr wrap="square" lIns="0" tIns="0" rIns="0" bIns="0" rtlCol="0" anchor="t"/>
          <a:lstStyle/>
          <a:p>
            <a:pPr algn="r" indent="0" marL="0">
              <a:buNone/>
            </a:pPr>
            <a:r>
              <a:rPr lang="en-US" sz="1800" dirty="0">
                <a:solidFill>
                  <a:srgbClr val="EB5A1B"/>
                </a:solidFill>
                <a:latin typeface="Poppins ExtraBold" pitchFamily="34" charset="0"/>
                <a:ea typeface="Poppins ExtraBold" pitchFamily="34" charset="-122"/>
                <a:cs typeface="Poppins ExtraBold" pitchFamily="34" charset="-120"/>
              </a:rPr>
              <a:t>25 %</a:t>
            </a:r>
            <a:endParaRPr lang="en-US" sz="1800" dirty="0"/>
          </a:p>
        </p:txBody>
      </p:sp>
      <p:sp>
        <p:nvSpPr>
          <p:cNvPr id="10" name="Shape 7"/>
          <p:cNvSpPr/>
          <p:nvPr/>
        </p:nvSpPr>
        <p:spPr>
          <a:xfrm>
            <a:off x="685800" y="2679192"/>
            <a:ext cx="548640" cy="548640"/>
          </a:xfrm>
          <a:prstGeom prst="ellipse">
            <a:avLst/>
          </a:prstGeom>
          <a:solidFill>
            <a:srgbClr val="EB5A1B"/>
          </a:solidFill>
          <a:ln w="12700">
            <a:solidFill>
              <a:srgbClr val="EB5A1B"/>
            </a:solidFill>
            <a:prstDash val="solid"/>
          </a:ln>
        </p:spPr>
      </p:sp>
      <p:pic>
        <p:nvPicPr>
          <p:cNvPr id="11" name="Image 1" descr="/tmp/claude-0/-home-user-Marlene/67342075-d45e-5dfd-8246-b97e829a8c42/scratchpad/deck/img/FaLightbulb-w.png">    </p:cNvPr>
          <p:cNvPicPr>
            <a:picLocks noChangeAspect="1"/>
          </p:cNvPicPr>
          <p:nvPr/>
        </p:nvPicPr>
        <p:blipFill>
          <a:blip r:embed="rId2"/>
          <a:stretch>
            <a:fillRect/>
          </a:stretch>
        </p:blipFill>
        <p:spPr>
          <a:xfrm>
            <a:off x="828446" y="2821838"/>
            <a:ext cx="263347" cy="263347"/>
          </a:xfrm>
          <a:prstGeom prst="rect">
            <a:avLst/>
          </a:prstGeom>
        </p:spPr>
      </p:pic>
      <p:sp>
        <p:nvSpPr>
          <p:cNvPr id="12" name="Text 8"/>
          <p:cNvSpPr txBox="1"/>
          <p:nvPr/>
        </p:nvSpPr>
        <p:spPr>
          <a:xfrm>
            <a:off x="1417320" y="2660904"/>
            <a:ext cx="411480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Sicher wissen</a:t>
            </a:r>
            <a:endParaRPr lang="en-US" sz="1500" dirty="0"/>
          </a:p>
        </p:txBody>
      </p:sp>
      <p:sp>
        <p:nvSpPr>
          <p:cNvPr id="13" name="Text 9"/>
          <p:cNvSpPr txBox="1"/>
          <p:nvPr/>
        </p:nvSpPr>
        <p:spPr>
          <a:xfrm>
            <a:off x="1417320" y="2971800"/>
            <a:ext cx="411480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Tipps, Mythen, Zahlen, Förderung</a:t>
            </a:r>
            <a:endParaRPr lang="en-US" sz="1200" dirty="0"/>
          </a:p>
        </p:txBody>
      </p:sp>
      <p:sp>
        <p:nvSpPr>
          <p:cNvPr id="14" name="Text 10"/>
          <p:cNvSpPr txBox="1"/>
          <p:nvPr/>
        </p:nvSpPr>
        <p:spPr>
          <a:xfrm>
            <a:off x="5394960" y="2724912"/>
            <a:ext cx="914400" cy="411480"/>
          </a:xfrm>
          <a:prstGeom prst="rect">
            <a:avLst/>
          </a:prstGeom>
          <a:noFill/>
          <a:ln/>
        </p:spPr>
        <p:txBody>
          <a:bodyPr wrap="square" lIns="0" tIns="0" rIns="0" bIns="0" rtlCol="0" anchor="t"/>
          <a:lstStyle/>
          <a:p>
            <a:pPr algn="r" indent="0" marL="0">
              <a:buNone/>
            </a:pPr>
            <a:r>
              <a:rPr lang="en-US" sz="1800" dirty="0">
                <a:solidFill>
                  <a:srgbClr val="EB5A1B"/>
                </a:solidFill>
                <a:latin typeface="Poppins ExtraBold" pitchFamily="34" charset="0"/>
                <a:ea typeface="Poppins ExtraBold" pitchFamily="34" charset="-122"/>
                <a:cs typeface="Poppins ExtraBold" pitchFamily="34" charset="-120"/>
              </a:rPr>
              <a:t>30 %</a:t>
            </a:r>
            <a:endParaRPr lang="en-US" sz="1800" dirty="0"/>
          </a:p>
        </p:txBody>
      </p:sp>
      <p:sp>
        <p:nvSpPr>
          <p:cNvPr id="15" name="Shape 11"/>
          <p:cNvSpPr/>
          <p:nvPr/>
        </p:nvSpPr>
        <p:spPr>
          <a:xfrm>
            <a:off x="685800" y="3483864"/>
            <a:ext cx="548640" cy="548640"/>
          </a:xfrm>
          <a:prstGeom prst="ellipse">
            <a:avLst/>
          </a:prstGeom>
          <a:solidFill>
            <a:srgbClr val="EB5A1B"/>
          </a:solidFill>
          <a:ln w="12700">
            <a:solidFill>
              <a:srgbClr val="EB5A1B"/>
            </a:solidFill>
            <a:prstDash val="solid"/>
          </a:ln>
        </p:spPr>
      </p:sp>
      <p:pic>
        <p:nvPicPr>
          <p:cNvPr id="16" name="Image 2" descr="/tmp/claude-0/-home-user-Marlene/67342075-d45e-5dfd-8246-b97e829a8c42/scratchpad/deck/img/FaUserGraduate-w.png">    </p:cNvPr>
          <p:cNvPicPr>
            <a:picLocks noChangeAspect="1"/>
          </p:cNvPicPr>
          <p:nvPr/>
        </p:nvPicPr>
        <p:blipFill>
          <a:blip r:embed="rId3"/>
          <a:stretch>
            <a:fillRect/>
          </a:stretch>
        </p:blipFill>
        <p:spPr>
          <a:xfrm>
            <a:off x="828446" y="3626510"/>
            <a:ext cx="263347" cy="263347"/>
          </a:xfrm>
          <a:prstGeom prst="rect">
            <a:avLst/>
          </a:prstGeom>
        </p:spPr>
      </p:pic>
      <p:sp>
        <p:nvSpPr>
          <p:cNvPr id="17" name="Text 12"/>
          <p:cNvSpPr txBox="1"/>
          <p:nvPr/>
        </p:nvSpPr>
        <p:spPr>
          <a:xfrm>
            <a:off x="1417320" y="3465576"/>
            <a:ext cx="411480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Mach Alarm. Beruflich.</a:t>
            </a:r>
            <a:endParaRPr lang="en-US" sz="1500" dirty="0"/>
          </a:p>
        </p:txBody>
      </p:sp>
      <p:sp>
        <p:nvSpPr>
          <p:cNvPr id="18" name="Text 13"/>
          <p:cNvSpPr txBox="1"/>
          <p:nvPr/>
        </p:nvSpPr>
        <p:spPr>
          <a:xfrm>
            <a:off x="1417320" y="3776472"/>
            <a:ext cx="411480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Azubi-Alltag, Jobs, Benefits</a:t>
            </a:r>
            <a:endParaRPr lang="en-US" sz="1200" dirty="0"/>
          </a:p>
        </p:txBody>
      </p:sp>
      <p:sp>
        <p:nvSpPr>
          <p:cNvPr id="19" name="Text 14"/>
          <p:cNvSpPr txBox="1"/>
          <p:nvPr/>
        </p:nvSpPr>
        <p:spPr>
          <a:xfrm>
            <a:off x="5394960" y="3529584"/>
            <a:ext cx="914400" cy="411480"/>
          </a:xfrm>
          <a:prstGeom prst="rect">
            <a:avLst/>
          </a:prstGeom>
          <a:noFill/>
          <a:ln/>
        </p:spPr>
        <p:txBody>
          <a:bodyPr wrap="square" lIns="0" tIns="0" rIns="0" bIns="0" rtlCol="0" anchor="t"/>
          <a:lstStyle/>
          <a:p>
            <a:pPr algn="r" indent="0" marL="0">
              <a:buNone/>
            </a:pPr>
            <a:r>
              <a:rPr lang="en-US" sz="1800" dirty="0">
                <a:solidFill>
                  <a:srgbClr val="EB5A1B"/>
                </a:solidFill>
                <a:latin typeface="Poppins ExtraBold" pitchFamily="34" charset="0"/>
                <a:ea typeface="Poppins ExtraBold" pitchFamily="34" charset="-122"/>
                <a:cs typeface="Poppins ExtraBold" pitchFamily="34" charset="-120"/>
              </a:rPr>
              <a:t>30 %</a:t>
            </a:r>
            <a:endParaRPr lang="en-US" sz="1800" dirty="0"/>
          </a:p>
        </p:txBody>
      </p:sp>
      <p:sp>
        <p:nvSpPr>
          <p:cNvPr id="20" name="Shape 15"/>
          <p:cNvSpPr/>
          <p:nvPr/>
        </p:nvSpPr>
        <p:spPr>
          <a:xfrm>
            <a:off x="685800" y="4288536"/>
            <a:ext cx="548640" cy="548640"/>
          </a:xfrm>
          <a:prstGeom prst="ellipse">
            <a:avLst/>
          </a:prstGeom>
          <a:solidFill>
            <a:srgbClr val="EB5A1B"/>
          </a:solidFill>
          <a:ln w="12700">
            <a:solidFill>
              <a:srgbClr val="EB5A1B"/>
            </a:solidFill>
            <a:prstDash val="solid"/>
          </a:ln>
        </p:spPr>
      </p:sp>
      <p:pic>
        <p:nvPicPr>
          <p:cNvPr id="21" name="Image 3" descr="/tmp/claude-0/-home-user-Marlene/67342075-d45e-5dfd-8246-b97e829a8c42/scratchpad/deck/img/FaPeopleGroup-w.png">    </p:cNvPr>
          <p:cNvPicPr>
            <a:picLocks noChangeAspect="1"/>
          </p:cNvPicPr>
          <p:nvPr/>
        </p:nvPicPr>
        <p:blipFill>
          <a:blip r:embed="rId4"/>
          <a:stretch>
            <a:fillRect/>
          </a:stretch>
        </p:blipFill>
        <p:spPr>
          <a:xfrm>
            <a:off x="828446" y="4431182"/>
            <a:ext cx="263347" cy="263347"/>
          </a:xfrm>
          <a:prstGeom prst="rect">
            <a:avLst/>
          </a:prstGeom>
        </p:spPr>
      </p:pic>
      <p:sp>
        <p:nvSpPr>
          <p:cNvPr id="22" name="Text 16"/>
          <p:cNvSpPr txBox="1"/>
          <p:nvPr/>
        </p:nvSpPr>
        <p:spPr>
          <a:xfrm>
            <a:off x="1417320" y="4270248"/>
            <a:ext cx="411480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Familie Poleschak</a:t>
            </a:r>
            <a:endParaRPr lang="en-US" sz="1500" dirty="0"/>
          </a:p>
        </p:txBody>
      </p:sp>
      <p:sp>
        <p:nvSpPr>
          <p:cNvPr id="23" name="Text 17"/>
          <p:cNvSpPr txBox="1"/>
          <p:nvPr/>
        </p:nvSpPr>
        <p:spPr>
          <a:xfrm>
            <a:off x="1417320" y="4581144"/>
            <a:ext cx="411480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Team, 50 Jahre, Region</a:t>
            </a:r>
            <a:endParaRPr lang="en-US" sz="1200" dirty="0"/>
          </a:p>
        </p:txBody>
      </p:sp>
      <p:sp>
        <p:nvSpPr>
          <p:cNvPr id="24" name="Text 18"/>
          <p:cNvSpPr txBox="1"/>
          <p:nvPr/>
        </p:nvSpPr>
        <p:spPr>
          <a:xfrm>
            <a:off x="5394960" y="4334256"/>
            <a:ext cx="914400" cy="411480"/>
          </a:xfrm>
          <a:prstGeom prst="rect">
            <a:avLst/>
          </a:prstGeom>
          <a:noFill/>
          <a:ln/>
        </p:spPr>
        <p:txBody>
          <a:bodyPr wrap="square" lIns="0" tIns="0" rIns="0" bIns="0" rtlCol="0" anchor="t"/>
          <a:lstStyle/>
          <a:p>
            <a:pPr algn="r" indent="0" marL="0">
              <a:buNone/>
            </a:pPr>
            <a:r>
              <a:rPr lang="en-US" sz="1800" dirty="0">
                <a:solidFill>
                  <a:srgbClr val="EB5A1B"/>
                </a:solidFill>
                <a:latin typeface="Poppins ExtraBold" pitchFamily="34" charset="0"/>
                <a:ea typeface="Poppins ExtraBold" pitchFamily="34" charset="-122"/>
                <a:cs typeface="Poppins ExtraBold" pitchFamily="34" charset="-120"/>
              </a:rPr>
              <a:t>10 %</a:t>
            </a:r>
            <a:endParaRPr lang="en-US" sz="1800" dirty="0"/>
          </a:p>
        </p:txBody>
      </p:sp>
      <p:sp>
        <p:nvSpPr>
          <p:cNvPr id="25" name="Shape 19"/>
          <p:cNvSpPr/>
          <p:nvPr/>
        </p:nvSpPr>
        <p:spPr>
          <a:xfrm>
            <a:off x="685800" y="5093208"/>
            <a:ext cx="548640" cy="548640"/>
          </a:xfrm>
          <a:prstGeom prst="ellipse">
            <a:avLst/>
          </a:prstGeom>
          <a:solidFill>
            <a:srgbClr val="EB5A1B"/>
          </a:solidFill>
          <a:ln w="12700">
            <a:solidFill>
              <a:srgbClr val="EB5A1B"/>
            </a:solidFill>
            <a:prstDash val="solid"/>
          </a:ln>
        </p:spPr>
      </p:sp>
      <p:pic>
        <p:nvPicPr>
          <p:cNvPr id="26" name="Image 4" descr="/tmp/claude-0/-home-user-Marlene/67342075-d45e-5dfd-8246-b97e829a8c42/scratchpad/deck/img/FaStar-w.png">    </p:cNvPr>
          <p:cNvPicPr>
            <a:picLocks noChangeAspect="1"/>
          </p:cNvPicPr>
          <p:nvPr/>
        </p:nvPicPr>
        <p:blipFill>
          <a:blip r:embed="rId5"/>
          <a:stretch>
            <a:fillRect/>
          </a:stretch>
        </p:blipFill>
        <p:spPr>
          <a:xfrm>
            <a:off x="828446" y="5235854"/>
            <a:ext cx="263347" cy="263347"/>
          </a:xfrm>
          <a:prstGeom prst="rect">
            <a:avLst/>
          </a:prstGeom>
        </p:spPr>
      </p:pic>
      <p:sp>
        <p:nvSpPr>
          <p:cNvPr id="27" name="Text 20"/>
          <p:cNvSpPr txBox="1"/>
          <p:nvPr/>
        </p:nvSpPr>
        <p:spPr>
          <a:xfrm>
            <a:off x="1417320" y="5074920"/>
            <a:ext cx="411480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Vertrauen</a:t>
            </a:r>
            <a:endParaRPr lang="en-US" sz="1500" dirty="0"/>
          </a:p>
        </p:txBody>
      </p:sp>
      <p:sp>
        <p:nvSpPr>
          <p:cNvPr id="28" name="Text 21"/>
          <p:cNvSpPr txBox="1"/>
          <p:nvPr/>
        </p:nvSpPr>
        <p:spPr>
          <a:xfrm>
            <a:off x="1417320" y="5385816"/>
            <a:ext cx="411480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Zertifikate, Bewertungen, Referenzen</a:t>
            </a:r>
            <a:endParaRPr lang="en-US" sz="1200" dirty="0"/>
          </a:p>
        </p:txBody>
      </p:sp>
      <p:sp>
        <p:nvSpPr>
          <p:cNvPr id="29" name="Text 22"/>
          <p:cNvSpPr txBox="1"/>
          <p:nvPr/>
        </p:nvSpPr>
        <p:spPr>
          <a:xfrm>
            <a:off x="5394960" y="5138928"/>
            <a:ext cx="914400" cy="411480"/>
          </a:xfrm>
          <a:prstGeom prst="rect">
            <a:avLst/>
          </a:prstGeom>
          <a:noFill/>
          <a:ln/>
        </p:spPr>
        <p:txBody>
          <a:bodyPr wrap="square" lIns="0" tIns="0" rIns="0" bIns="0" rtlCol="0" anchor="t"/>
          <a:lstStyle/>
          <a:p>
            <a:pPr algn="r" indent="0" marL="0">
              <a:buNone/>
            </a:pPr>
            <a:r>
              <a:rPr lang="en-US" sz="1800" dirty="0">
                <a:solidFill>
                  <a:srgbClr val="EB5A1B"/>
                </a:solidFill>
                <a:latin typeface="Poppins ExtraBold" pitchFamily="34" charset="0"/>
                <a:ea typeface="Poppins ExtraBold" pitchFamily="34" charset="-122"/>
                <a:cs typeface="Poppins ExtraBold" pitchFamily="34" charset="-120"/>
              </a:rPr>
              <a:t>5 %</a:t>
            </a:r>
            <a:endParaRPr lang="en-US" sz="1800" dirty="0"/>
          </a:p>
        </p:txBody>
      </p:sp>
      <p:graphicFrame>
        <p:nvGraphicFramePr>
          <p:cNvPr id="30" name="Chart 0" descr=""/>
          <p:cNvGraphicFramePr/>
          <p:nvPr/>
        </p:nvGraphicFramePr>
        <p:xfrm>
          <a:off x="6949440" y="1645920"/>
          <a:ext cx="4480560" cy="4206240"/>
        </p:xfrm>
        <a:graphic xmlns:a="http://schemas.openxmlformats.org/drawingml/2006/main">
          <a:graphicData uri="http://schemas.openxmlformats.org/drawingml/2006/chart">
            <c:chart xmlns:c="http://schemas.openxmlformats.org/drawingml/2006/chart" r:id="rId6"/>
          </a:graphicData>
        </a:graphic>
      </p:graphicFrame>
      <p:pic>
        <p:nvPicPr>
          <p:cNvPr id="31" name="Image 5" descr="/home/user/Marlene/poleschak-social-media/assets/logo-transparent.png">    </p:cNvPr>
          <p:cNvPicPr>
            <a:picLocks noChangeAspect="1"/>
          </p:cNvPicPr>
          <p:nvPr/>
        </p:nvPicPr>
        <p:blipFill>
          <a:blip r:embed="rId7"/>
          <a:stretch>
            <a:fillRect/>
          </a:stretch>
        </p:blipFill>
        <p:spPr>
          <a:xfrm>
            <a:off x="685800" y="6291072"/>
            <a:ext cx="643680" cy="329184"/>
          </a:xfrm>
          <a:prstGeom prst="rect">
            <a:avLst/>
          </a:prstGeom>
        </p:spPr>
      </p:pic>
      <p:sp>
        <p:nvSpPr>
          <p:cNvPr id="32" name="Text 23"/>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10 · FORMATE &amp; RHYTHMUS</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3 Posts pro Woche.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Vorgeplant.</a:t>
            </a:r>
            <a:endParaRPr lang="en-US" sz="3400" dirty="0"/>
          </a:p>
        </p:txBody>
      </p:sp>
      <p:sp>
        <p:nvSpPr>
          <p:cNvPr id="5" name="Text 3"/>
          <p:cNvSpPr txBox="1"/>
          <p:nvPr/>
        </p:nvSpPr>
        <p:spPr>
          <a:xfrm>
            <a:off x="685800" y="1920240"/>
            <a:ext cx="1280160" cy="822960"/>
          </a:xfrm>
          <a:prstGeom prst="rect">
            <a:avLst/>
          </a:prstGeom>
          <a:noFill/>
          <a:ln/>
        </p:spPr>
        <p:txBody>
          <a:bodyPr wrap="square" lIns="0" tIns="0" rIns="0" bIns="0" rtlCol="0" anchor="t"/>
          <a:lstStyle/>
          <a:p>
            <a:pPr indent="0" marL="0">
              <a:buNone/>
            </a:pPr>
            <a:r>
              <a:rPr lang="en-US" sz="4400" dirty="0">
                <a:solidFill>
                  <a:srgbClr val="EB5A1B"/>
                </a:solidFill>
                <a:latin typeface="Poppins ExtraBold" pitchFamily="34" charset="0"/>
                <a:ea typeface="Poppins ExtraBold" pitchFamily="34" charset="-122"/>
                <a:cs typeface="Poppins ExtraBold" pitchFamily="34" charset="-120"/>
              </a:rPr>
              <a:t>4</a:t>
            </a:r>
            <a:endParaRPr lang="en-US" sz="4400" dirty="0"/>
          </a:p>
        </p:txBody>
      </p:sp>
      <p:sp>
        <p:nvSpPr>
          <p:cNvPr id="6" name="Text 4"/>
          <p:cNvSpPr txBox="1"/>
          <p:nvPr/>
        </p:nvSpPr>
        <p:spPr>
          <a:xfrm>
            <a:off x="685800" y="2697480"/>
            <a:ext cx="1280160" cy="274320"/>
          </a:xfrm>
          <a:prstGeom prst="rect">
            <a:avLst/>
          </a:prstGeom>
          <a:noFill/>
          <a:ln/>
        </p:spPr>
        <p:txBody>
          <a:bodyPr wrap="square" lIns="0" tIns="0" rIns="0" bIns="0" rtlCol="0" anchor="t"/>
          <a:lstStyle/>
          <a:p>
            <a:pPr indent="0" marL="0">
              <a:buNone/>
            </a:pPr>
            <a:r>
              <a:rPr lang="en-US" sz="1300" dirty="0">
                <a:solidFill>
                  <a:srgbClr val="111111"/>
                </a:solidFill>
                <a:latin typeface="Poppins SemiBold" pitchFamily="34" charset="0"/>
                <a:ea typeface="Poppins SemiBold" pitchFamily="34" charset="-122"/>
                <a:cs typeface="Poppins SemiBold" pitchFamily="34" charset="-120"/>
              </a:rPr>
              <a:t>Reels</a:t>
            </a:r>
            <a:endParaRPr lang="en-US" sz="1300" dirty="0"/>
          </a:p>
        </p:txBody>
      </p:sp>
      <p:sp>
        <p:nvSpPr>
          <p:cNvPr id="7" name="Text 5"/>
          <p:cNvSpPr txBox="1"/>
          <p:nvPr/>
        </p:nvSpPr>
        <p:spPr>
          <a:xfrm>
            <a:off x="2103120" y="1920240"/>
            <a:ext cx="1280160" cy="822960"/>
          </a:xfrm>
          <a:prstGeom prst="rect">
            <a:avLst/>
          </a:prstGeom>
          <a:noFill/>
          <a:ln/>
        </p:spPr>
        <p:txBody>
          <a:bodyPr wrap="square" lIns="0" tIns="0" rIns="0" bIns="0" rtlCol="0" anchor="t"/>
          <a:lstStyle/>
          <a:p>
            <a:pPr indent="0" marL="0">
              <a:buNone/>
            </a:pPr>
            <a:r>
              <a:rPr lang="en-US" sz="4400" dirty="0">
                <a:solidFill>
                  <a:srgbClr val="EB5A1B"/>
                </a:solidFill>
                <a:latin typeface="Poppins ExtraBold" pitchFamily="34" charset="0"/>
                <a:ea typeface="Poppins ExtraBold" pitchFamily="34" charset="-122"/>
                <a:cs typeface="Poppins ExtraBold" pitchFamily="34" charset="-120"/>
              </a:rPr>
              <a:t>4</a:t>
            </a:r>
            <a:endParaRPr lang="en-US" sz="4400" dirty="0"/>
          </a:p>
        </p:txBody>
      </p:sp>
      <p:sp>
        <p:nvSpPr>
          <p:cNvPr id="8" name="Text 6"/>
          <p:cNvSpPr txBox="1"/>
          <p:nvPr/>
        </p:nvSpPr>
        <p:spPr>
          <a:xfrm>
            <a:off x="2103120" y="2697480"/>
            <a:ext cx="1280160" cy="274320"/>
          </a:xfrm>
          <a:prstGeom prst="rect">
            <a:avLst/>
          </a:prstGeom>
          <a:noFill/>
          <a:ln/>
        </p:spPr>
        <p:txBody>
          <a:bodyPr wrap="square" lIns="0" tIns="0" rIns="0" bIns="0" rtlCol="0" anchor="t"/>
          <a:lstStyle/>
          <a:p>
            <a:pPr indent="0" marL="0">
              <a:buNone/>
            </a:pPr>
            <a:r>
              <a:rPr lang="en-US" sz="1300" dirty="0">
                <a:solidFill>
                  <a:srgbClr val="111111"/>
                </a:solidFill>
                <a:latin typeface="Poppins SemiBold" pitchFamily="34" charset="0"/>
                <a:ea typeface="Poppins SemiBold" pitchFamily="34" charset="-122"/>
                <a:cs typeface="Poppins SemiBold" pitchFamily="34" charset="-120"/>
              </a:rPr>
              <a:t>Karussells</a:t>
            </a:r>
            <a:endParaRPr lang="en-US" sz="1300" dirty="0"/>
          </a:p>
        </p:txBody>
      </p:sp>
      <p:sp>
        <p:nvSpPr>
          <p:cNvPr id="9" name="Text 7"/>
          <p:cNvSpPr txBox="1"/>
          <p:nvPr/>
        </p:nvSpPr>
        <p:spPr>
          <a:xfrm>
            <a:off x="3520440" y="1920240"/>
            <a:ext cx="1280160" cy="822960"/>
          </a:xfrm>
          <a:prstGeom prst="rect">
            <a:avLst/>
          </a:prstGeom>
          <a:noFill/>
          <a:ln/>
        </p:spPr>
        <p:txBody>
          <a:bodyPr wrap="square" lIns="0" tIns="0" rIns="0" bIns="0" rtlCol="0" anchor="t"/>
          <a:lstStyle/>
          <a:p>
            <a:pPr indent="0" marL="0">
              <a:buNone/>
            </a:pPr>
            <a:r>
              <a:rPr lang="en-US" sz="4400" dirty="0">
                <a:solidFill>
                  <a:srgbClr val="EB5A1B"/>
                </a:solidFill>
                <a:latin typeface="Poppins ExtraBold" pitchFamily="34" charset="0"/>
                <a:ea typeface="Poppins ExtraBold" pitchFamily="34" charset="-122"/>
                <a:cs typeface="Poppins ExtraBold" pitchFamily="34" charset="-120"/>
              </a:rPr>
              <a:t>4</a:t>
            </a:r>
            <a:endParaRPr lang="en-US" sz="4400" dirty="0"/>
          </a:p>
        </p:txBody>
      </p:sp>
      <p:sp>
        <p:nvSpPr>
          <p:cNvPr id="10" name="Text 8"/>
          <p:cNvSpPr txBox="1"/>
          <p:nvPr/>
        </p:nvSpPr>
        <p:spPr>
          <a:xfrm>
            <a:off x="3520440" y="2697480"/>
            <a:ext cx="1280160" cy="274320"/>
          </a:xfrm>
          <a:prstGeom prst="rect">
            <a:avLst/>
          </a:prstGeom>
          <a:noFill/>
          <a:ln/>
        </p:spPr>
        <p:txBody>
          <a:bodyPr wrap="square" lIns="0" tIns="0" rIns="0" bIns="0" rtlCol="0" anchor="t"/>
          <a:lstStyle/>
          <a:p>
            <a:pPr indent="0" marL="0">
              <a:buNone/>
            </a:pPr>
            <a:r>
              <a:rPr lang="en-US" sz="1300" dirty="0">
                <a:solidFill>
                  <a:srgbClr val="111111"/>
                </a:solidFill>
                <a:latin typeface="Poppins SemiBold" pitchFamily="34" charset="0"/>
                <a:ea typeface="Poppins SemiBold" pitchFamily="34" charset="-122"/>
                <a:cs typeface="Poppins SemiBold" pitchFamily="34" charset="-120"/>
              </a:rPr>
              <a:t>Bild-Posts</a:t>
            </a:r>
            <a:endParaRPr lang="en-US" sz="1300" dirty="0"/>
          </a:p>
        </p:txBody>
      </p:sp>
      <p:sp>
        <p:nvSpPr>
          <p:cNvPr id="11" name="Text 9"/>
          <p:cNvSpPr txBox="1"/>
          <p:nvPr/>
        </p:nvSpPr>
        <p:spPr>
          <a:xfrm>
            <a:off x="4937760" y="1920240"/>
            <a:ext cx="1280160" cy="822960"/>
          </a:xfrm>
          <a:prstGeom prst="rect">
            <a:avLst/>
          </a:prstGeom>
          <a:noFill/>
          <a:ln/>
        </p:spPr>
        <p:txBody>
          <a:bodyPr wrap="square" lIns="0" tIns="0" rIns="0" bIns="0" rtlCol="0" anchor="t"/>
          <a:lstStyle/>
          <a:p>
            <a:pPr indent="0" marL="0">
              <a:buNone/>
            </a:pPr>
            <a:r>
              <a:rPr lang="en-US" sz="4400" dirty="0">
                <a:solidFill>
                  <a:srgbClr val="EB5A1B"/>
                </a:solidFill>
                <a:latin typeface="Poppins ExtraBold" pitchFamily="34" charset="0"/>
                <a:ea typeface="Poppins ExtraBold" pitchFamily="34" charset="-122"/>
                <a:cs typeface="Poppins ExtraBold" pitchFamily="34" charset="-120"/>
              </a:rPr>
              <a:t>13</a:t>
            </a:r>
            <a:endParaRPr lang="en-US" sz="4400" dirty="0"/>
          </a:p>
        </p:txBody>
      </p:sp>
      <p:sp>
        <p:nvSpPr>
          <p:cNvPr id="12" name="Text 10"/>
          <p:cNvSpPr txBox="1"/>
          <p:nvPr/>
        </p:nvSpPr>
        <p:spPr>
          <a:xfrm>
            <a:off x="4937760" y="2697480"/>
            <a:ext cx="1280160" cy="274320"/>
          </a:xfrm>
          <a:prstGeom prst="rect">
            <a:avLst/>
          </a:prstGeom>
          <a:noFill/>
          <a:ln/>
        </p:spPr>
        <p:txBody>
          <a:bodyPr wrap="square" lIns="0" tIns="0" rIns="0" bIns="0" rtlCol="0" anchor="t"/>
          <a:lstStyle/>
          <a:p>
            <a:pPr indent="0" marL="0">
              <a:buNone/>
            </a:pPr>
            <a:r>
              <a:rPr lang="en-US" sz="1300" dirty="0">
                <a:solidFill>
                  <a:srgbClr val="111111"/>
                </a:solidFill>
                <a:latin typeface="Poppins SemiBold" pitchFamily="34" charset="0"/>
                <a:ea typeface="Poppins SemiBold" pitchFamily="34" charset="-122"/>
                <a:cs typeface="Poppins SemiBold" pitchFamily="34" charset="-120"/>
              </a:rPr>
              <a:t>Story-Tage</a:t>
            </a:r>
            <a:endParaRPr lang="en-US" sz="1300" dirty="0"/>
          </a:p>
        </p:txBody>
      </p:sp>
      <p:sp>
        <p:nvSpPr>
          <p:cNvPr id="13" name="Text 11"/>
          <p:cNvSpPr txBox="1"/>
          <p:nvPr/>
        </p:nvSpPr>
        <p:spPr>
          <a:xfrm>
            <a:off x="685800" y="3017520"/>
            <a:ext cx="2743200" cy="27432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pro Monat</a:t>
            </a:r>
            <a:endParaRPr lang="en-US" sz="1200" dirty="0"/>
          </a:p>
        </p:txBody>
      </p:sp>
      <p:sp>
        <p:nvSpPr>
          <p:cNvPr id="14" name="Shape 12"/>
          <p:cNvSpPr/>
          <p:nvPr/>
        </p:nvSpPr>
        <p:spPr>
          <a:xfrm>
            <a:off x="685800" y="3703320"/>
            <a:ext cx="1417320" cy="1417320"/>
          </a:xfrm>
          <a:prstGeom prst="roundRect">
            <a:avLst>
              <a:gd name="adj" fmla="val 7742"/>
            </a:avLst>
          </a:prstGeom>
          <a:solidFill>
            <a:srgbClr val="F4F4F4"/>
          </a:solidFill>
          <a:ln w="12700">
            <a:solidFill>
              <a:srgbClr val="F4F4F4"/>
            </a:solidFill>
            <a:prstDash val="solid"/>
          </a:ln>
        </p:spPr>
      </p:sp>
      <p:sp>
        <p:nvSpPr>
          <p:cNvPr id="15" name="Text 13"/>
          <p:cNvSpPr txBox="1"/>
          <p:nvPr/>
        </p:nvSpPr>
        <p:spPr>
          <a:xfrm>
            <a:off x="685800" y="3840480"/>
            <a:ext cx="1417320" cy="411480"/>
          </a:xfrm>
          <a:prstGeom prst="rect">
            <a:avLst/>
          </a:prstGeom>
          <a:noFill/>
          <a:ln/>
        </p:spPr>
        <p:txBody>
          <a:bodyPr wrap="square" lIns="0" tIns="0" rIns="0" bIns="0" rtlCol="0" anchor="t"/>
          <a:lstStyle/>
          <a:p>
            <a:pPr algn="ctr" indent="0" marL="0">
              <a:buNone/>
            </a:pPr>
            <a:r>
              <a:rPr lang="en-US" sz="2000" dirty="0">
                <a:solidFill>
                  <a:srgbClr val="111111"/>
                </a:solidFill>
                <a:latin typeface="Poppins ExtraBold" pitchFamily="34" charset="0"/>
                <a:ea typeface="Poppins ExtraBold" pitchFamily="34" charset="-122"/>
                <a:cs typeface="Poppins ExtraBold" pitchFamily="34" charset="-120"/>
              </a:rPr>
              <a:t>Mo</a:t>
            </a:r>
            <a:endParaRPr lang="en-US" sz="2000" dirty="0"/>
          </a:p>
        </p:txBody>
      </p:sp>
      <p:sp>
        <p:nvSpPr>
          <p:cNvPr id="16" name="Text 14"/>
          <p:cNvSpPr txBox="1"/>
          <p:nvPr/>
        </p:nvSpPr>
        <p:spPr>
          <a:xfrm>
            <a:off x="685800" y="4480560"/>
            <a:ext cx="1417320" cy="320040"/>
          </a:xfrm>
          <a:prstGeom prst="rect">
            <a:avLst/>
          </a:prstGeom>
          <a:noFill/>
          <a:ln/>
        </p:spPr>
        <p:txBody>
          <a:bodyPr wrap="square" lIns="0" tIns="0" rIns="0" bIns="0" rtlCol="0" anchor="t"/>
          <a:lstStyle/>
          <a:p>
            <a:pPr algn="ctr" indent="0" marL="0">
              <a:buNone/>
            </a:pPr>
            <a:r>
              <a:rPr lang="en-US" sz="1200" dirty="0">
                <a:solidFill>
                  <a:srgbClr val="545559"/>
                </a:solidFill>
                <a:latin typeface="Poppins SemiBold" pitchFamily="34" charset="0"/>
                <a:ea typeface="Poppins SemiBold" pitchFamily="34" charset="-122"/>
                <a:cs typeface="Poppins SemiBold" pitchFamily="34" charset="-120"/>
              </a:rPr>
              <a:t>Story</a:t>
            </a:r>
            <a:endParaRPr lang="en-US" sz="1200" dirty="0"/>
          </a:p>
        </p:txBody>
      </p:sp>
      <p:sp>
        <p:nvSpPr>
          <p:cNvPr id="17" name="Shape 15"/>
          <p:cNvSpPr/>
          <p:nvPr/>
        </p:nvSpPr>
        <p:spPr>
          <a:xfrm>
            <a:off x="2240280" y="3703320"/>
            <a:ext cx="1417320" cy="1417320"/>
          </a:xfrm>
          <a:prstGeom prst="roundRect">
            <a:avLst>
              <a:gd name="adj" fmla="val 7742"/>
            </a:avLst>
          </a:prstGeom>
          <a:solidFill>
            <a:srgbClr val="111111"/>
          </a:solidFill>
          <a:ln w="12700">
            <a:solidFill>
              <a:srgbClr val="111111"/>
            </a:solidFill>
            <a:prstDash val="solid"/>
          </a:ln>
        </p:spPr>
      </p:sp>
      <p:sp>
        <p:nvSpPr>
          <p:cNvPr id="18" name="Text 16"/>
          <p:cNvSpPr txBox="1"/>
          <p:nvPr/>
        </p:nvSpPr>
        <p:spPr>
          <a:xfrm>
            <a:off x="2240280" y="3840480"/>
            <a:ext cx="1417320" cy="411480"/>
          </a:xfrm>
          <a:prstGeom prst="rect">
            <a:avLst/>
          </a:prstGeom>
          <a:noFill/>
          <a:ln/>
        </p:spPr>
        <p:txBody>
          <a:bodyPr wrap="square" lIns="0" tIns="0" rIns="0" bIns="0" rtlCol="0" anchor="t"/>
          <a:lstStyle/>
          <a:p>
            <a:pPr algn="ctr" indent="0" marL="0">
              <a:buNone/>
            </a:pPr>
            <a:r>
              <a:rPr lang="en-US" sz="2000" dirty="0">
                <a:solidFill>
                  <a:srgbClr val="FFFFFF"/>
                </a:solidFill>
                <a:latin typeface="Poppins ExtraBold" pitchFamily="34" charset="0"/>
                <a:ea typeface="Poppins ExtraBold" pitchFamily="34" charset="-122"/>
                <a:cs typeface="Poppins ExtraBold" pitchFamily="34" charset="-120"/>
              </a:rPr>
              <a:t>Di</a:t>
            </a:r>
            <a:endParaRPr lang="en-US" sz="2000" dirty="0"/>
          </a:p>
        </p:txBody>
      </p:sp>
      <p:sp>
        <p:nvSpPr>
          <p:cNvPr id="19" name="Text 17"/>
          <p:cNvSpPr txBox="1"/>
          <p:nvPr/>
        </p:nvSpPr>
        <p:spPr>
          <a:xfrm>
            <a:off x="2240280" y="4480560"/>
            <a:ext cx="1417320" cy="320040"/>
          </a:xfrm>
          <a:prstGeom prst="rect">
            <a:avLst/>
          </a:prstGeom>
          <a:noFill/>
          <a:ln/>
        </p:spPr>
        <p:txBody>
          <a:bodyPr wrap="square" lIns="0" tIns="0" rIns="0" bIns="0" rtlCol="0" anchor="t"/>
          <a:lstStyle/>
          <a:p>
            <a:pPr algn="ctr" indent="0" marL="0">
              <a:buNone/>
            </a:pPr>
            <a:r>
              <a:rPr lang="en-US" sz="1200" dirty="0">
                <a:solidFill>
                  <a:srgbClr val="EB5A1B"/>
                </a:solidFill>
                <a:latin typeface="Poppins SemiBold" pitchFamily="34" charset="0"/>
                <a:ea typeface="Poppins SemiBold" pitchFamily="34" charset="-122"/>
                <a:cs typeface="Poppins SemiBold" pitchFamily="34" charset="-120"/>
              </a:rPr>
              <a:t>Reel</a:t>
            </a:r>
            <a:endParaRPr lang="en-US" sz="1200" dirty="0"/>
          </a:p>
        </p:txBody>
      </p:sp>
      <p:sp>
        <p:nvSpPr>
          <p:cNvPr id="20" name="Shape 18"/>
          <p:cNvSpPr/>
          <p:nvPr/>
        </p:nvSpPr>
        <p:spPr>
          <a:xfrm>
            <a:off x="3794760" y="3703320"/>
            <a:ext cx="1417320" cy="1417320"/>
          </a:xfrm>
          <a:prstGeom prst="roundRect">
            <a:avLst>
              <a:gd name="adj" fmla="val 7742"/>
            </a:avLst>
          </a:prstGeom>
          <a:solidFill>
            <a:srgbClr val="F4F4F4"/>
          </a:solidFill>
          <a:ln w="12700">
            <a:solidFill>
              <a:srgbClr val="F4F4F4"/>
            </a:solidFill>
            <a:prstDash val="solid"/>
          </a:ln>
        </p:spPr>
      </p:sp>
      <p:sp>
        <p:nvSpPr>
          <p:cNvPr id="21" name="Text 19"/>
          <p:cNvSpPr txBox="1"/>
          <p:nvPr/>
        </p:nvSpPr>
        <p:spPr>
          <a:xfrm>
            <a:off x="3794760" y="3840480"/>
            <a:ext cx="1417320" cy="411480"/>
          </a:xfrm>
          <a:prstGeom prst="rect">
            <a:avLst/>
          </a:prstGeom>
          <a:noFill/>
          <a:ln/>
        </p:spPr>
        <p:txBody>
          <a:bodyPr wrap="square" lIns="0" tIns="0" rIns="0" bIns="0" rtlCol="0" anchor="t"/>
          <a:lstStyle/>
          <a:p>
            <a:pPr algn="ctr" indent="0" marL="0">
              <a:buNone/>
            </a:pPr>
            <a:r>
              <a:rPr lang="en-US" sz="2000" dirty="0">
                <a:solidFill>
                  <a:srgbClr val="111111"/>
                </a:solidFill>
                <a:latin typeface="Poppins ExtraBold" pitchFamily="34" charset="0"/>
                <a:ea typeface="Poppins ExtraBold" pitchFamily="34" charset="-122"/>
                <a:cs typeface="Poppins ExtraBold" pitchFamily="34" charset="-120"/>
              </a:rPr>
              <a:t>Mi</a:t>
            </a:r>
            <a:endParaRPr lang="en-US" sz="2000" dirty="0"/>
          </a:p>
        </p:txBody>
      </p:sp>
      <p:sp>
        <p:nvSpPr>
          <p:cNvPr id="22" name="Text 20"/>
          <p:cNvSpPr txBox="1"/>
          <p:nvPr/>
        </p:nvSpPr>
        <p:spPr>
          <a:xfrm>
            <a:off x="3794760" y="4480560"/>
            <a:ext cx="1417320" cy="320040"/>
          </a:xfrm>
          <a:prstGeom prst="rect">
            <a:avLst/>
          </a:prstGeom>
          <a:noFill/>
          <a:ln/>
        </p:spPr>
        <p:txBody>
          <a:bodyPr wrap="square" lIns="0" tIns="0" rIns="0" bIns="0" rtlCol="0" anchor="t"/>
          <a:lstStyle/>
          <a:p>
            <a:pPr algn="ctr" indent="0" marL="0">
              <a:buNone/>
            </a:pPr>
            <a:r>
              <a:rPr lang="en-US" sz="1200" dirty="0">
                <a:solidFill>
                  <a:srgbClr val="545559"/>
                </a:solidFill>
                <a:latin typeface="Poppins SemiBold" pitchFamily="34" charset="0"/>
                <a:ea typeface="Poppins SemiBold" pitchFamily="34" charset="-122"/>
                <a:cs typeface="Poppins SemiBold" pitchFamily="34" charset="-120"/>
              </a:rPr>
              <a:t>Story</a:t>
            </a:r>
            <a:endParaRPr lang="en-US" sz="1200" dirty="0"/>
          </a:p>
        </p:txBody>
      </p:sp>
      <p:sp>
        <p:nvSpPr>
          <p:cNvPr id="23" name="Shape 21"/>
          <p:cNvSpPr/>
          <p:nvPr/>
        </p:nvSpPr>
        <p:spPr>
          <a:xfrm>
            <a:off x="5349240" y="3703320"/>
            <a:ext cx="1417320" cy="1417320"/>
          </a:xfrm>
          <a:prstGeom prst="roundRect">
            <a:avLst>
              <a:gd name="adj" fmla="val 7742"/>
            </a:avLst>
          </a:prstGeom>
          <a:solidFill>
            <a:srgbClr val="111111"/>
          </a:solidFill>
          <a:ln w="12700">
            <a:solidFill>
              <a:srgbClr val="111111"/>
            </a:solidFill>
            <a:prstDash val="solid"/>
          </a:ln>
        </p:spPr>
      </p:sp>
      <p:sp>
        <p:nvSpPr>
          <p:cNvPr id="24" name="Text 22"/>
          <p:cNvSpPr txBox="1"/>
          <p:nvPr/>
        </p:nvSpPr>
        <p:spPr>
          <a:xfrm>
            <a:off x="5349240" y="3840480"/>
            <a:ext cx="1417320" cy="411480"/>
          </a:xfrm>
          <a:prstGeom prst="rect">
            <a:avLst/>
          </a:prstGeom>
          <a:noFill/>
          <a:ln/>
        </p:spPr>
        <p:txBody>
          <a:bodyPr wrap="square" lIns="0" tIns="0" rIns="0" bIns="0" rtlCol="0" anchor="t"/>
          <a:lstStyle/>
          <a:p>
            <a:pPr algn="ctr" indent="0" marL="0">
              <a:buNone/>
            </a:pPr>
            <a:r>
              <a:rPr lang="en-US" sz="2000" dirty="0">
                <a:solidFill>
                  <a:srgbClr val="FFFFFF"/>
                </a:solidFill>
                <a:latin typeface="Poppins ExtraBold" pitchFamily="34" charset="0"/>
                <a:ea typeface="Poppins ExtraBold" pitchFamily="34" charset="-122"/>
                <a:cs typeface="Poppins ExtraBold" pitchFamily="34" charset="-120"/>
              </a:rPr>
              <a:t>Do</a:t>
            </a:r>
            <a:endParaRPr lang="en-US" sz="2000" dirty="0"/>
          </a:p>
        </p:txBody>
      </p:sp>
      <p:sp>
        <p:nvSpPr>
          <p:cNvPr id="25" name="Text 23"/>
          <p:cNvSpPr txBox="1"/>
          <p:nvPr/>
        </p:nvSpPr>
        <p:spPr>
          <a:xfrm>
            <a:off x="5349240" y="4480560"/>
            <a:ext cx="1417320" cy="320040"/>
          </a:xfrm>
          <a:prstGeom prst="rect">
            <a:avLst/>
          </a:prstGeom>
          <a:noFill/>
          <a:ln/>
        </p:spPr>
        <p:txBody>
          <a:bodyPr wrap="square" lIns="0" tIns="0" rIns="0" bIns="0" rtlCol="0" anchor="t"/>
          <a:lstStyle/>
          <a:p>
            <a:pPr algn="ctr" indent="0" marL="0">
              <a:buNone/>
            </a:pPr>
            <a:r>
              <a:rPr lang="en-US" sz="1200" dirty="0">
                <a:solidFill>
                  <a:srgbClr val="EB5A1B"/>
                </a:solidFill>
                <a:latin typeface="Poppins SemiBold" pitchFamily="34" charset="0"/>
                <a:ea typeface="Poppins SemiBold" pitchFamily="34" charset="-122"/>
                <a:cs typeface="Poppins SemiBold" pitchFamily="34" charset="-120"/>
              </a:rPr>
              <a:t>Karussell</a:t>
            </a:r>
            <a:endParaRPr lang="en-US" sz="1200" dirty="0"/>
          </a:p>
        </p:txBody>
      </p:sp>
      <p:sp>
        <p:nvSpPr>
          <p:cNvPr id="26" name="Shape 24"/>
          <p:cNvSpPr/>
          <p:nvPr/>
        </p:nvSpPr>
        <p:spPr>
          <a:xfrm>
            <a:off x="6903720" y="3703320"/>
            <a:ext cx="1417320" cy="1417320"/>
          </a:xfrm>
          <a:prstGeom prst="roundRect">
            <a:avLst>
              <a:gd name="adj" fmla="val 7742"/>
            </a:avLst>
          </a:prstGeom>
          <a:solidFill>
            <a:srgbClr val="F4F4F4"/>
          </a:solidFill>
          <a:ln w="12700">
            <a:solidFill>
              <a:srgbClr val="F4F4F4"/>
            </a:solidFill>
            <a:prstDash val="solid"/>
          </a:ln>
        </p:spPr>
      </p:sp>
      <p:sp>
        <p:nvSpPr>
          <p:cNvPr id="27" name="Text 25"/>
          <p:cNvSpPr txBox="1"/>
          <p:nvPr/>
        </p:nvSpPr>
        <p:spPr>
          <a:xfrm>
            <a:off x="6903720" y="3840480"/>
            <a:ext cx="1417320" cy="411480"/>
          </a:xfrm>
          <a:prstGeom prst="rect">
            <a:avLst/>
          </a:prstGeom>
          <a:noFill/>
          <a:ln/>
        </p:spPr>
        <p:txBody>
          <a:bodyPr wrap="square" lIns="0" tIns="0" rIns="0" bIns="0" rtlCol="0" anchor="t"/>
          <a:lstStyle/>
          <a:p>
            <a:pPr algn="ctr" indent="0" marL="0">
              <a:buNone/>
            </a:pPr>
            <a:r>
              <a:rPr lang="en-US" sz="2000" dirty="0">
                <a:solidFill>
                  <a:srgbClr val="111111"/>
                </a:solidFill>
                <a:latin typeface="Poppins ExtraBold" pitchFamily="34" charset="0"/>
                <a:ea typeface="Poppins ExtraBold" pitchFamily="34" charset="-122"/>
                <a:cs typeface="Poppins ExtraBold" pitchFamily="34" charset="-120"/>
              </a:rPr>
              <a:t>Fr</a:t>
            </a:r>
            <a:endParaRPr lang="en-US" sz="2000" dirty="0"/>
          </a:p>
        </p:txBody>
      </p:sp>
      <p:sp>
        <p:nvSpPr>
          <p:cNvPr id="28" name="Text 26"/>
          <p:cNvSpPr txBox="1"/>
          <p:nvPr/>
        </p:nvSpPr>
        <p:spPr>
          <a:xfrm>
            <a:off x="6903720" y="4480560"/>
            <a:ext cx="1417320" cy="320040"/>
          </a:xfrm>
          <a:prstGeom prst="rect">
            <a:avLst/>
          </a:prstGeom>
          <a:noFill/>
          <a:ln/>
        </p:spPr>
        <p:txBody>
          <a:bodyPr wrap="square" lIns="0" tIns="0" rIns="0" bIns="0" rtlCol="0" anchor="t"/>
          <a:lstStyle/>
          <a:p>
            <a:pPr algn="ctr" indent="0" marL="0">
              <a:buNone/>
            </a:pPr>
            <a:r>
              <a:rPr lang="en-US" sz="1200" dirty="0">
                <a:solidFill>
                  <a:srgbClr val="545559"/>
                </a:solidFill>
                <a:latin typeface="Poppins SemiBold" pitchFamily="34" charset="0"/>
                <a:ea typeface="Poppins SemiBold" pitchFamily="34" charset="-122"/>
                <a:cs typeface="Poppins SemiBold" pitchFamily="34" charset="-120"/>
              </a:rPr>
              <a:t>Story</a:t>
            </a:r>
            <a:endParaRPr lang="en-US" sz="1200" dirty="0"/>
          </a:p>
        </p:txBody>
      </p:sp>
      <p:sp>
        <p:nvSpPr>
          <p:cNvPr id="29" name="Shape 27"/>
          <p:cNvSpPr/>
          <p:nvPr/>
        </p:nvSpPr>
        <p:spPr>
          <a:xfrm>
            <a:off x="8458200" y="3703320"/>
            <a:ext cx="1417320" cy="1417320"/>
          </a:xfrm>
          <a:prstGeom prst="roundRect">
            <a:avLst>
              <a:gd name="adj" fmla="val 7742"/>
            </a:avLst>
          </a:prstGeom>
          <a:solidFill>
            <a:srgbClr val="FAFAFA"/>
          </a:solidFill>
          <a:ln w="12700">
            <a:solidFill>
              <a:srgbClr val="FAFAFA"/>
            </a:solidFill>
            <a:prstDash val="solid"/>
          </a:ln>
        </p:spPr>
      </p:sp>
      <p:sp>
        <p:nvSpPr>
          <p:cNvPr id="30" name="Text 28"/>
          <p:cNvSpPr txBox="1"/>
          <p:nvPr/>
        </p:nvSpPr>
        <p:spPr>
          <a:xfrm>
            <a:off x="8458200" y="3840480"/>
            <a:ext cx="1417320" cy="411480"/>
          </a:xfrm>
          <a:prstGeom prst="rect">
            <a:avLst/>
          </a:prstGeom>
          <a:noFill/>
          <a:ln/>
        </p:spPr>
        <p:txBody>
          <a:bodyPr wrap="square" lIns="0" tIns="0" rIns="0" bIns="0" rtlCol="0" anchor="t"/>
          <a:lstStyle/>
          <a:p>
            <a:pPr algn="ctr" indent="0" marL="0">
              <a:buNone/>
            </a:pPr>
            <a:r>
              <a:rPr lang="en-US" sz="2000" dirty="0">
                <a:solidFill>
                  <a:srgbClr val="111111"/>
                </a:solidFill>
                <a:latin typeface="Poppins ExtraBold" pitchFamily="34" charset="0"/>
                <a:ea typeface="Poppins ExtraBold" pitchFamily="34" charset="-122"/>
                <a:cs typeface="Poppins ExtraBold" pitchFamily="34" charset="-120"/>
              </a:rPr>
              <a:t>Sa</a:t>
            </a:r>
            <a:endParaRPr lang="en-US" sz="2000" dirty="0"/>
          </a:p>
        </p:txBody>
      </p:sp>
      <p:sp>
        <p:nvSpPr>
          <p:cNvPr id="31" name="Shape 29"/>
          <p:cNvSpPr/>
          <p:nvPr/>
        </p:nvSpPr>
        <p:spPr>
          <a:xfrm>
            <a:off x="10012680" y="3703320"/>
            <a:ext cx="1417320" cy="1417320"/>
          </a:xfrm>
          <a:prstGeom prst="roundRect">
            <a:avLst>
              <a:gd name="adj" fmla="val 7742"/>
            </a:avLst>
          </a:prstGeom>
          <a:solidFill>
            <a:srgbClr val="111111"/>
          </a:solidFill>
          <a:ln w="12700">
            <a:solidFill>
              <a:srgbClr val="111111"/>
            </a:solidFill>
            <a:prstDash val="solid"/>
          </a:ln>
        </p:spPr>
      </p:sp>
      <p:sp>
        <p:nvSpPr>
          <p:cNvPr id="32" name="Text 30"/>
          <p:cNvSpPr txBox="1"/>
          <p:nvPr/>
        </p:nvSpPr>
        <p:spPr>
          <a:xfrm>
            <a:off x="10012680" y="3840480"/>
            <a:ext cx="1417320" cy="411480"/>
          </a:xfrm>
          <a:prstGeom prst="rect">
            <a:avLst/>
          </a:prstGeom>
          <a:noFill/>
          <a:ln/>
        </p:spPr>
        <p:txBody>
          <a:bodyPr wrap="square" lIns="0" tIns="0" rIns="0" bIns="0" rtlCol="0" anchor="t"/>
          <a:lstStyle/>
          <a:p>
            <a:pPr algn="ctr" indent="0" marL="0">
              <a:buNone/>
            </a:pPr>
            <a:r>
              <a:rPr lang="en-US" sz="2000" dirty="0">
                <a:solidFill>
                  <a:srgbClr val="FFFFFF"/>
                </a:solidFill>
                <a:latin typeface="Poppins ExtraBold" pitchFamily="34" charset="0"/>
                <a:ea typeface="Poppins ExtraBold" pitchFamily="34" charset="-122"/>
                <a:cs typeface="Poppins ExtraBold" pitchFamily="34" charset="-120"/>
              </a:rPr>
              <a:t>So</a:t>
            </a:r>
            <a:endParaRPr lang="en-US" sz="2000" dirty="0"/>
          </a:p>
        </p:txBody>
      </p:sp>
      <p:sp>
        <p:nvSpPr>
          <p:cNvPr id="33" name="Text 31"/>
          <p:cNvSpPr txBox="1"/>
          <p:nvPr/>
        </p:nvSpPr>
        <p:spPr>
          <a:xfrm>
            <a:off x="10012680" y="4480560"/>
            <a:ext cx="1417320" cy="320040"/>
          </a:xfrm>
          <a:prstGeom prst="rect">
            <a:avLst/>
          </a:prstGeom>
          <a:noFill/>
          <a:ln/>
        </p:spPr>
        <p:txBody>
          <a:bodyPr wrap="square" lIns="0" tIns="0" rIns="0" bIns="0" rtlCol="0" anchor="t"/>
          <a:lstStyle/>
          <a:p>
            <a:pPr algn="ctr" indent="0" marL="0">
              <a:buNone/>
            </a:pPr>
            <a:r>
              <a:rPr lang="en-US" sz="1200" dirty="0">
                <a:solidFill>
                  <a:srgbClr val="EB5A1B"/>
                </a:solidFill>
                <a:latin typeface="Poppins SemiBold" pitchFamily="34" charset="0"/>
                <a:ea typeface="Poppins SemiBold" pitchFamily="34" charset="-122"/>
                <a:cs typeface="Poppins SemiBold" pitchFamily="34" charset="-120"/>
              </a:rPr>
              <a:t>Bild-Post</a:t>
            </a:r>
            <a:endParaRPr lang="en-US" sz="1200" dirty="0"/>
          </a:p>
        </p:txBody>
      </p:sp>
      <p:sp>
        <p:nvSpPr>
          <p:cNvPr id="34" name="Shape 32"/>
          <p:cNvSpPr/>
          <p:nvPr/>
        </p:nvSpPr>
        <p:spPr>
          <a:xfrm>
            <a:off x="6492240" y="1944370"/>
            <a:ext cx="91440" cy="91440"/>
          </a:xfrm>
          <a:prstGeom prst="ellipse">
            <a:avLst/>
          </a:prstGeom>
          <a:solidFill>
            <a:srgbClr val="EB5A1B"/>
          </a:solidFill>
          <a:ln w="12700">
            <a:solidFill>
              <a:srgbClr val="EB5A1B"/>
            </a:solidFill>
            <a:prstDash val="solid"/>
          </a:ln>
        </p:spPr>
      </p:sp>
      <p:sp>
        <p:nvSpPr>
          <p:cNvPr id="35" name="Text 33"/>
          <p:cNvSpPr txBox="1"/>
          <p:nvPr/>
        </p:nvSpPr>
        <p:spPr>
          <a:xfrm>
            <a:off x="6720840" y="1874520"/>
            <a:ext cx="4800600" cy="498856"/>
          </a:xfrm>
          <a:prstGeom prst="rect">
            <a:avLst/>
          </a:prstGeom>
          <a:noFill/>
          <a:ln/>
        </p:spPr>
        <p:txBody>
          <a:bodyPr wrap="square" lIns="0" tIns="0" rIns="0" bIns="0" rtlCol="0" anchor="t"/>
          <a:lstStyle/>
          <a:p>
            <a:pPr indent="0" marL="0">
              <a:buNone/>
            </a:pPr>
            <a:r>
              <a:rPr lang="en-US" sz="1300" b="1" dirty="0">
                <a:solidFill>
                  <a:srgbClr val="222222"/>
                </a:solidFill>
                <a:latin typeface="Poppins" pitchFamily="34" charset="0"/>
                <a:ea typeface="Poppins" pitchFamily="34" charset="-122"/>
                <a:cs typeface="Poppins" pitchFamily="34" charset="-120"/>
              </a:rPr>
              <a:t>18–20 Uhr</a:t>
            </a:r>
            <a:pPr indent="0" marL="0">
              <a:buNone/>
            </a:pPr>
            <a:r>
              <a:rPr lang="en-US" sz="1300" dirty="0">
                <a:solidFill>
                  <a:srgbClr val="222222"/>
                </a:solidFill>
                <a:latin typeface="Poppins" pitchFamily="34" charset="0"/>
                <a:ea typeface="Poppins" pitchFamily="34" charset="-122"/>
                <a:cs typeface="Poppins" pitchFamily="34" charset="-120"/>
              </a:rPr>
              <a:t> zum Start, nach 4 Wochen anhand der Insights nachjustieren</a:t>
            </a:r>
            <a:endParaRPr lang="en-US" sz="1300" dirty="0"/>
          </a:p>
        </p:txBody>
      </p:sp>
      <p:sp>
        <p:nvSpPr>
          <p:cNvPr id="36" name="Shape 34"/>
          <p:cNvSpPr/>
          <p:nvPr/>
        </p:nvSpPr>
        <p:spPr>
          <a:xfrm>
            <a:off x="6492240" y="2552954"/>
            <a:ext cx="91440" cy="91440"/>
          </a:xfrm>
          <a:prstGeom prst="ellipse">
            <a:avLst/>
          </a:prstGeom>
          <a:solidFill>
            <a:srgbClr val="EB5A1B"/>
          </a:solidFill>
          <a:ln w="12700">
            <a:solidFill>
              <a:srgbClr val="EB5A1B"/>
            </a:solidFill>
            <a:prstDash val="solid"/>
          </a:ln>
        </p:spPr>
      </p:sp>
      <p:sp>
        <p:nvSpPr>
          <p:cNvPr id="37" name="Text 35"/>
          <p:cNvSpPr txBox="1"/>
          <p:nvPr/>
        </p:nvSpPr>
        <p:spPr>
          <a:xfrm>
            <a:off x="6720840" y="2483104"/>
            <a:ext cx="4800600" cy="498856"/>
          </a:xfrm>
          <a:prstGeom prst="rect">
            <a:avLst/>
          </a:prstGeom>
          <a:noFill/>
          <a:ln/>
        </p:spPr>
        <p:txBody>
          <a:bodyPr wrap="square" lIns="0" tIns="0" rIns="0" bIns="0" rtlCol="0" anchor="t"/>
          <a:lstStyle/>
          <a:p>
            <a:pPr indent="0" marL="0">
              <a:buNone/>
            </a:pPr>
            <a:r>
              <a:rPr lang="en-US" sz="1300" b="1" dirty="0">
                <a:solidFill>
                  <a:srgbClr val="222222"/>
                </a:solidFill>
                <a:latin typeface="Poppins" pitchFamily="34" charset="0"/>
                <a:ea typeface="Poppins" pitchFamily="34" charset="-122"/>
                <a:cs typeface="Poppins" pitchFamily="34" charset="-120"/>
              </a:rPr>
              <a:t>Meta Business Suite</a:t>
            </a:r>
            <a:pPr indent="0" marL="0">
              <a:buNone/>
            </a:pPr>
            <a:r>
              <a:rPr lang="en-US" sz="1300" dirty="0">
                <a:solidFill>
                  <a:srgbClr val="222222"/>
                </a:solidFill>
                <a:latin typeface="Poppins" pitchFamily="34" charset="0"/>
                <a:ea typeface="Poppins" pitchFamily="34" charset="-122"/>
                <a:cs typeface="Poppins" pitchFamily="34" charset="-120"/>
              </a:rPr>
              <a:t> (kostenlos): alles vorgeplant, passt zum Nachtdienst</a:t>
            </a:r>
            <a:endParaRPr lang="en-US" sz="1300" dirty="0"/>
          </a:p>
        </p:txBody>
      </p:sp>
      <p:sp>
        <p:nvSpPr>
          <p:cNvPr id="38" name="Shape 36"/>
          <p:cNvSpPr/>
          <p:nvPr/>
        </p:nvSpPr>
        <p:spPr>
          <a:xfrm>
            <a:off x="6492240" y="3161538"/>
            <a:ext cx="91440" cy="91440"/>
          </a:xfrm>
          <a:prstGeom prst="ellipse">
            <a:avLst/>
          </a:prstGeom>
          <a:solidFill>
            <a:srgbClr val="EB5A1B"/>
          </a:solidFill>
          <a:ln w="12700">
            <a:solidFill>
              <a:srgbClr val="EB5A1B"/>
            </a:solidFill>
            <a:prstDash val="solid"/>
          </a:ln>
        </p:spPr>
      </p:sp>
      <p:sp>
        <p:nvSpPr>
          <p:cNvPr id="39" name="Text 37"/>
          <p:cNvSpPr txBox="1"/>
          <p:nvPr/>
        </p:nvSpPr>
        <p:spPr>
          <a:xfrm>
            <a:off x="6720840" y="3091688"/>
            <a:ext cx="4800600" cy="498856"/>
          </a:xfrm>
          <a:prstGeom prst="rect">
            <a:avLst/>
          </a:prstGeom>
          <a:noFill/>
          <a:ln/>
        </p:spPr>
        <p:txBody>
          <a:bodyPr wrap="square" lIns="0" tIns="0" rIns="0" bIns="0" rtlCol="0" anchor="t"/>
          <a:lstStyle/>
          <a:p>
            <a:pPr indent="0" marL="0">
              <a:buNone/>
            </a:pPr>
            <a:r>
              <a:rPr lang="en-US" sz="1300" b="1" dirty="0">
                <a:solidFill>
                  <a:srgbClr val="222222"/>
                </a:solidFill>
                <a:latin typeface="Poppins" pitchFamily="34" charset="0"/>
                <a:ea typeface="Poppins" pitchFamily="34" charset="-122"/>
                <a:cs typeface="Poppins" pitchFamily="34" charset="-120"/>
              </a:rPr>
              <a:t>Automatisch auch auf Facebook</a:t>
            </a:r>
            <a:pPr indent="0" marL="0">
              <a:buNone/>
            </a:pPr>
            <a:r>
              <a:rPr lang="en-US" sz="1300" dirty="0">
                <a:solidFill>
                  <a:srgbClr val="222222"/>
                </a:solidFill>
                <a:latin typeface="Poppins" pitchFamily="34" charset="0"/>
                <a:ea typeface="Poppins" pitchFamily="34" charset="-122"/>
                <a:cs typeface="Poppins" pitchFamily="34" charset="-120"/>
              </a:rPr>
              <a:t>: erreicht Eltern und Kunden ab 55, ohne Mehraufwand</a:t>
            </a:r>
            <a:endParaRPr lang="en-US" sz="1300" dirty="0"/>
          </a:p>
        </p:txBody>
      </p:sp>
      <p:pic>
        <p:nvPicPr>
          <p:cNvPr id="40"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41" name="Text 38"/>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11 · SERIEN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FFFFFF"/>
                </a:solidFill>
                <a:latin typeface="Poppins ExtraBold" pitchFamily="34" charset="0"/>
                <a:ea typeface="Poppins ExtraBold" pitchFamily="34" charset="-122"/>
                <a:cs typeface="Poppins ExtraBold" pitchFamily="34" charset="-120"/>
              </a:rPr>
              <a:t>Serien sparen Zeit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und machen neugierig.</a:t>
            </a:r>
            <a:endParaRPr lang="en-US" sz="3400" dirty="0"/>
          </a:p>
        </p:txBody>
      </p:sp>
      <p:sp>
        <p:nvSpPr>
          <p:cNvPr id="5" name="Shape 3"/>
          <p:cNvSpPr/>
          <p:nvPr/>
        </p:nvSpPr>
        <p:spPr>
          <a:xfrm>
            <a:off x="685800" y="1874520"/>
            <a:ext cx="3429000" cy="1783080"/>
          </a:xfrm>
          <a:prstGeom prst="roundRect">
            <a:avLst>
              <a:gd name="adj" fmla="val 6154"/>
            </a:avLst>
          </a:prstGeom>
          <a:solidFill>
            <a:srgbClr val="222222"/>
          </a:solidFill>
          <a:ln w="12700">
            <a:solidFill>
              <a:srgbClr val="222222"/>
            </a:solidFill>
            <a:prstDash val="solid"/>
          </a:ln>
        </p:spPr>
      </p:sp>
      <p:sp>
        <p:nvSpPr>
          <p:cNvPr id="6" name="Shape 4"/>
          <p:cNvSpPr/>
          <p:nvPr/>
        </p:nvSpPr>
        <p:spPr>
          <a:xfrm>
            <a:off x="960120" y="2148840"/>
            <a:ext cx="502920" cy="502920"/>
          </a:xfrm>
          <a:prstGeom prst="ellipse">
            <a:avLst/>
          </a:prstGeom>
          <a:solidFill>
            <a:srgbClr val="EB5A1B"/>
          </a:solidFill>
          <a:ln w="12700">
            <a:solidFill>
              <a:srgbClr val="EB5A1B"/>
            </a:solidFill>
            <a:prstDash val="solid"/>
          </a:ln>
        </p:spPr>
      </p:sp>
      <p:pic>
        <p:nvPicPr>
          <p:cNvPr id="7" name="Image 0" descr="/tmp/claude-0/-home-user-Marlene/67342075-d45e-5dfd-8246-b97e829a8c42/scratchpad/deck/img/FaMoon-w.png">    </p:cNvPr>
          <p:cNvPicPr>
            <a:picLocks noChangeAspect="1"/>
          </p:cNvPicPr>
          <p:nvPr/>
        </p:nvPicPr>
        <p:blipFill>
          <a:blip r:embed="rId1"/>
          <a:stretch>
            <a:fillRect/>
          </a:stretch>
        </p:blipFill>
        <p:spPr>
          <a:xfrm>
            <a:off x="1090879" y="2279599"/>
            <a:ext cx="241402" cy="241402"/>
          </a:xfrm>
          <a:prstGeom prst="rect">
            <a:avLst/>
          </a:prstGeom>
        </p:spPr>
      </p:pic>
      <p:sp>
        <p:nvSpPr>
          <p:cNvPr id="8" name="Text 5"/>
          <p:cNvSpPr txBox="1"/>
          <p:nvPr/>
        </p:nvSpPr>
        <p:spPr>
          <a:xfrm>
            <a:off x="1600200" y="219456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„3 Uhr nachts“</a:t>
            </a:r>
            <a:endParaRPr lang="en-US" sz="1500" dirty="0"/>
          </a:p>
        </p:txBody>
      </p:sp>
      <p:sp>
        <p:nvSpPr>
          <p:cNvPr id="9" name="Text 6"/>
          <p:cNvSpPr txBox="1"/>
          <p:nvPr/>
        </p:nvSpPr>
        <p:spPr>
          <a:xfrm>
            <a:off x="960120" y="278892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POV aus der Leitstelle: Was passiert, wenn dein Alarm losgeht?</a:t>
            </a:r>
            <a:endParaRPr lang="en-US" sz="1200" dirty="0"/>
          </a:p>
        </p:txBody>
      </p:sp>
      <p:sp>
        <p:nvSpPr>
          <p:cNvPr id="10" name="Shape 7"/>
          <p:cNvSpPr/>
          <p:nvPr/>
        </p:nvSpPr>
        <p:spPr>
          <a:xfrm>
            <a:off x="4343400" y="1874520"/>
            <a:ext cx="3429000" cy="1783080"/>
          </a:xfrm>
          <a:prstGeom prst="roundRect">
            <a:avLst>
              <a:gd name="adj" fmla="val 6154"/>
            </a:avLst>
          </a:prstGeom>
          <a:solidFill>
            <a:srgbClr val="222222"/>
          </a:solidFill>
          <a:ln w="12700">
            <a:solidFill>
              <a:srgbClr val="222222"/>
            </a:solidFill>
            <a:prstDash val="solid"/>
          </a:ln>
        </p:spPr>
      </p:sp>
      <p:sp>
        <p:nvSpPr>
          <p:cNvPr id="11" name="Shape 8"/>
          <p:cNvSpPr/>
          <p:nvPr/>
        </p:nvSpPr>
        <p:spPr>
          <a:xfrm>
            <a:off x="4617720" y="2148840"/>
            <a:ext cx="502920" cy="502920"/>
          </a:xfrm>
          <a:prstGeom prst="ellipse">
            <a:avLst/>
          </a:prstGeom>
          <a:solidFill>
            <a:srgbClr val="EB5A1B"/>
          </a:solidFill>
          <a:ln w="12700">
            <a:solidFill>
              <a:srgbClr val="EB5A1B"/>
            </a:solidFill>
            <a:prstDash val="solid"/>
          </a:ln>
        </p:spPr>
      </p:sp>
      <p:pic>
        <p:nvPicPr>
          <p:cNvPr id="12" name="Image 1" descr="/tmp/claude-0/-home-user-Marlene/67342075-d45e-5dfd-8246-b97e829a8c42/scratchpad/deck/img/FaCircleQuestion-w.png">    </p:cNvPr>
          <p:cNvPicPr>
            <a:picLocks noChangeAspect="1"/>
          </p:cNvPicPr>
          <p:nvPr/>
        </p:nvPicPr>
        <p:blipFill>
          <a:blip r:embed="rId2"/>
          <a:stretch>
            <a:fillRect/>
          </a:stretch>
        </p:blipFill>
        <p:spPr>
          <a:xfrm>
            <a:off x="4748479" y="2279599"/>
            <a:ext cx="241402" cy="241402"/>
          </a:xfrm>
          <a:prstGeom prst="rect">
            <a:avLst/>
          </a:prstGeom>
        </p:spPr>
      </p:pic>
      <p:sp>
        <p:nvSpPr>
          <p:cNvPr id="13" name="Text 9"/>
          <p:cNvSpPr txBox="1"/>
          <p:nvPr/>
        </p:nvSpPr>
        <p:spPr>
          <a:xfrm>
            <a:off x="5257800" y="219456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„Mythos oder Fakt?“</a:t>
            </a:r>
            <a:endParaRPr lang="en-US" sz="1500" dirty="0"/>
          </a:p>
        </p:txBody>
      </p:sp>
      <p:sp>
        <p:nvSpPr>
          <p:cNvPr id="14" name="Text 10"/>
          <p:cNvSpPr txBox="1"/>
          <p:nvPr/>
        </p:nvSpPr>
        <p:spPr>
          <a:xfrm>
            <a:off x="4617720" y="278892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„Einbrecher kommen nachts“, „Die Smart-Home-Kamera reicht“, immer mit Quelle</a:t>
            </a:r>
            <a:endParaRPr lang="en-US" sz="1200" dirty="0"/>
          </a:p>
        </p:txBody>
      </p:sp>
      <p:sp>
        <p:nvSpPr>
          <p:cNvPr id="15" name="Shape 11"/>
          <p:cNvSpPr/>
          <p:nvPr/>
        </p:nvSpPr>
        <p:spPr>
          <a:xfrm>
            <a:off x="8001000" y="1874520"/>
            <a:ext cx="3429000" cy="1783080"/>
          </a:xfrm>
          <a:prstGeom prst="roundRect">
            <a:avLst>
              <a:gd name="adj" fmla="val 6154"/>
            </a:avLst>
          </a:prstGeom>
          <a:solidFill>
            <a:srgbClr val="222222"/>
          </a:solidFill>
          <a:ln w="12700">
            <a:solidFill>
              <a:srgbClr val="222222"/>
            </a:solidFill>
            <a:prstDash val="solid"/>
          </a:ln>
        </p:spPr>
      </p:sp>
      <p:sp>
        <p:nvSpPr>
          <p:cNvPr id="16" name="Shape 12"/>
          <p:cNvSpPr/>
          <p:nvPr/>
        </p:nvSpPr>
        <p:spPr>
          <a:xfrm>
            <a:off x="8275320" y="2148840"/>
            <a:ext cx="502920" cy="502920"/>
          </a:xfrm>
          <a:prstGeom prst="ellipse">
            <a:avLst/>
          </a:prstGeom>
          <a:solidFill>
            <a:srgbClr val="EB5A1B"/>
          </a:solidFill>
          <a:ln w="12700">
            <a:solidFill>
              <a:srgbClr val="EB5A1B"/>
            </a:solidFill>
            <a:prstDash val="solid"/>
          </a:ln>
        </p:spPr>
      </p:sp>
      <p:pic>
        <p:nvPicPr>
          <p:cNvPr id="17" name="Image 2" descr="/tmp/claude-0/-home-user-Marlene/67342075-d45e-5dfd-8246-b97e829a8c42/scratchpad/deck/img/FaUserGraduate-w.png">    </p:cNvPr>
          <p:cNvPicPr>
            <a:picLocks noChangeAspect="1"/>
          </p:cNvPicPr>
          <p:nvPr/>
        </p:nvPicPr>
        <p:blipFill>
          <a:blip r:embed="rId3"/>
          <a:stretch>
            <a:fillRect/>
          </a:stretch>
        </p:blipFill>
        <p:spPr>
          <a:xfrm>
            <a:off x="8406079" y="2279599"/>
            <a:ext cx="241402" cy="241402"/>
          </a:xfrm>
          <a:prstGeom prst="rect">
            <a:avLst/>
          </a:prstGeom>
        </p:spPr>
      </p:pic>
      <p:sp>
        <p:nvSpPr>
          <p:cNvPr id="18" name="Text 13"/>
          <p:cNvSpPr txBox="1"/>
          <p:nvPr/>
        </p:nvSpPr>
        <p:spPr>
          <a:xfrm>
            <a:off x="8915400" y="219456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„Frag den Azubi“</a:t>
            </a:r>
            <a:endParaRPr lang="en-US" sz="1500" dirty="0"/>
          </a:p>
        </p:txBody>
      </p:sp>
      <p:sp>
        <p:nvSpPr>
          <p:cNvPr id="19" name="Text 14"/>
          <p:cNvSpPr txBox="1"/>
          <p:nvPr/>
        </p:nvSpPr>
        <p:spPr>
          <a:xfrm>
            <a:off x="8275320" y="278892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Ein Azubi beantwortet echte Fragen von Schülern</a:t>
            </a:r>
            <a:endParaRPr lang="en-US" sz="1200" dirty="0"/>
          </a:p>
        </p:txBody>
      </p:sp>
      <p:sp>
        <p:nvSpPr>
          <p:cNvPr id="20" name="Shape 15"/>
          <p:cNvSpPr/>
          <p:nvPr/>
        </p:nvSpPr>
        <p:spPr>
          <a:xfrm>
            <a:off x="685800" y="3886200"/>
            <a:ext cx="3429000" cy="1783080"/>
          </a:xfrm>
          <a:prstGeom prst="roundRect">
            <a:avLst>
              <a:gd name="adj" fmla="val 6154"/>
            </a:avLst>
          </a:prstGeom>
          <a:solidFill>
            <a:srgbClr val="222222"/>
          </a:solidFill>
          <a:ln w="12700">
            <a:solidFill>
              <a:srgbClr val="222222"/>
            </a:solidFill>
            <a:prstDash val="solid"/>
          </a:ln>
        </p:spPr>
      </p:sp>
      <p:sp>
        <p:nvSpPr>
          <p:cNvPr id="21" name="Shape 16"/>
          <p:cNvSpPr/>
          <p:nvPr/>
        </p:nvSpPr>
        <p:spPr>
          <a:xfrm>
            <a:off x="960120" y="4160520"/>
            <a:ext cx="502920" cy="502920"/>
          </a:xfrm>
          <a:prstGeom prst="ellipse">
            <a:avLst/>
          </a:prstGeom>
          <a:solidFill>
            <a:srgbClr val="EB5A1B"/>
          </a:solidFill>
          <a:ln w="12700">
            <a:solidFill>
              <a:srgbClr val="EB5A1B"/>
            </a:solidFill>
            <a:prstDash val="solid"/>
          </a:ln>
        </p:spPr>
      </p:sp>
      <p:pic>
        <p:nvPicPr>
          <p:cNvPr id="22" name="Image 3" descr="/tmp/claude-0/-home-user-Marlene/67342075-d45e-5dfd-8246-b97e829a8c42/scratchpad/deck/img/FaScrewdriverWrench-w.png">    </p:cNvPr>
          <p:cNvPicPr>
            <a:picLocks noChangeAspect="1"/>
          </p:cNvPicPr>
          <p:nvPr/>
        </p:nvPicPr>
        <p:blipFill>
          <a:blip r:embed="rId4"/>
          <a:stretch>
            <a:fillRect/>
          </a:stretch>
        </p:blipFill>
        <p:spPr>
          <a:xfrm>
            <a:off x="1090879" y="4291279"/>
            <a:ext cx="241402" cy="241402"/>
          </a:xfrm>
          <a:prstGeom prst="rect">
            <a:avLst/>
          </a:prstGeom>
        </p:spPr>
      </p:pic>
      <p:sp>
        <p:nvSpPr>
          <p:cNvPr id="23" name="Text 17"/>
          <p:cNvSpPr txBox="1"/>
          <p:nvPr/>
        </p:nvSpPr>
        <p:spPr>
          <a:xfrm>
            <a:off x="1600200" y="420624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„30 Sekunden Technik“</a:t>
            </a:r>
            <a:endParaRPr lang="en-US" sz="1500" dirty="0"/>
          </a:p>
        </p:txBody>
      </p:sp>
      <p:sp>
        <p:nvSpPr>
          <p:cNvPr id="24" name="Text 18"/>
          <p:cNvSpPr txBox="1"/>
          <p:nvPr/>
        </p:nvSpPr>
        <p:spPr>
          <a:xfrm>
            <a:off x="960120" y="480060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Montage im Zeitraffer, Werkzeug-Nahaufnahmen</a:t>
            </a:r>
            <a:endParaRPr lang="en-US" sz="1200" dirty="0"/>
          </a:p>
        </p:txBody>
      </p:sp>
      <p:sp>
        <p:nvSpPr>
          <p:cNvPr id="25" name="Shape 19"/>
          <p:cNvSpPr/>
          <p:nvPr/>
        </p:nvSpPr>
        <p:spPr>
          <a:xfrm>
            <a:off x="4343400" y="3886200"/>
            <a:ext cx="3429000" cy="1783080"/>
          </a:xfrm>
          <a:prstGeom prst="roundRect">
            <a:avLst>
              <a:gd name="adj" fmla="val 6154"/>
            </a:avLst>
          </a:prstGeom>
          <a:solidFill>
            <a:srgbClr val="222222"/>
          </a:solidFill>
          <a:ln w="12700">
            <a:solidFill>
              <a:srgbClr val="222222"/>
            </a:solidFill>
            <a:prstDash val="solid"/>
          </a:ln>
        </p:spPr>
      </p:sp>
      <p:sp>
        <p:nvSpPr>
          <p:cNvPr id="26" name="Shape 20"/>
          <p:cNvSpPr/>
          <p:nvPr/>
        </p:nvSpPr>
        <p:spPr>
          <a:xfrm>
            <a:off x="4617720" y="4160520"/>
            <a:ext cx="502920" cy="502920"/>
          </a:xfrm>
          <a:prstGeom prst="ellipse">
            <a:avLst/>
          </a:prstGeom>
          <a:solidFill>
            <a:srgbClr val="EB5A1B"/>
          </a:solidFill>
          <a:ln w="12700">
            <a:solidFill>
              <a:srgbClr val="EB5A1B"/>
            </a:solidFill>
            <a:prstDash val="solid"/>
          </a:ln>
        </p:spPr>
      </p:sp>
      <p:pic>
        <p:nvPicPr>
          <p:cNvPr id="27" name="Image 4" descr="/tmp/claude-0/-home-user-Marlene/67342075-d45e-5dfd-8246-b97e829a8c42/scratchpad/deck/img/FaUsers-w.png">    </p:cNvPr>
          <p:cNvPicPr>
            <a:picLocks noChangeAspect="1"/>
          </p:cNvPicPr>
          <p:nvPr/>
        </p:nvPicPr>
        <p:blipFill>
          <a:blip r:embed="rId5"/>
          <a:stretch>
            <a:fillRect/>
          </a:stretch>
        </p:blipFill>
        <p:spPr>
          <a:xfrm>
            <a:off x="4748479" y="4291279"/>
            <a:ext cx="241402" cy="241402"/>
          </a:xfrm>
          <a:prstGeom prst="rect">
            <a:avLst/>
          </a:prstGeom>
        </p:spPr>
      </p:pic>
      <p:sp>
        <p:nvSpPr>
          <p:cNvPr id="28" name="Text 21"/>
          <p:cNvSpPr txBox="1"/>
          <p:nvPr/>
        </p:nvSpPr>
        <p:spPr>
          <a:xfrm>
            <a:off x="5257800" y="420624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„Wer ist eigentlich …?“</a:t>
            </a:r>
            <a:endParaRPr lang="en-US" sz="1500" dirty="0"/>
          </a:p>
        </p:txBody>
      </p:sp>
      <p:sp>
        <p:nvSpPr>
          <p:cNvPr id="29" name="Text 22"/>
          <p:cNvSpPr txBox="1"/>
          <p:nvPr/>
        </p:nvSpPr>
        <p:spPr>
          <a:xfrm>
            <a:off x="4617720" y="480060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Ein Gesicht aus dem Team, mit Einwilligung</a:t>
            </a:r>
            <a:endParaRPr lang="en-US" sz="1200" dirty="0"/>
          </a:p>
        </p:txBody>
      </p:sp>
      <p:sp>
        <p:nvSpPr>
          <p:cNvPr id="30" name="Shape 23"/>
          <p:cNvSpPr/>
          <p:nvPr/>
        </p:nvSpPr>
        <p:spPr>
          <a:xfrm>
            <a:off x="8001000" y="3886200"/>
            <a:ext cx="3429000" cy="1783080"/>
          </a:xfrm>
          <a:prstGeom prst="roundRect">
            <a:avLst>
              <a:gd name="adj" fmla="val 6154"/>
            </a:avLst>
          </a:prstGeom>
          <a:solidFill>
            <a:srgbClr val="222222"/>
          </a:solidFill>
          <a:ln w="12700">
            <a:solidFill>
              <a:srgbClr val="222222"/>
            </a:solidFill>
            <a:prstDash val="solid"/>
          </a:ln>
        </p:spPr>
      </p:sp>
      <p:sp>
        <p:nvSpPr>
          <p:cNvPr id="31" name="Shape 24"/>
          <p:cNvSpPr/>
          <p:nvPr/>
        </p:nvSpPr>
        <p:spPr>
          <a:xfrm>
            <a:off x="8275320" y="4160520"/>
            <a:ext cx="502920" cy="502920"/>
          </a:xfrm>
          <a:prstGeom prst="ellipse">
            <a:avLst/>
          </a:prstGeom>
          <a:solidFill>
            <a:srgbClr val="EB5A1B"/>
          </a:solidFill>
          <a:ln w="12700">
            <a:solidFill>
              <a:srgbClr val="EB5A1B"/>
            </a:solidFill>
            <a:prstDash val="solid"/>
          </a:ln>
        </p:spPr>
      </p:sp>
      <p:pic>
        <p:nvPicPr>
          <p:cNvPr id="32" name="Image 5" descr="/tmp/claude-0/-home-user-Marlene/67342075-d45e-5dfd-8246-b97e829a8c42/scratchpad/deck/img/FaListCheck-w.png">    </p:cNvPr>
          <p:cNvPicPr>
            <a:picLocks noChangeAspect="1"/>
          </p:cNvPicPr>
          <p:nvPr/>
        </p:nvPicPr>
        <p:blipFill>
          <a:blip r:embed="rId6"/>
          <a:stretch>
            <a:fillRect/>
          </a:stretch>
        </p:blipFill>
        <p:spPr>
          <a:xfrm>
            <a:off x="8406079" y="4291279"/>
            <a:ext cx="241402" cy="241402"/>
          </a:xfrm>
          <a:prstGeom prst="rect">
            <a:avLst/>
          </a:prstGeom>
        </p:spPr>
      </p:pic>
      <p:sp>
        <p:nvSpPr>
          <p:cNvPr id="33" name="Text 25"/>
          <p:cNvSpPr txBox="1"/>
          <p:nvPr/>
        </p:nvSpPr>
        <p:spPr>
          <a:xfrm>
            <a:off x="8915400" y="4206240"/>
            <a:ext cx="2377440" cy="411480"/>
          </a:xfrm>
          <a:prstGeom prst="rect">
            <a:avLst/>
          </a:prstGeom>
          <a:noFill/>
          <a:ln/>
        </p:spPr>
        <p:txBody>
          <a:bodyPr wrap="square" lIns="0" tIns="0" rIns="0" bIns="0" rtlCol="0" anchor="ctr"/>
          <a:lstStyle/>
          <a:p>
            <a:pPr indent="0" marL="0">
              <a:buNone/>
            </a:pPr>
            <a:r>
              <a:rPr lang="en-US" sz="1500" dirty="0">
                <a:solidFill>
                  <a:srgbClr val="FFFFFF"/>
                </a:solidFill>
                <a:latin typeface="Poppins SemiBold" pitchFamily="34" charset="0"/>
                <a:ea typeface="Poppins SemiBold" pitchFamily="34" charset="-122"/>
                <a:cs typeface="Poppins SemiBold" pitchFamily="34" charset="-120"/>
              </a:rPr>
              <a:t>„Sicher-Check“</a:t>
            </a:r>
            <a:endParaRPr lang="en-US" sz="1500" dirty="0"/>
          </a:p>
        </p:txBody>
      </p:sp>
      <p:sp>
        <p:nvSpPr>
          <p:cNvPr id="34" name="Text 26"/>
          <p:cNvSpPr txBox="1"/>
          <p:nvPr/>
        </p:nvSpPr>
        <p:spPr>
          <a:xfrm>
            <a:off x="8275320" y="4800600"/>
            <a:ext cx="2926080" cy="7315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Checklisten für Urlaub, dunkle Jahreszeit, Neubau</a:t>
            </a:r>
            <a:endParaRPr lang="en-US" sz="1200" dirty="0"/>
          </a:p>
        </p:txBody>
      </p:sp>
      <p:pic>
        <p:nvPicPr>
          <p:cNvPr id="35" name="Image 6" descr="/home/user/Marlene/poleschak-social-media/assets/logo-negativ.png">    </p:cNvPr>
          <p:cNvPicPr>
            <a:picLocks noChangeAspect="1"/>
          </p:cNvPicPr>
          <p:nvPr/>
        </p:nvPicPr>
        <p:blipFill>
          <a:blip r:embed="rId7"/>
          <a:stretch>
            <a:fillRect/>
          </a:stretch>
        </p:blipFill>
        <p:spPr>
          <a:xfrm>
            <a:off x="685800" y="6291072"/>
            <a:ext cx="643680" cy="329184"/>
          </a:xfrm>
          <a:prstGeom prst="rect">
            <a:avLst/>
          </a:prstGeom>
        </p:spPr>
      </p:pic>
      <p:sp>
        <p:nvSpPr>
          <p:cNvPr id="36" name="Text 27"/>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12 · REDAKTIONSPLAN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So sieht der November 2026 aus.</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691640"/>
          <a:ext cx="10789920" cy="914400"/>
        </p:xfrm>
        <a:graphic>
          <a:graphicData uri="http://schemas.openxmlformats.org/drawingml/2006/table">
            <a:tbl>
              <a:tblPr/>
              <a:tblGrid>
                <a:gridCol w="1371600"/>
                <a:gridCol w="1371600"/>
                <a:gridCol w="5760720"/>
                <a:gridCol w="2286000"/>
              </a:tblGrid>
              <a:tr h="301752">
                <a:tc>
                  <a:txBody>
                    <a:bodyPr/>
                    <a:lstStyle/>
                    <a:p>
                      <a:pPr indent="0" marL="0">
                        <a:buNone/>
                      </a:pPr>
                      <a:r>
                        <a:rPr lang="en-US" sz="1100" b="1" dirty="0">
                          <a:solidFill>
                            <a:srgbClr val="FFFFFF"/>
                          </a:solidFill>
                          <a:latin typeface="Poppins SemiBold" pitchFamily="34" charset="0"/>
                          <a:ea typeface="Poppins SemiBold" pitchFamily="34" charset="-122"/>
                          <a:cs typeface="Poppins SemiBold" pitchFamily="34" charset="-120"/>
                        </a:rPr>
                        <a:t>Datum</a:t>
                      </a:r>
                      <a:endParaRPr lang="en-US" sz="1100" dirty="0">
                        <a:latin typeface="Poppins SemiBold" charset="0"/>
                        <a:ea typeface="Poppins SemiBold" charset="0"/>
                        <a:cs typeface="Poppins SemiBold"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111111"/>
                    </a:solidFill>
                  </a:tcPr>
                </a:tc>
                <a:tc>
                  <a:txBody>
                    <a:bodyPr/>
                    <a:lstStyle/>
                    <a:p>
                      <a:pPr indent="0" marL="0">
                        <a:buNone/>
                      </a:pPr>
                      <a:r>
                        <a:rPr lang="en-US" sz="1100" b="1" dirty="0">
                          <a:solidFill>
                            <a:srgbClr val="FFFFFF"/>
                          </a:solidFill>
                          <a:latin typeface="Poppins SemiBold" pitchFamily="34" charset="0"/>
                          <a:ea typeface="Poppins SemiBold" pitchFamily="34" charset="-122"/>
                          <a:cs typeface="Poppins SemiBold" pitchFamily="34" charset="-120"/>
                        </a:rPr>
                        <a:t>Format</a:t>
                      </a:r>
                      <a:endParaRPr lang="en-US" sz="1100" dirty="0">
                        <a:latin typeface="Poppins SemiBold" charset="0"/>
                        <a:ea typeface="Poppins SemiBold" charset="0"/>
                        <a:cs typeface="Poppins SemiBold"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111111"/>
                    </a:solidFill>
                  </a:tcPr>
                </a:tc>
                <a:tc>
                  <a:txBody>
                    <a:bodyPr/>
                    <a:lstStyle/>
                    <a:p>
                      <a:pPr indent="0" marL="0">
                        <a:buNone/>
                      </a:pPr>
                      <a:r>
                        <a:rPr lang="en-US" sz="1100" b="1" dirty="0">
                          <a:solidFill>
                            <a:srgbClr val="FFFFFF"/>
                          </a:solidFill>
                          <a:latin typeface="Poppins SemiBold" pitchFamily="34" charset="0"/>
                          <a:ea typeface="Poppins SemiBold" pitchFamily="34" charset="-122"/>
                          <a:cs typeface="Poppins SemiBold" pitchFamily="34" charset="-120"/>
                        </a:rPr>
                        <a:t>Thema</a:t>
                      </a:r>
                      <a:endParaRPr lang="en-US" sz="1100" dirty="0">
                        <a:latin typeface="Poppins SemiBold" charset="0"/>
                        <a:ea typeface="Poppins SemiBold" charset="0"/>
                        <a:cs typeface="Poppins SemiBold"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111111"/>
                    </a:solidFill>
                  </a:tcPr>
                </a:tc>
                <a:tc>
                  <a:txBody>
                    <a:bodyPr/>
                    <a:lstStyle/>
                    <a:p>
                      <a:pPr indent="0" marL="0">
                        <a:buNone/>
                      </a:pPr>
                      <a:r>
                        <a:rPr lang="en-US" sz="1100" b="1" dirty="0">
                          <a:solidFill>
                            <a:srgbClr val="FFFFFF"/>
                          </a:solidFill>
                          <a:latin typeface="Poppins SemiBold" pitchFamily="34" charset="0"/>
                          <a:ea typeface="Poppins SemiBold" pitchFamily="34" charset="-122"/>
                          <a:cs typeface="Poppins SemiBold" pitchFamily="34" charset="-120"/>
                        </a:rPr>
                        <a:t>Säule</a:t>
                      </a:r>
                      <a:endParaRPr lang="en-US" sz="1100" dirty="0">
                        <a:latin typeface="Poppins SemiBold" charset="0"/>
                        <a:ea typeface="Poppins SemiBold" charset="0"/>
                        <a:cs typeface="Poppins SemiBold"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111111"/>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Di 03.11.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b="1" dirty="0">
                          <a:solidFill>
                            <a:srgbClr val="EB5A1B"/>
                          </a:solidFill>
                          <a:latin typeface="Poppins" pitchFamily="34" charset="0"/>
                          <a:ea typeface="Poppins" pitchFamily="34" charset="-122"/>
                          <a:cs typeface="Poppins" pitchFamily="34" charset="-120"/>
                        </a:rPr>
                        <a:t>Reel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„3 Uhr nachts“ #1: Ein Alarm geht ein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Leitstelle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Do 05.11.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Karussell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Dunkle Jahreszeit: 5 Schwachstellen am Haus</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Sicher wissen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So 08.11.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Bild</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Das ist die Nachtschicht</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Familie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Di 10.11.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EB5A1B"/>
                          </a:solidFill>
                          <a:latin typeface="Poppins" pitchFamily="34" charset="0"/>
                          <a:ea typeface="Poppins" pitchFamily="34" charset="-122"/>
                          <a:cs typeface="Poppins" pitchFamily="34" charset="-120"/>
                        </a:rPr>
                        <a:t>Reel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„Frag den Azubi“ #1: Was machst du eigentlich?</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Karriere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Fr 13.11.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Karussell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Rauchmeldertag: Rauchmelder testen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Sicher wissen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So 15.11.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Bild</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5,0 ★ bei Google: Danke!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Vertrauen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Di 17.11.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b="1" dirty="0">
                          <a:solidFill>
                            <a:srgbClr val="EB5A1B"/>
                          </a:solidFill>
                          <a:latin typeface="Poppins" pitchFamily="34" charset="0"/>
                          <a:ea typeface="Poppins" pitchFamily="34" charset="-122"/>
                          <a:cs typeface="Poppins" pitchFamily="34" charset="-120"/>
                        </a:rPr>
                        <a:t>Reel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Mythos: Die Smart-Home-Kamera reicht doch</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Sicher wissen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Do 19.11.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Karussell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Ausbildung Elektroniker/in in 6 Slides</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Karriere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So 22.11.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Bild</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Wir suchen: Servicetechniker (m/w/d)</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Karriere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Di 24.11.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b="1" dirty="0">
                          <a:solidFill>
                            <a:srgbClr val="EB5A1B"/>
                          </a:solidFill>
                          <a:latin typeface="Poppins" pitchFamily="34" charset="0"/>
                          <a:ea typeface="Poppins" pitchFamily="34" charset="-122"/>
                          <a:cs typeface="Poppins" pitchFamily="34" charset="-120"/>
                        </a:rPr>
                        <a:t>Reel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„30 Sekunden Technik“: Ein Melder entsteht</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Leitstelle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Do 26.11.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Karussell</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Fast jeder 2. Einbruch scheitert (PKS)</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Sicher wissen</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4F4F4"/>
                    </a:solidFill>
                  </a:tcPr>
                </a:tc>
              </a:tr>
              <a:tr h="301752">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So 29.11.</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Bild</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Seit 1975: Familie Poleschak</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00" dirty="0">
                          <a:solidFill>
                            <a:srgbClr val="222222"/>
                          </a:solidFill>
                          <a:latin typeface="Poppins" pitchFamily="34" charset="0"/>
                          <a:ea typeface="Poppins" pitchFamily="34" charset="-122"/>
                          <a:cs typeface="Poppins" pitchFamily="34" charset="-120"/>
                        </a:rPr>
                        <a:t>Familie</a:t>
                      </a:r>
                      <a:endParaRPr lang="en-US" sz="1100" dirty="0">
                        <a:latin typeface="Poppins" charset="0"/>
                        <a:ea typeface="Poppins" charset="0"/>
                        <a:cs typeface="Poppins" charset="0"/>
                      </a:endParaRPr>
                    </a:p>
                  </a:txBody>
                  <a:tcPr marL="91440" marR="91440" marT="18288" marB="18288"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pic>
        <p:nvPicPr>
          <p:cNvPr id="6"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7" name="Text 3"/>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13 · JAHRESPLAN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12 Monate im Überblick.</a:t>
            </a:r>
            <a:endParaRPr lang="en-US" sz="3400" dirty="0"/>
          </a:p>
        </p:txBody>
      </p:sp>
      <p:sp>
        <p:nvSpPr>
          <p:cNvPr id="5" name="Shape 3"/>
          <p:cNvSpPr/>
          <p:nvPr/>
        </p:nvSpPr>
        <p:spPr>
          <a:xfrm>
            <a:off x="713232" y="2011680"/>
            <a:ext cx="775130" cy="457200"/>
          </a:xfrm>
          <a:prstGeom prst="roundRect">
            <a:avLst>
              <a:gd name="adj" fmla="val 24000"/>
            </a:avLst>
          </a:prstGeom>
          <a:solidFill>
            <a:srgbClr val="111111"/>
          </a:solidFill>
          <a:ln w="12700">
            <a:solidFill>
              <a:srgbClr val="111111"/>
            </a:solidFill>
            <a:prstDash val="solid"/>
          </a:ln>
        </p:spPr>
      </p:sp>
      <p:sp>
        <p:nvSpPr>
          <p:cNvPr id="6" name="Text 4"/>
          <p:cNvSpPr txBox="1"/>
          <p:nvPr/>
        </p:nvSpPr>
        <p:spPr>
          <a:xfrm>
            <a:off x="685800" y="2011680"/>
            <a:ext cx="829994"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Okt</a:t>
            </a:r>
            <a:endParaRPr lang="en-US" sz="1200" dirty="0"/>
          </a:p>
        </p:txBody>
      </p:sp>
      <p:sp>
        <p:nvSpPr>
          <p:cNvPr id="7" name="Shape 5"/>
          <p:cNvSpPr/>
          <p:nvPr/>
        </p:nvSpPr>
        <p:spPr>
          <a:xfrm>
            <a:off x="1543226" y="2011680"/>
            <a:ext cx="775130" cy="457200"/>
          </a:xfrm>
          <a:prstGeom prst="roundRect">
            <a:avLst>
              <a:gd name="adj" fmla="val 24000"/>
            </a:avLst>
          </a:prstGeom>
          <a:solidFill>
            <a:srgbClr val="F4F4F4"/>
          </a:solidFill>
          <a:ln w="12700">
            <a:solidFill>
              <a:srgbClr val="F4F4F4"/>
            </a:solidFill>
            <a:prstDash val="solid"/>
          </a:ln>
        </p:spPr>
      </p:sp>
      <p:sp>
        <p:nvSpPr>
          <p:cNvPr id="8" name="Text 6"/>
          <p:cNvSpPr txBox="1"/>
          <p:nvPr/>
        </p:nvSpPr>
        <p:spPr>
          <a:xfrm>
            <a:off x="1515794"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Nov</a:t>
            </a:r>
            <a:endParaRPr lang="en-US" sz="1200" dirty="0"/>
          </a:p>
        </p:txBody>
      </p:sp>
      <p:sp>
        <p:nvSpPr>
          <p:cNvPr id="9" name="Shape 7"/>
          <p:cNvSpPr/>
          <p:nvPr/>
        </p:nvSpPr>
        <p:spPr>
          <a:xfrm>
            <a:off x="2373220" y="2011680"/>
            <a:ext cx="775130" cy="457200"/>
          </a:xfrm>
          <a:prstGeom prst="roundRect">
            <a:avLst>
              <a:gd name="adj" fmla="val 24000"/>
            </a:avLst>
          </a:prstGeom>
          <a:solidFill>
            <a:srgbClr val="F4F4F4"/>
          </a:solidFill>
          <a:ln w="12700">
            <a:solidFill>
              <a:srgbClr val="F4F4F4"/>
            </a:solidFill>
            <a:prstDash val="solid"/>
          </a:ln>
        </p:spPr>
      </p:sp>
      <p:sp>
        <p:nvSpPr>
          <p:cNvPr id="10" name="Text 8"/>
          <p:cNvSpPr txBox="1"/>
          <p:nvPr/>
        </p:nvSpPr>
        <p:spPr>
          <a:xfrm>
            <a:off x="2345788"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Dez</a:t>
            </a:r>
            <a:endParaRPr lang="en-US" sz="1200" dirty="0"/>
          </a:p>
        </p:txBody>
      </p:sp>
      <p:sp>
        <p:nvSpPr>
          <p:cNvPr id="11" name="Shape 9"/>
          <p:cNvSpPr/>
          <p:nvPr/>
        </p:nvSpPr>
        <p:spPr>
          <a:xfrm>
            <a:off x="3203214" y="2011680"/>
            <a:ext cx="775130" cy="457200"/>
          </a:xfrm>
          <a:prstGeom prst="roundRect">
            <a:avLst>
              <a:gd name="adj" fmla="val 24000"/>
            </a:avLst>
          </a:prstGeom>
          <a:solidFill>
            <a:srgbClr val="F4F4F4"/>
          </a:solidFill>
          <a:ln w="12700">
            <a:solidFill>
              <a:srgbClr val="F4F4F4"/>
            </a:solidFill>
            <a:prstDash val="solid"/>
          </a:ln>
        </p:spPr>
      </p:sp>
      <p:sp>
        <p:nvSpPr>
          <p:cNvPr id="12" name="Text 10"/>
          <p:cNvSpPr txBox="1"/>
          <p:nvPr/>
        </p:nvSpPr>
        <p:spPr>
          <a:xfrm>
            <a:off x="3175782"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Jan</a:t>
            </a:r>
            <a:endParaRPr lang="en-US" sz="1200" dirty="0"/>
          </a:p>
        </p:txBody>
      </p:sp>
      <p:sp>
        <p:nvSpPr>
          <p:cNvPr id="13" name="Shape 11"/>
          <p:cNvSpPr/>
          <p:nvPr/>
        </p:nvSpPr>
        <p:spPr>
          <a:xfrm>
            <a:off x="4033207" y="2011680"/>
            <a:ext cx="775130" cy="457200"/>
          </a:xfrm>
          <a:prstGeom prst="roundRect">
            <a:avLst>
              <a:gd name="adj" fmla="val 24000"/>
            </a:avLst>
          </a:prstGeom>
          <a:solidFill>
            <a:srgbClr val="F4F4F4"/>
          </a:solidFill>
          <a:ln w="12700">
            <a:solidFill>
              <a:srgbClr val="F4F4F4"/>
            </a:solidFill>
            <a:prstDash val="solid"/>
          </a:ln>
        </p:spPr>
      </p:sp>
      <p:sp>
        <p:nvSpPr>
          <p:cNvPr id="14" name="Text 12"/>
          <p:cNvSpPr txBox="1"/>
          <p:nvPr/>
        </p:nvSpPr>
        <p:spPr>
          <a:xfrm>
            <a:off x="4005775"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Feb</a:t>
            </a:r>
            <a:endParaRPr lang="en-US" sz="1200" dirty="0"/>
          </a:p>
        </p:txBody>
      </p:sp>
      <p:sp>
        <p:nvSpPr>
          <p:cNvPr id="15" name="Shape 13"/>
          <p:cNvSpPr/>
          <p:nvPr/>
        </p:nvSpPr>
        <p:spPr>
          <a:xfrm>
            <a:off x="4863201" y="2011680"/>
            <a:ext cx="775130" cy="457200"/>
          </a:xfrm>
          <a:prstGeom prst="roundRect">
            <a:avLst>
              <a:gd name="adj" fmla="val 24000"/>
            </a:avLst>
          </a:prstGeom>
          <a:solidFill>
            <a:srgbClr val="F4F4F4"/>
          </a:solidFill>
          <a:ln w="12700">
            <a:solidFill>
              <a:srgbClr val="F4F4F4"/>
            </a:solidFill>
            <a:prstDash val="solid"/>
          </a:ln>
        </p:spPr>
      </p:sp>
      <p:sp>
        <p:nvSpPr>
          <p:cNvPr id="16" name="Text 14"/>
          <p:cNvSpPr txBox="1"/>
          <p:nvPr/>
        </p:nvSpPr>
        <p:spPr>
          <a:xfrm>
            <a:off x="4835769"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Mär</a:t>
            </a:r>
            <a:endParaRPr lang="en-US" sz="1200" dirty="0"/>
          </a:p>
        </p:txBody>
      </p:sp>
      <p:sp>
        <p:nvSpPr>
          <p:cNvPr id="17" name="Shape 15"/>
          <p:cNvSpPr/>
          <p:nvPr/>
        </p:nvSpPr>
        <p:spPr>
          <a:xfrm>
            <a:off x="5693195" y="2011680"/>
            <a:ext cx="775130" cy="457200"/>
          </a:xfrm>
          <a:prstGeom prst="roundRect">
            <a:avLst>
              <a:gd name="adj" fmla="val 24000"/>
            </a:avLst>
          </a:prstGeom>
          <a:solidFill>
            <a:srgbClr val="F4F4F4"/>
          </a:solidFill>
          <a:ln w="12700">
            <a:solidFill>
              <a:srgbClr val="F4F4F4"/>
            </a:solidFill>
            <a:prstDash val="solid"/>
          </a:ln>
        </p:spPr>
      </p:sp>
      <p:sp>
        <p:nvSpPr>
          <p:cNvPr id="18" name="Text 16"/>
          <p:cNvSpPr txBox="1"/>
          <p:nvPr/>
        </p:nvSpPr>
        <p:spPr>
          <a:xfrm>
            <a:off x="5665763"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Apr</a:t>
            </a:r>
            <a:endParaRPr lang="en-US" sz="1200" dirty="0"/>
          </a:p>
        </p:txBody>
      </p:sp>
      <p:sp>
        <p:nvSpPr>
          <p:cNvPr id="19" name="Shape 17"/>
          <p:cNvSpPr/>
          <p:nvPr/>
        </p:nvSpPr>
        <p:spPr>
          <a:xfrm>
            <a:off x="6523189" y="2011680"/>
            <a:ext cx="775130" cy="457200"/>
          </a:xfrm>
          <a:prstGeom prst="roundRect">
            <a:avLst>
              <a:gd name="adj" fmla="val 24000"/>
            </a:avLst>
          </a:prstGeom>
          <a:solidFill>
            <a:srgbClr val="F4F4F4"/>
          </a:solidFill>
          <a:ln w="12700">
            <a:solidFill>
              <a:srgbClr val="F4F4F4"/>
            </a:solidFill>
            <a:prstDash val="solid"/>
          </a:ln>
        </p:spPr>
      </p:sp>
      <p:sp>
        <p:nvSpPr>
          <p:cNvPr id="20" name="Text 18"/>
          <p:cNvSpPr txBox="1"/>
          <p:nvPr/>
        </p:nvSpPr>
        <p:spPr>
          <a:xfrm>
            <a:off x="6495757"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Mai</a:t>
            </a:r>
            <a:endParaRPr lang="en-US" sz="1200" dirty="0"/>
          </a:p>
        </p:txBody>
      </p:sp>
      <p:sp>
        <p:nvSpPr>
          <p:cNvPr id="21" name="Shape 19"/>
          <p:cNvSpPr/>
          <p:nvPr/>
        </p:nvSpPr>
        <p:spPr>
          <a:xfrm>
            <a:off x="7353183" y="2011680"/>
            <a:ext cx="775130" cy="457200"/>
          </a:xfrm>
          <a:prstGeom prst="roundRect">
            <a:avLst>
              <a:gd name="adj" fmla="val 24000"/>
            </a:avLst>
          </a:prstGeom>
          <a:solidFill>
            <a:srgbClr val="F4F4F4"/>
          </a:solidFill>
          <a:ln w="12700">
            <a:solidFill>
              <a:srgbClr val="F4F4F4"/>
            </a:solidFill>
            <a:prstDash val="solid"/>
          </a:ln>
        </p:spPr>
      </p:sp>
      <p:sp>
        <p:nvSpPr>
          <p:cNvPr id="22" name="Text 20"/>
          <p:cNvSpPr txBox="1"/>
          <p:nvPr/>
        </p:nvSpPr>
        <p:spPr>
          <a:xfrm>
            <a:off x="7325751"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Jun</a:t>
            </a:r>
            <a:endParaRPr lang="en-US" sz="1200" dirty="0"/>
          </a:p>
        </p:txBody>
      </p:sp>
      <p:sp>
        <p:nvSpPr>
          <p:cNvPr id="23" name="Shape 21"/>
          <p:cNvSpPr/>
          <p:nvPr/>
        </p:nvSpPr>
        <p:spPr>
          <a:xfrm>
            <a:off x="8183177" y="2011680"/>
            <a:ext cx="775130" cy="457200"/>
          </a:xfrm>
          <a:prstGeom prst="roundRect">
            <a:avLst>
              <a:gd name="adj" fmla="val 24000"/>
            </a:avLst>
          </a:prstGeom>
          <a:solidFill>
            <a:srgbClr val="F4F4F4"/>
          </a:solidFill>
          <a:ln w="12700">
            <a:solidFill>
              <a:srgbClr val="F4F4F4"/>
            </a:solidFill>
            <a:prstDash val="solid"/>
          </a:ln>
        </p:spPr>
      </p:sp>
      <p:sp>
        <p:nvSpPr>
          <p:cNvPr id="24" name="Text 22"/>
          <p:cNvSpPr txBox="1"/>
          <p:nvPr/>
        </p:nvSpPr>
        <p:spPr>
          <a:xfrm>
            <a:off x="8155745"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Jul</a:t>
            </a:r>
            <a:endParaRPr lang="en-US" sz="1200" dirty="0"/>
          </a:p>
        </p:txBody>
      </p:sp>
      <p:sp>
        <p:nvSpPr>
          <p:cNvPr id="25" name="Shape 23"/>
          <p:cNvSpPr/>
          <p:nvPr/>
        </p:nvSpPr>
        <p:spPr>
          <a:xfrm>
            <a:off x="9013170" y="2011680"/>
            <a:ext cx="775130" cy="457200"/>
          </a:xfrm>
          <a:prstGeom prst="roundRect">
            <a:avLst>
              <a:gd name="adj" fmla="val 24000"/>
            </a:avLst>
          </a:prstGeom>
          <a:solidFill>
            <a:srgbClr val="F4F4F4"/>
          </a:solidFill>
          <a:ln w="12700">
            <a:solidFill>
              <a:srgbClr val="F4F4F4"/>
            </a:solidFill>
            <a:prstDash val="solid"/>
          </a:ln>
        </p:spPr>
      </p:sp>
      <p:sp>
        <p:nvSpPr>
          <p:cNvPr id="26" name="Text 24"/>
          <p:cNvSpPr txBox="1"/>
          <p:nvPr/>
        </p:nvSpPr>
        <p:spPr>
          <a:xfrm>
            <a:off x="8985738"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Aug</a:t>
            </a:r>
            <a:endParaRPr lang="en-US" sz="1200" dirty="0"/>
          </a:p>
        </p:txBody>
      </p:sp>
      <p:sp>
        <p:nvSpPr>
          <p:cNvPr id="27" name="Shape 25"/>
          <p:cNvSpPr/>
          <p:nvPr/>
        </p:nvSpPr>
        <p:spPr>
          <a:xfrm>
            <a:off x="9843164" y="2011680"/>
            <a:ext cx="775130" cy="457200"/>
          </a:xfrm>
          <a:prstGeom prst="roundRect">
            <a:avLst>
              <a:gd name="adj" fmla="val 24000"/>
            </a:avLst>
          </a:prstGeom>
          <a:solidFill>
            <a:srgbClr val="F4F4F4"/>
          </a:solidFill>
          <a:ln w="12700">
            <a:solidFill>
              <a:srgbClr val="F4F4F4"/>
            </a:solidFill>
            <a:prstDash val="solid"/>
          </a:ln>
        </p:spPr>
      </p:sp>
      <p:sp>
        <p:nvSpPr>
          <p:cNvPr id="28" name="Text 26"/>
          <p:cNvSpPr txBox="1"/>
          <p:nvPr/>
        </p:nvSpPr>
        <p:spPr>
          <a:xfrm>
            <a:off x="9815732" y="2011680"/>
            <a:ext cx="829994" cy="457200"/>
          </a:xfrm>
          <a:prstGeom prst="rect">
            <a:avLst/>
          </a:prstGeom>
          <a:noFill/>
          <a:ln/>
        </p:spPr>
        <p:txBody>
          <a:bodyPr wrap="square" lIns="0" tIns="0" rIns="0" bIns="0" rtlCol="0" anchor="ctr"/>
          <a:lstStyle/>
          <a:p>
            <a:pPr algn="ctr" indent="0" marL="0">
              <a:buNone/>
            </a:pPr>
            <a:r>
              <a:rPr lang="en-US" sz="1200" dirty="0">
                <a:solidFill>
                  <a:srgbClr val="111111"/>
                </a:solidFill>
                <a:latin typeface="Poppins SemiBold" pitchFamily="34" charset="0"/>
                <a:ea typeface="Poppins SemiBold" pitchFamily="34" charset="-122"/>
                <a:cs typeface="Poppins SemiBold" pitchFamily="34" charset="-120"/>
              </a:rPr>
              <a:t>Sep</a:t>
            </a:r>
            <a:endParaRPr lang="en-US" sz="1200" dirty="0"/>
          </a:p>
        </p:txBody>
      </p:sp>
      <p:sp>
        <p:nvSpPr>
          <p:cNvPr id="29" name="Shape 27"/>
          <p:cNvSpPr/>
          <p:nvPr/>
        </p:nvSpPr>
        <p:spPr>
          <a:xfrm>
            <a:off x="10673158" y="2011680"/>
            <a:ext cx="775130" cy="457200"/>
          </a:xfrm>
          <a:prstGeom prst="roundRect">
            <a:avLst>
              <a:gd name="adj" fmla="val 24000"/>
            </a:avLst>
          </a:prstGeom>
          <a:solidFill>
            <a:srgbClr val="111111"/>
          </a:solidFill>
          <a:ln w="12700">
            <a:solidFill>
              <a:srgbClr val="111111"/>
            </a:solidFill>
            <a:prstDash val="solid"/>
          </a:ln>
        </p:spPr>
      </p:sp>
      <p:sp>
        <p:nvSpPr>
          <p:cNvPr id="30" name="Text 28"/>
          <p:cNvSpPr txBox="1"/>
          <p:nvPr/>
        </p:nvSpPr>
        <p:spPr>
          <a:xfrm>
            <a:off x="10645726" y="2011680"/>
            <a:ext cx="829994"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Okt</a:t>
            </a:r>
            <a:endParaRPr lang="en-US" sz="1200" dirty="0"/>
          </a:p>
        </p:txBody>
      </p:sp>
      <p:sp>
        <p:nvSpPr>
          <p:cNvPr id="31" name="Text 29"/>
          <p:cNvSpPr txBox="1"/>
          <p:nvPr/>
        </p:nvSpPr>
        <p:spPr>
          <a:xfrm>
            <a:off x="685800" y="1691640"/>
            <a:ext cx="1828800" cy="274320"/>
          </a:xfrm>
          <a:prstGeom prst="rect">
            <a:avLst/>
          </a:prstGeom>
          <a:noFill/>
          <a:ln/>
        </p:spPr>
        <p:txBody>
          <a:bodyPr wrap="square" lIns="0" tIns="0" rIns="0" bIns="0" rtlCol="0" anchor="t"/>
          <a:lstStyle/>
          <a:p>
            <a:pPr indent="0" marL="0">
              <a:buNone/>
            </a:pPr>
            <a:r>
              <a:rPr lang="en-US" sz="1000" dirty="0">
                <a:solidFill>
                  <a:srgbClr val="545559"/>
                </a:solidFill>
                <a:latin typeface="Poppins" pitchFamily="34" charset="0"/>
                <a:ea typeface="Poppins" pitchFamily="34" charset="-122"/>
                <a:cs typeface="Poppins" pitchFamily="34" charset="-120"/>
              </a:rPr>
              <a:t>2026</a:t>
            </a:r>
            <a:endParaRPr lang="en-US" sz="1000" dirty="0"/>
          </a:p>
        </p:txBody>
      </p:sp>
      <p:sp>
        <p:nvSpPr>
          <p:cNvPr id="32" name="Text 30"/>
          <p:cNvSpPr txBox="1"/>
          <p:nvPr/>
        </p:nvSpPr>
        <p:spPr>
          <a:xfrm>
            <a:off x="3175782" y="1691640"/>
            <a:ext cx="1828800" cy="274320"/>
          </a:xfrm>
          <a:prstGeom prst="rect">
            <a:avLst/>
          </a:prstGeom>
          <a:noFill/>
          <a:ln/>
        </p:spPr>
        <p:txBody>
          <a:bodyPr wrap="square" lIns="0" tIns="0" rIns="0" bIns="0" rtlCol="0" anchor="t"/>
          <a:lstStyle/>
          <a:p>
            <a:pPr indent="0" marL="0">
              <a:buNone/>
            </a:pPr>
            <a:r>
              <a:rPr lang="en-US" sz="1000" dirty="0">
                <a:solidFill>
                  <a:srgbClr val="545559"/>
                </a:solidFill>
                <a:latin typeface="Poppins" pitchFamily="34" charset="0"/>
                <a:ea typeface="Poppins" pitchFamily="34" charset="-122"/>
                <a:cs typeface="Poppins" pitchFamily="34" charset="-120"/>
              </a:rPr>
              <a:t>2027</a:t>
            </a:r>
            <a:endParaRPr lang="en-US" sz="1000" dirty="0"/>
          </a:p>
        </p:txBody>
      </p:sp>
      <p:sp>
        <p:nvSpPr>
          <p:cNvPr id="33" name="Shape 31"/>
          <p:cNvSpPr/>
          <p:nvPr/>
        </p:nvSpPr>
        <p:spPr>
          <a:xfrm>
            <a:off x="713232" y="2743200"/>
            <a:ext cx="4925099" cy="411480"/>
          </a:xfrm>
          <a:prstGeom prst="roundRect">
            <a:avLst>
              <a:gd name="adj" fmla="val 26667"/>
            </a:avLst>
          </a:prstGeom>
          <a:solidFill>
            <a:srgbClr val="111111"/>
          </a:solidFill>
          <a:ln w="12700">
            <a:solidFill>
              <a:srgbClr val="111111"/>
            </a:solidFill>
            <a:prstDash val="solid"/>
          </a:ln>
        </p:spPr>
      </p:sp>
      <p:sp>
        <p:nvSpPr>
          <p:cNvPr id="34" name="Text 32"/>
          <p:cNvSpPr txBox="1"/>
          <p:nvPr/>
        </p:nvSpPr>
        <p:spPr>
          <a:xfrm>
            <a:off x="822960" y="2743200"/>
            <a:ext cx="4705643" cy="411480"/>
          </a:xfrm>
          <a:prstGeom prst="rect">
            <a:avLst/>
          </a:prstGeom>
          <a:noFill/>
          <a:ln/>
        </p:spPr>
        <p:txBody>
          <a:bodyPr wrap="square" lIns="0" tIns="0" rIns="0" bIns="0" rtlCol="0" anchor="ctr"/>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Kundenkampagne „Kostenlose Sicherheitsberatung“</a:t>
            </a:r>
            <a:endParaRPr lang="en-US" sz="1100" dirty="0"/>
          </a:p>
        </p:txBody>
      </p:sp>
      <p:sp>
        <p:nvSpPr>
          <p:cNvPr id="35" name="Shape 33"/>
          <p:cNvSpPr/>
          <p:nvPr/>
        </p:nvSpPr>
        <p:spPr>
          <a:xfrm>
            <a:off x="3203214" y="3291840"/>
            <a:ext cx="3265111" cy="411480"/>
          </a:xfrm>
          <a:prstGeom prst="roundRect">
            <a:avLst>
              <a:gd name="adj" fmla="val 26667"/>
            </a:avLst>
          </a:prstGeom>
          <a:solidFill>
            <a:srgbClr val="EB5A1B"/>
          </a:solidFill>
          <a:ln w="12700">
            <a:solidFill>
              <a:srgbClr val="EB5A1B"/>
            </a:solidFill>
            <a:prstDash val="solid"/>
          </a:ln>
        </p:spPr>
      </p:sp>
      <p:sp>
        <p:nvSpPr>
          <p:cNvPr id="36" name="Text 34"/>
          <p:cNvSpPr txBox="1"/>
          <p:nvPr/>
        </p:nvSpPr>
        <p:spPr>
          <a:xfrm>
            <a:off x="3312942" y="3291840"/>
            <a:ext cx="3045655" cy="411480"/>
          </a:xfrm>
          <a:prstGeom prst="rect">
            <a:avLst/>
          </a:prstGeom>
          <a:noFill/>
          <a:ln/>
        </p:spPr>
        <p:txBody>
          <a:bodyPr wrap="square" lIns="0" tIns="0" rIns="0" bIns="0" rtlCol="0" anchor="ctr"/>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Azubi-Kampagne „Mach Alarm. Beruflich.“</a:t>
            </a:r>
            <a:endParaRPr lang="en-US" sz="1100" dirty="0"/>
          </a:p>
        </p:txBody>
      </p:sp>
      <p:sp>
        <p:nvSpPr>
          <p:cNvPr id="37" name="Shape 35"/>
          <p:cNvSpPr/>
          <p:nvPr/>
        </p:nvSpPr>
        <p:spPr>
          <a:xfrm>
            <a:off x="9843164" y="3291840"/>
            <a:ext cx="1605124" cy="411480"/>
          </a:xfrm>
          <a:prstGeom prst="roundRect">
            <a:avLst>
              <a:gd name="adj" fmla="val 26667"/>
            </a:avLst>
          </a:prstGeom>
          <a:solidFill>
            <a:srgbClr val="EB5A1B"/>
          </a:solidFill>
          <a:ln w="12700">
            <a:solidFill>
              <a:srgbClr val="EB5A1B"/>
            </a:solidFill>
            <a:prstDash val="solid"/>
          </a:ln>
        </p:spPr>
      </p:sp>
      <p:sp>
        <p:nvSpPr>
          <p:cNvPr id="38" name="Text 36"/>
          <p:cNvSpPr txBox="1"/>
          <p:nvPr/>
        </p:nvSpPr>
        <p:spPr>
          <a:xfrm>
            <a:off x="9952892" y="3291840"/>
            <a:ext cx="1385668" cy="411480"/>
          </a:xfrm>
          <a:prstGeom prst="rect">
            <a:avLst/>
          </a:prstGeom>
          <a:noFill/>
          <a:ln/>
        </p:spPr>
        <p:txBody>
          <a:bodyPr wrap="square" lIns="0" tIns="0" rIns="0" bIns="0" rtlCol="0" anchor="ctr"/>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Messe &amp; Herbst</a:t>
            </a:r>
            <a:endParaRPr lang="en-US" sz="1100" dirty="0"/>
          </a:p>
        </p:txBody>
      </p:sp>
      <p:sp>
        <p:nvSpPr>
          <p:cNvPr id="39" name="Shape 37"/>
          <p:cNvSpPr/>
          <p:nvPr/>
        </p:nvSpPr>
        <p:spPr>
          <a:xfrm>
            <a:off x="713232" y="3840480"/>
            <a:ext cx="775130" cy="411480"/>
          </a:xfrm>
          <a:prstGeom prst="roundRect">
            <a:avLst>
              <a:gd name="adj" fmla="val 26667"/>
            </a:avLst>
          </a:prstGeom>
          <a:solidFill>
            <a:srgbClr val="E9E9EA"/>
          </a:solidFill>
          <a:ln w="12700">
            <a:solidFill>
              <a:srgbClr val="E9E9EA"/>
            </a:solidFill>
            <a:prstDash val="solid"/>
          </a:ln>
        </p:spPr>
      </p:sp>
      <p:sp>
        <p:nvSpPr>
          <p:cNvPr id="40" name="Text 38"/>
          <p:cNvSpPr txBox="1"/>
          <p:nvPr/>
        </p:nvSpPr>
        <p:spPr>
          <a:xfrm>
            <a:off x="822960" y="3840480"/>
            <a:ext cx="555674" cy="411480"/>
          </a:xfrm>
          <a:prstGeom prst="rect">
            <a:avLst/>
          </a:prstGeom>
          <a:noFill/>
          <a:ln/>
        </p:spPr>
        <p:txBody>
          <a:bodyPr wrap="square" lIns="0" tIns="0" rIns="0" bIns="0" rtlCol="0" anchor="ctr"/>
          <a:lstStyle/>
          <a:p>
            <a:pPr indent="0" marL="0">
              <a:buNone/>
            </a:pPr>
            <a:r>
              <a:rPr lang="en-US" sz="1100" dirty="0">
                <a:solidFill>
                  <a:srgbClr val="111111"/>
                </a:solidFill>
                <a:latin typeface="Poppins SemiBold" pitchFamily="34" charset="0"/>
                <a:ea typeface="Poppins SemiBold" pitchFamily="34" charset="-122"/>
                <a:cs typeface="Poppins SemiBold" pitchFamily="34" charset="-120"/>
              </a:rPr>
              <a:t>Aufbau</a:t>
            </a:r>
            <a:endParaRPr lang="en-US" sz="1100" dirty="0"/>
          </a:p>
        </p:txBody>
      </p:sp>
      <p:sp>
        <p:nvSpPr>
          <p:cNvPr id="41" name="Shape 39"/>
          <p:cNvSpPr/>
          <p:nvPr/>
        </p:nvSpPr>
        <p:spPr>
          <a:xfrm>
            <a:off x="1018501" y="4535424"/>
            <a:ext cx="164592" cy="164592"/>
          </a:xfrm>
          <a:prstGeom prst="ellipse">
            <a:avLst/>
          </a:prstGeom>
          <a:solidFill>
            <a:srgbClr val="EB5A1B"/>
          </a:solidFill>
          <a:ln w="12700">
            <a:solidFill>
              <a:srgbClr val="EB5A1B"/>
            </a:solidFill>
            <a:prstDash val="solid"/>
          </a:ln>
        </p:spPr>
      </p:sp>
      <p:sp>
        <p:nvSpPr>
          <p:cNvPr id="42" name="Text 40"/>
          <p:cNvSpPr txBox="1"/>
          <p:nvPr/>
        </p:nvSpPr>
        <p:spPr>
          <a:xfrm>
            <a:off x="1265389" y="4480560"/>
            <a:ext cx="2331720" cy="274320"/>
          </a:xfrm>
          <a:prstGeom prst="rect">
            <a:avLst/>
          </a:prstGeom>
          <a:noFill/>
          <a:ln/>
        </p:spPr>
        <p:txBody>
          <a:bodyPr wrap="square" lIns="0" tIns="0" rIns="0" bIns="0" rtlCol="0" anchor="t"/>
          <a:lstStyle/>
          <a:p>
            <a:pPr algn="l" indent="0" marL="0">
              <a:buNone/>
            </a:pPr>
            <a:r>
              <a:rPr lang="en-US" sz="1100" dirty="0">
                <a:solidFill>
                  <a:srgbClr val="222222"/>
                </a:solidFill>
                <a:latin typeface="Poppins" pitchFamily="34" charset="0"/>
                <a:ea typeface="Poppins" pitchFamily="34" charset="-122"/>
                <a:cs typeface="Poppins" pitchFamily="34" charset="-120"/>
              </a:rPr>
              <a:t>25.10. Start (Einbruchschutz-Tag)</a:t>
            </a:r>
            <a:endParaRPr lang="en-US" sz="1100" dirty="0"/>
          </a:p>
        </p:txBody>
      </p:sp>
      <p:sp>
        <p:nvSpPr>
          <p:cNvPr id="43" name="Shape 41"/>
          <p:cNvSpPr/>
          <p:nvPr/>
        </p:nvSpPr>
        <p:spPr>
          <a:xfrm>
            <a:off x="1848495" y="5084064"/>
            <a:ext cx="164592" cy="164592"/>
          </a:xfrm>
          <a:prstGeom prst="ellipse">
            <a:avLst/>
          </a:prstGeom>
          <a:solidFill>
            <a:srgbClr val="EB5A1B"/>
          </a:solidFill>
          <a:ln w="12700">
            <a:solidFill>
              <a:srgbClr val="EB5A1B"/>
            </a:solidFill>
            <a:prstDash val="solid"/>
          </a:ln>
        </p:spPr>
      </p:sp>
      <p:sp>
        <p:nvSpPr>
          <p:cNvPr id="44" name="Text 42"/>
          <p:cNvSpPr txBox="1"/>
          <p:nvPr/>
        </p:nvSpPr>
        <p:spPr>
          <a:xfrm>
            <a:off x="2095383" y="5029200"/>
            <a:ext cx="2331720" cy="274320"/>
          </a:xfrm>
          <a:prstGeom prst="rect">
            <a:avLst/>
          </a:prstGeom>
          <a:noFill/>
          <a:ln/>
        </p:spPr>
        <p:txBody>
          <a:bodyPr wrap="square" lIns="0" tIns="0" rIns="0" bIns="0" rtlCol="0" anchor="t"/>
          <a:lstStyle/>
          <a:p>
            <a:pPr algn="l" indent="0" marL="0">
              <a:buNone/>
            </a:pPr>
            <a:r>
              <a:rPr lang="en-US" sz="1100" dirty="0">
                <a:solidFill>
                  <a:srgbClr val="222222"/>
                </a:solidFill>
                <a:latin typeface="Poppins" pitchFamily="34" charset="0"/>
                <a:ea typeface="Poppins" pitchFamily="34" charset="-122"/>
                <a:cs typeface="Poppins" pitchFamily="34" charset="-120"/>
              </a:rPr>
              <a:t>13.11. Rauchmeldertag</a:t>
            </a:r>
            <a:endParaRPr lang="en-US" sz="1100" dirty="0"/>
          </a:p>
        </p:txBody>
      </p:sp>
      <p:sp>
        <p:nvSpPr>
          <p:cNvPr id="45" name="Shape 43"/>
          <p:cNvSpPr/>
          <p:nvPr/>
        </p:nvSpPr>
        <p:spPr>
          <a:xfrm>
            <a:off x="5998464" y="4535424"/>
            <a:ext cx="164592" cy="164592"/>
          </a:xfrm>
          <a:prstGeom prst="ellipse">
            <a:avLst/>
          </a:prstGeom>
          <a:solidFill>
            <a:srgbClr val="EB5A1B"/>
          </a:solidFill>
          <a:ln w="12700">
            <a:solidFill>
              <a:srgbClr val="EB5A1B"/>
            </a:solidFill>
            <a:prstDash val="solid"/>
          </a:ln>
        </p:spPr>
      </p:sp>
      <p:sp>
        <p:nvSpPr>
          <p:cNvPr id="46" name="Text 44"/>
          <p:cNvSpPr txBox="1"/>
          <p:nvPr/>
        </p:nvSpPr>
        <p:spPr>
          <a:xfrm>
            <a:off x="6245352" y="4480560"/>
            <a:ext cx="2331720" cy="274320"/>
          </a:xfrm>
          <a:prstGeom prst="rect">
            <a:avLst/>
          </a:prstGeom>
          <a:noFill/>
          <a:ln/>
        </p:spPr>
        <p:txBody>
          <a:bodyPr wrap="square" lIns="0" tIns="0" rIns="0" bIns="0" rtlCol="0" anchor="t"/>
          <a:lstStyle/>
          <a:p>
            <a:pPr algn="l" indent="0" marL="0">
              <a:buNone/>
            </a:pPr>
            <a:r>
              <a:rPr lang="en-US" sz="1100" dirty="0">
                <a:solidFill>
                  <a:srgbClr val="222222"/>
                </a:solidFill>
                <a:latin typeface="Poppins" pitchFamily="34" charset="0"/>
                <a:ea typeface="Poppins" pitchFamily="34" charset="-122"/>
                <a:cs typeface="Poppins" pitchFamily="34" charset="-120"/>
              </a:rPr>
              <a:t>6-Monats-Review</a:t>
            </a:r>
            <a:endParaRPr lang="en-US" sz="1100" dirty="0"/>
          </a:p>
        </p:txBody>
      </p:sp>
      <p:sp>
        <p:nvSpPr>
          <p:cNvPr id="47" name="Shape 45"/>
          <p:cNvSpPr/>
          <p:nvPr/>
        </p:nvSpPr>
        <p:spPr>
          <a:xfrm>
            <a:off x="9318439" y="5084064"/>
            <a:ext cx="164592" cy="164592"/>
          </a:xfrm>
          <a:prstGeom prst="ellipse">
            <a:avLst/>
          </a:prstGeom>
          <a:solidFill>
            <a:srgbClr val="EB5A1B"/>
          </a:solidFill>
          <a:ln w="12700">
            <a:solidFill>
              <a:srgbClr val="EB5A1B"/>
            </a:solidFill>
            <a:prstDash val="solid"/>
          </a:ln>
        </p:spPr>
      </p:sp>
      <p:sp>
        <p:nvSpPr>
          <p:cNvPr id="48" name="Text 46"/>
          <p:cNvSpPr txBox="1"/>
          <p:nvPr/>
        </p:nvSpPr>
        <p:spPr>
          <a:xfrm>
            <a:off x="6886135" y="5029200"/>
            <a:ext cx="2331720" cy="274320"/>
          </a:xfrm>
          <a:prstGeom prst="rect">
            <a:avLst/>
          </a:prstGeom>
          <a:noFill/>
          <a:ln/>
        </p:spPr>
        <p:txBody>
          <a:bodyPr wrap="square" lIns="0" tIns="0" rIns="0" bIns="0" rtlCol="0" anchor="t"/>
          <a:lstStyle/>
          <a:p>
            <a:pPr algn="r" indent="0" marL="0">
              <a:buNone/>
            </a:pPr>
            <a:r>
              <a:rPr lang="en-US" sz="1100" dirty="0">
                <a:solidFill>
                  <a:srgbClr val="222222"/>
                </a:solidFill>
                <a:latin typeface="Poppins" pitchFamily="34" charset="0"/>
                <a:ea typeface="Poppins" pitchFamily="34" charset="-122"/>
                <a:cs typeface="Poppins" pitchFamily="34" charset="-120"/>
              </a:rPr>
              <a:t>13.08. Rauchmeldertag</a:t>
            </a:r>
            <a:endParaRPr lang="en-US" sz="1100" dirty="0"/>
          </a:p>
        </p:txBody>
      </p:sp>
      <p:sp>
        <p:nvSpPr>
          <p:cNvPr id="49" name="Shape 47"/>
          <p:cNvSpPr/>
          <p:nvPr/>
        </p:nvSpPr>
        <p:spPr>
          <a:xfrm>
            <a:off x="10148433" y="5632704"/>
            <a:ext cx="164592" cy="164592"/>
          </a:xfrm>
          <a:prstGeom prst="ellipse">
            <a:avLst/>
          </a:prstGeom>
          <a:solidFill>
            <a:srgbClr val="EB5A1B"/>
          </a:solidFill>
          <a:ln w="12700">
            <a:solidFill>
              <a:srgbClr val="EB5A1B"/>
            </a:solidFill>
            <a:prstDash val="solid"/>
          </a:ln>
        </p:spPr>
      </p:sp>
      <p:sp>
        <p:nvSpPr>
          <p:cNvPr id="50" name="Text 48"/>
          <p:cNvSpPr txBox="1"/>
          <p:nvPr/>
        </p:nvSpPr>
        <p:spPr>
          <a:xfrm>
            <a:off x="7716129" y="5577840"/>
            <a:ext cx="2331720" cy="274320"/>
          </a:xfrm>
          <a:prstGeom prst="rect">
            <a:avLst/>
          </a:prstGeom>
          <a:noFill/>
          <a:ln/>
        </p:spPr>
        <p:txBody>
          <a:bodyPr wrap="square" lIns="0" tIns="0" rIns="0" bIns="0" rtlCol="0" anchor="t"/>
          <a:lstStyle/>
          <a:p>
            <a:pPr algn="r" indent="0" marL="0">
              <a:buNone/>
            </a:pPr>
            <a:r>
              <a:rPr lang="en-US" sz="1100" dirty="0">
                <a:solidFill>
                  <a:srgbClr val="222222"/>
                </a:solidFill>
                <a:latin typeface="Poppins" pitchFamily="34" charset="0"/>
                <a:ea typeface="Poppins" pitchFamily="34" charset="-122"/>
                <a:cs typeface="Poppins" pitchFamily="34" charset="-120"/>
              </a:rPr>
              <a:t>Ausbildungsstart</a:t>
            </a:r>
            <a:endParaRPr lang="en-US" sz="1100" dirty="0"/>
          </a:p>
        </p:txBody>
      </p:sp>
      <p:sp>
        <p:nvSpPr>
          <p:cNvPr id="51" name="Shape 49"/>
          <p:cNvSpPr/>
          <p:nvPr/>
        </p:nvSpPr>
        <p:spPr>
          <a:xfrm>
            <a:off x="10978427" y="4535424"/>
            <a:ext cx="164592" cy="164592"/>
          </a:xfrm>
          <a:prstGeom prst="ellipse">
            <a:avLst/>
          </a:prstGeom>
          <a:solidFill>
            <a:srgbClr val="EB5A1B"/>
          </a:solidFill>
          <a:ln w="12700">
            <a:solidFill>
              <a:srgbClr val="EB5A1B"/>
            </a:solidFill>
            <a:prstDash val="solid"/>
          </a:ln>
        </p:spPr>
      </p:sp>
      <p:sp>
        <p:nvSpPr>
          <p:cNvPr id="52" name="Text 50"/>
          <p:cNvSpPr txBox="1"/>
          <p:nvPr/>
        </p:nvSpPr>
        <p:spPr>
          <a:xfrm>
            <a:off x="8546123" y="4480560"/>
            <a:ext cx="2331720" cy="274320"/>
          </a:xfrm>
          <a:prstGeom prst="rect">
            <a:avLst/>
          </a:prstGeom>
          <a:noFill/>
          <a:ln/>
        </p:spPr>
        <p:txBody>
          <a:bodyPr wrap="square" lIns="0" tIns="0" rIns="0" bIns="0" rtlCol="0" anchor="t"/>
          <a:lstStyle/>
          <a:p>
            <a:pPr algn="r" indent="0" marL="0">
              <a:buNone/>
            </a:pPr>
            <a:r>
              <a:rPr lang="en-US" sz="1100" dirty="0">
                <a:solidFill>
                  <a:srgbClr val="222222"/>
                </a:solidFill>
                <a:latin typeface="Poppins" pitchFamily="34" charset="0"/>
                <a:ea typeface="Poppins" pitchFamily="34" charset="-122"/>
                <a:cs typeface="Poppins" pitchFamily="34" charset="-120"/>
              </a:rPr>
              <a:t>31.10.2027 Jahresbilanz</a:t>
            </a:r>
            <a:endParaRPr lang="en-US" sz="1100" dirty="0"/>
          </a:p>
        </p:txBody>
      </p:sp>
      <p:pic>
        <p:nvPicPr>
          <p:cNvPr id="53"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54" name="Text 51"/>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B5A1B"/>
        </a:solidFill>
      </p:bgPr>
    </p:bg>
    <p:spTree>
      <p:nvGrpSpPr>
        <p:cNvPr id="1" name=""/>
        <p:cNvGrpSpPr/>
        <p:nvPr/>
      </p:nvGrpSpPr>
      <p:grpSpPr>
        <a:xfrm>
          <a:off x="0" y="0"/>
          <a:ext cx="0" cy="0"/>
          <a:chOff x="0" y="0"/>
          <a:chExt cx="0" cy="0"/>
        </a:xfrm>
      </p:grpSpPr>
      <p:pic>
        <p:nvPicPr>
          <p:cNvPr id="2" name="Image 0" descr="/tmp/claude-0/-home-user-Marlene/67342075-d45e-5dfd-8246-b97e829a8c42/scratchpad/deck/img/waves-k.png">    </p:cNvPr>
          <p:cNvPicPr>
            <a:picLocks noChangeAspect="1"/>
          </p:cNvPicPr>
          <p:nvPr/>
        </p:nvPicPr>
        <p:blipFill>
          <a:blip r:embed="rId1"/>
          <a:stretch>
            <a:fillRect/>
          </a:stretch>
        </p:blipFill>
        <p:spPr>
          <a:xfrm>
            <a:off x="8503920" y="2926080"/>
            <a:ext cx="4206240" cy="4206240"/>
          </a:xfrm>
          <a:prstGeom prst="rect">
            <a:avLst/>
          </a:prstGeom>
        </p:spPr>
      </p:pic>
      <p:sp>
        <p:nvSpPr>
          <p:cNvPr id="3" name="Shape 0"/>
          <p:cNvSpPr/>
          <p:nvPr/>
        </p:nvSpPr>
        <p:spPr>
          <a:xfrm>
            <a:off x="685800" y="566928"/>
            <a:ext cx="146304" cy="146304"/>
          </a:xfrm>
          <a:prstGeom prst="ellipse">
            <a:avLst/>
          </a:prstGeom>
          <a:solidFill>
            <a:srgbClr val="111111"/>
          </a:solidFill>
          <a:ln w="12700">
            <a:solidFill>
              <a:srgbClr val="111111"/>
            </a:solidFill>
            <a:prstDash val="solid"/>
          </a:ln>
        </p:spPr>
      </p:sp>
      <p:sp>
        <p:nvSpPr>
          <p:cNvPr id="4"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111111"/>
                </a:solidFill>
                <a:latin typeface="Poppins Light" pitchFamily="34" charset="0"/>
                <a:ea typeface="Poppins Light" pitchFamily="34" charset="-122"/>
                <a:cs typeface="Poppins Light" pitchFamily="34" charset="-120"/>
              </a:rPr>
              <a:t>14 · RECRUITING-KAMPAGNE</a:t>
            </a:r>
            <a:endParaRPr lang="en-US" sz="1200" dirty="0"/>
          </a:p>
        </p:txBody>
      </p:sp>
      <p:sp>
        <p:nvSpPr>
          <p:cNvPr id="5" name="Text 2"/>
          <p:cNvSpPr txBox="1"/>
          <p:nvPr/>
        </p:nvSpPr>
        <p:spPr>
          <a:xfrm>
            <a:off x="685800" y="868680"/>
            <a:ext cx="10058400" cy="822960"/>
          </a:xfrm>
          <a:prstGeom prst="rect">
            <a:avLst/>
          </a:prstGeom>
          <a:noFill/>
          <a:ln/>
        </p:spPr>
        <p:txBody>
          <a:bodyPr wrap="square" lIns="0" tIns="0" rIns="0" bIns="0" rtlCol="0" anchor="ctr"/>
          <a:lstStyle/>
          <a:p>
            <a:pPr indent="0" marL="0">
              <a:buNone/>
            </a:pPr>
            <a:r>
              <a:rPr lang="en-US" sz="3800" dirty="0">
                <a:solidFill>
                  <a:srgbClr val="FFFFFF"/>
                </a:solidFill>
                <a:latin typeface="Poppins ExtraBold" pitchFamily="34" charset="0"/>
                <a:ea typeface="Poppins ExtraBold" pitchFamily="34" charset="-122"/>
                <a:cs typeface="Poppins ExtraBold" pitchFamily="34" charset="-120"/>
              </a:rPr>
              <a:t>Mach Alarm. </a:t>
            </a:r>
            <a:pPr indent="0" marL="0">
              <a:buNone/>
            </a:pPr>
            <a:r>
              <a:rPr lang="en-US" sz="3800" dirty="0">
                <a:solidFill>
                  <a:srgbClr val="111111"/>
                </a:solidFill>
                <a:latin typeface="Poppins ExtraBold" pitchFamily="34" charset="0"/>
                <a:ea typeface="Poppins ExtraBold" pitchFamily="34" charset="-122"/>
                <a:cs typeface="Poppins ExtraBold" pitchFamily="34" charset="-120"/>
              </a:rPr>
              <a:t>Beruflich.</a:t>
            </a:r>
            <a:endParaRPr lang="en-US" sz="3800" dirty="0"/>
          </a:p>
        </p:txBody>
      </p:sp>
      <p:sp>
        <p:nvSpPr>
          <p:cNvPr id="6" name="Shape 3"/>
          <p:cNvSpPr/>
          <p:nvPr/>
        </p:nvSpPr>
        <p:spPr>
          <a:xfrm>
            <a:off x="685800" y="1920240"/>
            <a:ext cx="2514600" cy="2651760"/>
          </a:xfrm>
          <a:prstGeom prst="roundRect">
            <a:avLst>
              <a:gd name="adj" fmla="val 4364"/>
            </a:avLst>
          </a:prstGeom>
          <a:solidFill>
            <a:srgbClr val="111111"/>
          </a:solidFill>
          <a:ln w="12700">
            <a:solidFill>
              <a:srgbClr val="111111"/>
            </a:solidFill>
            <a:prstDash val="solid"/>
          </a:ln>
        </p:spPr>
      </p:sp>
      <p:sp>
        <p:nvSpPr>
          <p:cNvPr id="7" name="Text 4"/>
          <p:cNvSpPr txBox="1"/>
          <p:nvPr/>
        </p:nvSpPr>
        <p:spPr>
          <a:xfrm>
            <a:off x="914400" y="2103120"/>
            <a:ext cx="2103120" cy="320040"/>
          </a:xfrm>
          <a:prstGeom prst="rect">
            <a:avLst/>
          </a:prstGeom>
          <a:noFill/>
          <a:ln/>
        </p:spPr>
        <p:txBody>
          <a:bodyPr wrap="square" lIns="0" tIns="0" rIns="0" bIns="0" rtlCol="0" anchor="t"/>
          <a:lstStyle/>
          <a:p>
            <a:pPr indent="0" marL="0">
              <a:buNone/>
            </a:pPr>
            <a:r>
              <a:rPr lang="en-US" sz="1400" dirty="0">
                <a:solidFill>
                  <a:srgbClr val="EB5A1B"/>
                </a:solidFill>
                <a:latin typeface="Poppins SemiBold" pitchFamily="34" charset="0"/>
                <a:ea typeface="Poppins SemiBold" pitchFamily="34" charset="-122"/>
                <a:cs typeface="Poppins SemiBold" pitchFamily="34" charset="-120"/>
              </a:rPr>
              <a:t>1 · Aufmerksamkeit</a:t>
            </a:r>
            <a:endParaRPr lang="en-US" sz="1400" dirty="0"/>
          </a:p>
        </p:txBody>
      </p:sp>
      <p:sp>
        <p:nvSpPr>
          <p:cNvPr id="8" name="Text 5"/>
          <p:cNvSpPr txBox="1"/>
          <p:nvPr/>
        </p:nvSpPr>
        <p:spPr>
          <a:xfrm>
            <a:off x="914400" y="2468880"/>
            <a:ext cx="2103120" cy="274320"/>
          </a:xfrm>
          <a:prstGeom prst="rect">
            <a:avLst/>
          </a:prstGeom>
          <a:noFill/>
          <a:ln/>
        </p:spPr>
        <p:txBody>
          <a:bodyPr wrap="square" lIns="0" tIns="0" rIns="0" bIns="0" rtlCol="0" anchor="t"/>
          <a:lstStyle/>
          <a:p>
            <a:pPr indent="0" marL="0">
              <a:buNone/>
            </a:pPr>
            <a:r>
              <a:rPr lang="en-US" sz="1100" dirty="0">
                <a:solidFill>
                  <a:srgbClr val="B4B5BB"/>
                </a:solidFill>
                <a:latin typeface="Poppins" pitchFamily="34" charset="0"/>
                <a:ea typeface="Poppins" pitchFamily="34" charset="-122"/>
                <a:cs typeface="Poppins" pitchFamily="34" charset="-120"/>
              </a:rPr>
              <a:t>Jan.–Feb.</a:t>
            </a:r>
            <a:endParaRPr lang="en-US" sz="1100" dirty="0"/>
          </a:p>
        </p:txBody>
      </p:sp>
      <p:sp>
        <p:nvSpPr>
          <p:cNvPr id="9" name="Text 6"/>
          <p:cNvSpPr txBox="1"/>
          <p:nvPr/>
        </p:nvSpPr>
        <p:spPr>
          <a:xfrm>
            <a:off x="914400" y="2880360"/>
            <a:ext cx="2103120" cy="1005840"/>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„Frag den Azubi“, Tag als Azubi, Technik-Reels</a:t>
            </a:r>
            <a:endParaRPr lang="en-US" sz="1200" dirty="0"/>
          </a:p>
        </p:txBody>
      </p:sp>
      <p:sp>
        <p:nvSpPr>
          <p:cNvPr id="10" name="Text 7"/>
          <p:cNvSpPr txBox="1"/>
          <p:nvPr/>
        </p:nvSpPr>
        <p:spPr>
          <a:xfrm>
            <a:off x="914400" y="4069080"/>
            <a:ext cx="21031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organisch</a:t>
            </a:r>
            <a:endParaRPr lang="en-US" sz="1300" dirty="0"/>
          </a:p>
        </p:txBody>
      </p:sp>
      <p:sp>
        <p:nvSpPr>
          <p:cNvPr id="11" name="Shape 8"/>
          <p:cNvSpPr/>
          <p:nvPr/>
        </p:nvSpPr>
        <p:spPr>
          <a:xfrm>
            <a:off x="3383280" y="1920240"/>
            <a:ext cx="2514600" cy="2651760"/>
          </a:xfrm>
          <a:prstGeom prst="roundRect">
            <a:avLst>
              <a:gd name="adj" fmla="val 4364"/>
            </a:avLst>
          </a:prstGeom>
          <a:solidFill>
            <a:srgbClr val="111111"/>
          </a:solidFill>
          <a:ln w="12700">
            <a:solidFill>
              <a:srgbClr val="111111"/>
            </a:solidFill>
            <a:prstDash val="solid"/>
          </a:ln>
        </p:spPr>
      </p:sp>
      <p:sp>
        <p:nvSpPr>
          <p:cNvPr id="12" name="Text 9"/>
          <p:cNvSpPr txBox="1"/>
          <p:nvPr/>
        </p:nvSpPr>
        <p:spPr>
          <a:xfrm>
            <a:off x="3611880" y="2103120"/>
            <a:ext cx="2103120" cy="320040"/>
          </a:xfrm>
          <a:prstGeom prst="rect">
            <a:avLst/>
          </a:prstGeom>
          <a:noFill/>
          <a:ln/>
        </p:spPr>
        <p:txBody>
          <a:bodyPr wrap="square" lIns="0" tIns="0" rIns="0" bIns="0" rtlCol="0" anchor="t"/>
          <a:lstStyle/>
          <a:p>
            <a:pPr indent="0" marL="0">
              <a:buNone/>
            </a:pPr>
            <a:r>
              <a:rPr lang="en-US" sz="1400" dirty="0">
                <a:solidFill>
                  <a:srgbClr val="EB5A1B"/>
                </a:solidFill>
                <a:latin typeface="Poppins SemiBold" pitchFamily="34" charset="0"/>
                <a:ea typeface="Poppins SemiBold" pitchFamily="34" charset="-122"/>
                <a:cs typeface="Poppins SemiBold" pitchFamily="34" charset="-120"/>
              </a:rPr>
              <a:t>2 · Bewerbung</a:t>
            </a:r>
            <a:endParaRPr lang="en-US" sz="1400" dirty="0"/>
          </a:p>
        </p:txBody>
      </p:sp>
      <p:sp>
        <p:nvSpPr>
          <p:cNvPr id="13" name="Text 10"/>
          <p:cNvSpPr txBox="1"/>
          <p:nvPr/>
        </p:nvSpPr>
        <p:spPr>
          <a:xfrm>
            <a:off x="3611880" y="2468880"/>
            <a:ext cx="2103120" cy="274320"/>
          </a:xfrm>
          <a:prstGeom prst="rect">
            <a:avLst/>
          </a:prstGeom>
          <a:noFill/>
          <a:ln/>
        </p:spPr>
        <p:txBody>
          <a:bodyPr wrap="square" lIns="0" tIns="0" rIns="0" bIns="0" rtlCol="0" anchor="t"/>
          <a:lstStyle/>
          <a:p>
            <a:pPr indent="0" marL="0">
              <a:buNone/>
            </a:pPr>
            <a:r>
              <a:rPr lang="en-US" sz="1100" dirty="0">
                <a:solidFill>
                  <a:srgbClr val="B4B5BB"/>
                </a:solidFill>
                <a:latin typeface="Poppins" pitchFamily="34" charset="0"/>
                <a:ea typeface="Poppins" pitchFamily="34" charset="-122"/>
                <a:cs typeface="Poppins" pitchFamily="34" charset="-120"/>
              </a:rPr>
              <a:t>Feb.–Apr.</a:t>
            </a:r>
            <a:endParaRPr lang="en-US" sz="1100" dirty="0"/>
          </a:p>
        </p:txBody>
      </p:sp>
      <p:sp>
        <p:nvSpPr>
          <p:cNvPr id="14" name="Text 11"/>
          <p:cNvSpPr txBox="1"/>
          <p:nvPr/>
        </p:nvSpPr>
        <p:spPr>
          <a:xfrm>
            <a:off x="3611880" y="2880360"/>
            <a:ext cx="2103120" cy="1005840"/>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Beste Reels werden beworben, Karussell „Ausbildung in 6 Slides“</a:t>
            </a:r>
            <a:endParaRPr lang="en-US" sz="1200" dirty="0"/>
          </a:p>
        </p:txBody>
      </p:sp>
      <p:sp>
        <p:nvSpPr>
          <p:cNvPr id="15" name="Text 12"/>
          <p:cNvSpPr txBox="1"/>
          <p:nvPr/>
        </p:nvSpPr>
        <p:spPr>
          <a:xfrm>
            <a:off x="3611880" y="4069080"/>
            <a:ext cx="21031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250 €/Monat</a:t>
            </a:r>
            <a:endParaRPr lang="en-US" sz="1300" dirty="0"/>
          </a:p>
        </p:txBody>
      </p:sp>
      <p:sp>
        <p:nvSpPr>
          <p:cNvPr id="16" name="Shape 13"/>
          <p:cNvSpPr/>
          <p:nvPr/>
        </p:nvSpPr>
        <p:spPr>
          <a:xfrm>
            <a:off x="6080760" y="1920240"/>
            <a:ext cx="2514600" cy="2651760"/>
          </a:xfrm>
          <a:prstGeom prst="roundRect">
            <a:avLst>
              <a:gd name="adj" fmla="val 4364"/>
            </a:avLst>
          </a:prstGeom>
          <a:solidFill>
            <a:srgbClr val="111111"/>
          </a:solidFill>
          <a:ln w="12700">
            <a:solidFill>
              <a:srgbClr val="111111"/>
            </a:solidFill>
            <a:prstDash val="solid"/>
          </a:ln>
        </p:spPr>
      </p:sp>
      <p:sp>
        <p:nvSpPr>
          <p:cNvPr id="17" name="Text 14"/>
          <p:cNvSpPr txBox="1"/>
          <p:nvPr/>
        </p:nvSpPr>
        <p:spPr>
          <a:xfrm>
            <a:off x="6309360" y="2103120"/>
            <a:ext cx="2103120" cy="320040"/>
          </a:xfrm>
          <a:prstGeom prst="rect">
            <a:avLst/>
          </a:prstGeom>
          <a:noFill/>
          <a:ln/>
        </p:spPr>
        <p:txBody>
          <a:bodyPr wrap="square" lIns="0" tIns="0" rIns="0" bIns="0" rtlCol="0" anchor="t"/>
          <a:lstStyle/>
          <a:p>
            <a:pPr indent="0" marL="0">
              <a:buNone/>
            </a:pPr>
            <a:r>
              <a:rPr lang="en-US" sz="1400" dirty="0">
                <a:solidFill>
                  <a:srgbClr val="EB5A1B"/>
                </a:solidFill>
                <a:latin typeface="Poppins SemiBold" pitchFamily="34" charset="0"/>
                <a:ea typeface="Poppins SemiBold" pitchFamily="34" charset="-122"/>
                <a:cs typeface="Poppins SemiBold" pitchFamily="34" charset="-120"/>
              </a:rPr>
              <a:t>3 · Messe &amp; Herbst</a:t>
            </a:r>
            <a:endParaRPr lang="en-US" sz="1400" dirty="0"/>
          </a:p>
        </p:txBody>
      </p:sp>
      <p:sp>
        <p:nvSpPr>
          <p:cNvPr id="18" name="Text 15"/>
          <p:cNvSpPr txBox="1"/>
          <p:nvPr/>
        </p:nvSpPr>
        <p:spPr>
          <a:xfrm>
            <a:off x="6309360" y="2468880"/>
            <a:ext cx="2103120" cy="274320"/>
          </a:xfrm>
          <a:prstGeom prst="rect">
            <a:avLst/>
          </a:prstGeom>
          <a:noFill/>
          <a:ln/>
        </p:spPr>
        <p:txBody>
          <a:bodyPr wrap="square" lIns="0" tIns="0" rIns="0" bIns="0" rtlCol="0" anchor="t"/>
          <a:lstStyle/>
          <a:p>
            <a:pPr indent="0" marL="0">
              <a:buNone/>
            </a:pPr>
            <a:r>
              <a:rPr lang="en-US" sz="1100" dirty="0">
                <a:solidFill>
                  <a:srgbClr val="B4B5BB"/>
                </a:solidFill>
                <a:latin typeface="Poppins" pitchFamily="34" charset="0"/>
                <a:ea typeface="Poppins" pitchFamily="34" charset="-122"/>
                <a:cs typeface="Poppins" pitchFamily="34" charset="-120"/>
              </a:rPr>
              <a:t>Sep.–Okt.</a:t>
            </a:r>
            <a:endParaRPr lang="en-US" sz="1100" dirty="0"/>
          </a:p>
        </p:txBody>
      </p:sp>
      <p:sp>
        <p:nvSpPr>
          <p:cNvPr id="19" name="Text 16"/>
          <p:cNvSpPr txBox="1"/>
          <p:nvPr/>
        </p:nvSpPr>
        <p:spPr>
          <a:xfrm>
            <a:off x="6309360" y="2880360"/>
            <a:ext cx="2103120" cy="1005840"/>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Ausbildungsplatzbörse, neue Azubis stellen sich vor</a:t>
            </a:r>
            <a:endParaRPr lang="en-US" sz="1200" dirty="0"/>
          </a:p>
        </p:txBody>
      </p:sp>
      <p:sp>
        <p:nvSpPr>
          <p:cNvPr id="20" name="Text 17"/>
          <p:cNvSpPr txBox="1"/>
          <p:nvPr/>
        </p:nvSpPr>
        <p:spPr>
          <a:xfrm>
            <a:off x="6309360" y="4069080"/>
            <a:ext cx="21031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200 €/Monat</a:t>
            </a:r>
            <a:endParaRPr lang="en-US" sz="1300" dirty="0"/>
          </a:p>
        </p:txBody>
      </p:sp>
      <p:sp>
        <p:nvSpPr>
          <p:cNvPr id="21" name="Shape 18"/>
          <p:cNvSpPr/>
          <p:nvPr/>
        </p:nvSpPr>
        <p:spPr>
          <a:xfrm>
            <a:off x="8778240" y="1920240"/>
            <a:ext cx="2514600" cy="2651760"/>
          </a:xfrm>
          <a:prstGeom prst="roundRect">
            <a:avLst>
              <a:gd name="adj" fmla="val 4364"/>
            </a:avLst>
          </a:prstGeom>
          <a:solidFill>
            <a:srgbClr val="111111"/>
          </a:solidFill>
          <a:ln w="12700">
            <a:solidFill>
              <a:srgbClr val="111111"/>
            </a:solidFill>
            <a:prstDash val="solid"/>
          </a:ln>
        </p:spPr>
      </p:sp>
      <p:sp>
        <p:nvSpPr>
          <p:cNvPr id="22" name="Text 19"/>
          <p:cNvSpPr txBox="1"/>
          <p:nvPr/>
        </p:nvSpPr>
        <p:spPr>
          <a:xfrm>
            <a:off x="9006840" y="2103120"/>
            <a:ext cx="2103120" cy="320040"/>
          </a:xfrm>
          <a:prstGeom prst="rect">
            <a:avLst/>
          </a:prstGeom>
          <a:noFill/>
          <a:ln/>
        </p:spPr>
        <p:txBody>
          <a:bodyPr wrap="square" lIns="0" tIns="0" rIns="0" bIns="0" rtlCol="0" anchor="t"/>
          <a:lstStyle/>
          <a:p>
            <a:pPr indent="0" marL="0">
              <a:buNone/>
            </a:pPr>
            <a:r>
              <a:rPr lang="en-US" sz="1400" dirty="0">
                <a:solidFill>
                  <a:srgbClr val="EB5A1B"/>
                </a:solidFill>
                <a:latin typeface="Poppins SemiBold" pitchFamily="34" charset="0"/>
                <a:ea typeface="Poppins SemiBold" pitchFamily="34" charset="-122"/>
                <a:cs typeface="Poppins SemiBold" pitchFamily="34" charset="-120"/>
              </a:rPr>
              <a:t>Fachkräfte</a:t>
            </a:r>
            <a:endParaRPr lang="en-US" sz="1400" dirty="0"/>
          </a:p>
        </p:txBody>
      </p:sp>
      <p:sp>
        <p:nvSpPr>
          <p:cNvPr id="23" name="Text 20"/>
          <p:cNvSpPr txBox="1"/>
          <p:nvPr/>
        </p:nvSpPr>
        <p:spPr>
          <a:xfrm>
            <a:off x="9006840" y="2468880"/>
            <a:ext cx="2103120" cy="274320"/>
          </a:xfrm>
          <a:prstGeom prst="rect">
            <a:avLst/>
          </a:prstGeom>
          <a:noFill/>
          <a:ln/>
        </p:spPr>
        <p:txBody>
          <a:bodyPr wrap="square" lIns="0" tIns="0" rIns="0" bIns="0" rtlCol="0" anchor="t"/>
          <a:lstStyle/>
          <a:p>
            <a:pPr indent="0" marL="0">
              <a:buNone/>
            </a:pPr>
            <a:r>
              <a:rPr lang="en-US" sz="1100" dirty="0">
                <a:solidFill>
                  <a:srgbClr val="B4B5BB"/>
                </a:solidFill>
                <a:latin typeface="Poppins" pitchFamily="34" charset="0"/>
                <a:ea typeface="Poppins" pitchFamily="34" charset="-122"/>
                <a:cs typeface="Poppins" pitchFamily="34" charset="-120"/>
              </a:rPr>
              <a:t>bei offenen Stellen</a:t>
            </a:r>
            <a:endParaRPr lang="en-US" sz="1100" dirty="0"/>
          </a:p>
        </p:txBody>
      </p:sp>
      <p:sp>
        <p:nvSpPr>
          <p:cNvPr id="24" name="Text 21"/>
          <p:cNvSpPr txBox="1"/>
          <p:nvPr/>
        </p:nvSpPr>
        <p:spPr>
          <a:xfrm>
            <a:off x="9006840" y="2880360"/>
            <a:ext cx="2103120" cy="1005840"/>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„Kollege erzählt“, Einblick Leitstelle</a:t>
            </a:r>
            <a:endParaRPr lang="en-US" sz="1200" dirty="0"/>
          </a:p>
        </p:txBody>
      </p:sp>
      <p:sp>
        <p:nvSpPr>
          <p:cNvPr id="25" name="Text 22"/>
          <p:cNvSpPr txBox="1"/>
          <p:nvPr/>
        </p:nvSpPr>
        <p:spPr>
          <a:xfrm>
            <a:off x="9006840" y="4069080"/>
            <a:ext cx="2103120" cy="320040"/>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150 €/Monat</a:t>
            </a:r>
            <a:endParaRPr lang="en-US" sz="1300" dirty="0"/>
          </a:p>
        </p:txBody>
      </p:sp>
      <p:sp>
        <p:nvSpPr>
          <p:cNvPr id="26" name="Shape 23"/>
          <p:cNvSpPr/>
          <p:nvPr/>
        </p:nvSpPr>
        <p:spPr>
          <a:xfrm>
            <a:off x="685800" y="4892040"/>
            <a:ext cx="3566160" cy="548640"/>
          </a:xfrm>
          <a:prstGeom prst="roundRect">
            <a:avLst>
              <a:gd name="adj" fmla="val 20000"/>
            </a:avLst>
          </a:prstGeom>
          <a:solidFill>
            <a:srgbClr val="111111"/>
          </a:solidFill>
          <a:ln w="12700">
            <a:solidFill>
              <a:srgbClr val="111111"/>
            </a:solidFill>
            <a:prstDash val="solid"/>
          </a:ln>
        </p:spPr>
      </p:sp>
      <p:sp>
        <p:nvSpPr>
          <p:cNvPr id="27" name="Text 24"/>
          <p:cNvSpPr txBox="1"/>
          <p:nvPr/>
        </p:nvSpPr>
        <p:spPr>
          <a:xfrm>
            <a:off x="685800" y="4892040"/>
            <a:ext cx="3566160" cy="548640"/>
          </a:xfrm>
          <a:prstGeom prst="rect">
            <a:avLst/>
          </a:prstGeom>
          <a:noFill/>
          <a:ln/>
        </p:spPr>
        <p:txBody>
          <a:bodyPr wrap="square" lIns="0" tIns="0" rIns="0" bIns="0" rtlCol="0" anchor="ctr"/>
          <a:lstStyle/>
          <a:p>
            <a:pPr algn="ctr" indent="0" marL="0">
              <a:buNone/>
            </a:pPr>
            <a:r>
              <a:rPr lang="en-US" sz="1300" dirty="0">
                <a:solidFill>
                  <a:srgbClr val="FFFFFF"/>
                </a:solidFill>
                <a:latin typeface="Poppins SemiBold" pitchFamily="34" charset="0"/>
                <a:ea typeface="Poppins SemiBold" pitchFamily="34" charset="-122"/>
                <a:cs typeface="Poppins SemiBold" pitchFamily="34" charset="-120"/>
              </a:rPr>
              <a:t>Azubis → Praktikum per WhatsApp</a:t>
            </a:r>
            <a:endParaRPr lang="en-US" sz="1300" dirty="0"/>
          </a:p>
        </p:txBody>
      </p:sp>
      <p:sp>
        <p:nvSpPr>
          <p:cNvPr id="28" name="Shape 25"/>
          <p:cNvSpPr/>
          <p:nvPr/>
        </p:nvSpPr>
        <p:spPr>
          <a:xfrm>
            <a:off x="4434840" y="4892040"/>
            <a:ext cx="3566160" cy="548640"/>
          </a:xfrm>
          <a:prstGeom prst="roundRect">
            <a:avLst>
              <a:gd name="adj" fmla="val 20000"/>
            </a:avLst>
          </a:prstGeom>
          <a:solidFill>
            <a:srgbClr val="111111"/>
          </a:solidFill>
          <a:ln w="12700">
            <a:solidFill>
              <a:srgbClr val="111111"/>
            </a:solidFill>
            <a:prstDash val="solid"/>
          </a:ln>
        </p:spPr>
      </p:sp>
      <p:sp>
        <p:nvSpPr>
          <p:cNvPr id="29" name="Text 26"/>
          <p:cNvSpPr txBox="1"/>
          <p:nvPr/>
        </p:nvSpPr>
        <p:spPr>
          <a:xfrm>
            <a:off x="4434840" y="4892040"/>
            <a:ext cx="3566160" cy="548640"/>
          </a:xfrm>
          <a:prstGeom prst="rect">
            <a:avLst/>
          </a:prstGeom>
          <a:noFill/>
          <a:ln/>
        </p:spPr>
        <p:txBody>
          <a:bodyPr wrap="square" lIns="0" tIns="0" rIns="0" bIns="0" rtlCol="0" anchor="ctr"/>
          <a:lstStyle/>
          <a:p>
            <a:pPr algn="ctr" indent="0" marL="0">
              <a:buNone/>
            </a:pPr>
            <a:r>
              <a:rPr lang="en-US" sz="1300" dirty="0">
                <a:solidFill>
                  <a:srgbClr val="FFFFFF"/>
                </a:solidFill>
                <a:latin typeface="Poppins SemiBold" pitchFamily="34" charset="0"/>
                <a:ea typeface="Poppins SemiBold" pitchFamily="34" charset="-122"/>
                <a:cs typeface="Poppins SemiBold" pitchFamily="34" charset="-120"/>
              </a:rPr>
              <a:t>Fachkräfte → Bewerbung in 60 Sekunden</a:t>
            </a:r>
            <a:endParaRPr lang="en-US" sz="1300" dirty="0"/>
          </a:p>
        </p:txBody>
      </p:sp>
      <p:sp>
        <p:nvSpPr>
          <p:cNvPr id="30" name="Text 27"/>
          <p:cNvSpPr txBox="1"/>
          <p:nvPr/>
        </p:nvSpPr>
        <p:spPr>
          <a:xfrm>
            <a:off x="685800" y="5623560"/>
            <a:ext cx="7589520" cy="457200"/>
          </a:xfrm>
          <a:prstGeom prst="rect">
            <a:avLst/>
          </a:prstGeom>
          <a:noFill/>
          <a:ln/>
        </p:spPr>
        <p:txBody>
          <a:bodyPr wrap="square" lIns="0" tIns="0" rIns="0" bIns="0" rtlCol="0" anchor="t"/>
          <a:lstStyle/>
          <a:p>
            <a:pPr indent="0" marL="0">
              <a:buNone/>
            </a:pPr>
            <a:r>
              <a:rPr lang="en-US" sz="1100" dirty="0">
                <a:solidFill>
                  <a:srgbClr val="111111"/>
                </a:solidFill>
                <a:latin typeface="Poppins" pitchFamily="34" charset="0"/>
                <a:ea typeface="Poppins" pitchFamily="34" charset="-122"/>
                <a:cs typeface="Poppins" pitchFamily="34" charset="-120"/>
              </a:rPr>
              <a:t>Anzeigen immer (m/w/d), ohne Ausschluss nach Alter oder Geschlecht (AGG). Angesprochen wird über Region, Interessen und Gestaltung.</a:t>
            </a:r>
            <a:endParaRPr lang="en-US" sz="1100" dirty="0"/>
          </a:p>
        </p:txBody>
      </p:sp>
      <p:pic>
        <p:nvPicPr>
          <p:cNvPr id="31" name="Image 1" descr="/home/user/Marlene/poleschak-social-media/assets/logo-transparent.png">    </p:cNvPr>
          <p:cNvPicPr>
            <a:picLocks noChangeAspect="1"/>
          </p:cNvPicPr>
          <p:nvPr/>
        </p:nvPicPr>
        <p:blipFill>
          <a:blip r:embed="rId2"/>
          <a:stretch>
            <a:fillRect/>
          </a:stretch>
        </p:blipFill>
        <p:spPr>
          <a:xfrm>
            <a:off x="685800" y="6291072"/>
            <a:ext cx="643680" cy="329184"/>
          </a:xfrm>
          <a:prstGeom prst="rect">
            <a:avLst/>
          </a:prstGeom>
        </p:spPr>
      </p:pic>
      <p:sp>
        <p:nvSpPr>
          <p:cNvPr id="32" name="Text 28"/>
          <p:cNvSpPr txBox="1"/>
          <p:nvPr/>
        </p:nvSpPr>
        <p:spPr>
          <a:xfrm>
            <a:off x="10591495" y="6355080"/>
            <a:ext cx="914400" cy="274320"/>
          </a:xfrm>
          <a:prstGeom prst="rect">
            <a:avLst/>
          </a:prstGeom>
          <a:noFill/>
          <a:ln/>
        </p:spPr>
        <p:txBody>
          <a:bodyPr wrap="square" lIns="0" tIns="0" rIns="0" bIns="0" rtlCol="0" anchor="t"/>
          <a:lstStyle/>
          <a:p>
            <a:pPr algn="r" indent="0" marL="0">
              <a:buNone/>
            </a:pPr>
            <a:r>
              <a:rPr lang="en-US" sz="1100" spc="300" kern="0" dirty="0">
                <a:solidFill>
                  <a:srgbClr val="111111"/>
                </a:solidFill>
                <a:latin typeface="Poppins Light" pitchFamily="34" charset="0"/>
                <a:ea typeface="Poppins Light" pitchFamily="34" charset="-122"/>
                <a:cs typeface="Poppins Light"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15 · KUNDEN &amp; WERBUNG</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Werbung,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bewusst einfach.</a:t>
            </a:r>
            <a:endParaRPr lang="en-US" sz="3400" dirty="0"/>
          </a:p>
        </p:txBody>
      </p:sp>
      <p:sp>
        <p:nvSpPr>
          <p:cNvPr id="5" name="Shape 3"/>
          <p:cNvSpPr/>
          <p:nvPr/>
        </p:nvSpPr>
        <p:spPr>
          <a:xfrm>
            <a:off x="685800" y="1828800"/>
            <a:ext cx="5120640" cy="3977640"/>
          </a:xfrm>
          <a:prstGeom prst="roundRect">
            <a:avLst>
              <a:gd name="adj" fmla="val 2759"/>
            </a:avLst>
          </a:prstGeom>
          <a:solidFill>
            <a:srgbClr val="111111"/>
          </a:solidFill>
          <a:ln w="12700">
            <a:solidFill>
              <a:srgbClr val="111111"/>
            </a:solidFill>
            <a:prstDash val="solid"/>
          </a:ln>
        </p:spPr>
      </p:sp>
      <p:sp>
        <p:nvSpPr>
          <p:cNvPr id="6" name="Text 4"/>
          <p:cNvSpPr txBox="1"/>
          <p:nvPr/>
        </p:nvSpPr>
        <p:spPr>
          <a:xfrm>
            <a:off x="1005840" y="2057400"/>
            <a:ext cx="4572000" cy="320040"/>
          </a:xfrm>
          <a:prstGeom prst="rect">
            <a:avLst/>
          </a:prstGeom>
          <a:noFill/>
          <a:ln/>
        </p:spPr>
        <p:txBody>
          <a:bodyPr wrap="square" lIns="0" tIns="0" rIns="0" bIns="0" rtlCol="0" anchor="t"/>
          <a:lstStyle/>
          <a:p>
            <a:pPr indent="0" marL="0">
              <a:buNone/>
            </a:pPr>
            <a:r>
              <a:rPr lang="en-US" sz="1200" spc="300" kern="0" dirty="0">
                <a:solidFill>
                  <a:srgbClr val="B4B5BB"/>
                </a:solidFill>
                <a:latin typeface="Poppins Light" pitchFamily="34" charset="0"/>
                <a:ea typeface="Poppins Light" pitchFamily="34" charset="-122"/>
                <a:cs typeface="Poppins Light" pitchFamily="34" charset="-120"/>
              </a:rPr>
              <a:t>Kundenkampagne</a:t>
            </a:r>
            <a:endParaRPr lang="en-US" sz="1200" dirty="0"/>
          </a:p>
        </p:txBody>
      </p:sp>
      <p:sp>
        <p:nvSpPr>
          <p:cNvPr id="7" name="Text 5"/>
          <p:cNvSpPr txBox="1"/>
          <p:nvPr/>
        </p:nvSpPr>
        <p:spPr>
          <a:xfrm>
            <a:off x="1005840" y="2423160"/>
            <a:ext cx="4572000" cy="457200"/>
          </a:xfrm>
          <a:prstGeom prst="rect">
            <a:avLst/>
          </a:prstGeom>
          <a:noFill/>
          <a:ln/>
        </p:spPr>
        <p:txBody>
          <a:bodyPr wrap="square" lIns="0" tIns="0" rIns="0" bIns="0" rtlCol="0" anchor="t"/>
          <a:lstStyle/>
          <a:p>
            <a:pPr indent="0" marL="0">
              <a:buNone/>
            </a:pPr>
            <a:r>
              <a:rPr lang="en-US" sz="2000" dirty="0">
                <a:solidFill>
                  <a:srgbClr val="FFFFFF"/>
                </a:solidFill>
                <a:latin typeface="Poppins ExtraBold" pitchFamily="34" charset="0"/>
                <a:ea typeface="Poppins ExtraBold" pitchFamily="34" charset="-122"/>
                <a:cs typeface="Poppins ExtraBold" pitchFamily="34" charset="-120"/>
              </a:rPr>
              <a:t>„Kostenlose Sicherheitsberatung“</a:t>
            </a:r>
            <a:endParaRPr lang="en-US" sz="2000" dirty="0"/>
          </a:p>
        </p:txBody>
      </p:sp>
      <p:sp>
        <p:nvSpPr>
          <p:cNvPr id="8" name="Shape 6"/>
          <p:cNvSpPr/>
          <p:nvPr/>
        </p:nvSpPr>
        <p:spPr>
          <a:xfrm>
            <a:off x="1005840" y="3133090"/>
            <a:ext cx="91440" cy="91440"/>
          </a:xfrm>
          <a:prstGeom prst="ellipse">
            <a:avLst/>
          </a:prstGeom>
          <a:solidFill>
            <a:srgbClr val="EB5A1B"/>
          </a:solidFill>
          <a:ln w="12700">
            <a:solidFill>
              <a:srgbClr val="EB5A1B"/>
            </a:solidFill>
            <a:prstDash val="solid"/>
          </a:ln>
        </p:spPr>
      </p:sp>
      <p:sp>
        <p:nvSpPr>
          <p:cNvPr id="9" name="Text 7"/>
          <p:cNvSpPr txBox="1"/>
          <p:nvPr/>
        </p:nvSpPr>
        <p:spPr>
          <a:xfrm>
            <a:off x="1234440" y="3063240"/>
            <a:ext cx="4343400" cy="26771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Okt.–März (Einbruchsaison), 250 €/Monat</a:t>
            </a:r>
            <a:endParaRPr lang="en-US" sz="1300" dirty="0"/>
          </a:p>
        </p:txBody>
      </p:sp>
      <p:sp>
        <p:nvSpPr>
          <p:cNvPr id="10" name="Shape 8"/>
          <p:cNvSpPr/>
          <p:nvPr/>
        </p:nvSpPr>
        <p:spPr>
          <a:xfrm>
            <a:off x="1005840" y="3510534"/>
            <a:ext cx="91440" cy="91440"/>
          </a:xfrm>
          <a:prstGeom prst="ellipse">
            <a:avLst/>
          </a:prstGeom>
          <a:solidFill>
            <a:srgbClr val="EB5A1B"/>
          </a:solidFill>
          <a:ln w="12700">
            <a:solidFill>
              <a:srgbClr val="EB5A1B"/>
            </a:solidFill>
            <a:prstDash val="solid"/>
          </a:ln>
        </p:spPr>
      </p:sp>
      <p:sp>
        <p:nvSpPr>
          <p:cNvPr id="11" name="Text 9"/>
          <p:cNvSpPr txBox="1"/>
          <p:nvPr/>
        </p:nvSpPr>
        <p:spPr>
          <a:xfrm>
            <a:off x="1234440" y="3440684"/>
            <a:ext cx="4343400" cy="49885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Umkreis ca. 25 km um Gaimersheim &amp; Pfaffenhofen</a:t>
            </a:r>
            <a:endParaRPr lang="en-US" sz="1300" dirty="0"/>
          </a:p>
        </p:txBody>
      </p:sp>
      <p:sp>
        <p:nvSpPr>
          <p:cNvPr id="12" name="Shape 10"/>
          <p:cNvSpPr/>
          <p:nvPr/>
        </p:nvSpPr>
        <p:spPr>
          <a:xfrm>
            <a:off x="1005840" y="4119118"/>
            <a:ext cx="91440" cy="91440"/>
          </a:xfrm>
          <a:prstGeom prst="ellipse">
            <a:avLst/>
          </a:prstGeom>
          <a:solidFill>
            <a:srgbClr val="EB5A1B"/>
          </a:solidFill>
          <a:ln w="12700">
            <a:solidFill>
              <a:srgbClr val="EB5A1B"/>
            </a:solidFill>
            <a:prstDash val="solid"/>
          </a:ln>
        </p:spPr>
      </p:sp>
      <p:sp>
        <p:nvSpPr>
          <p:cNvPr id="13" name="Text 11"/>
          <p:cNvSpPr txBox="1"/>
          <p:nvPr/>
        </p:nvSpPr>
        <p:spPr>
          <a:xfrm>
            <a:off x="1234440" y="4049268"/>
            <a:ext cx="4343400" cy="26771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Beste Karussells und „3 Uhr nachts“-Reels</a:t>
            </a:r>
            <a:endParaRPr lang="en-US" sz="1300" dirty="0"/>
          </a:p>
        </p:txBody>
      </p:sp>
      <p:sp>
        <p:nvSpPr>
          <p:cNvPr id="14" name="Shape 12"/>
          <p:cNvSpPr/>
          <p:nvPr/>
        </p:nvSpPr>
        <p:spPr>
          <a:xfrm>
            <a:off x="1005840" y="4496562"/>
            <a:ext cx="91440" cy="91440"/>
          </a:xfrm>
          <a:prstGeom prst="ellipse">
            <a:avLst/>
          </a:prstGeom>
          <a:solidFill>
            <a:srgbClr val="EB5A1B"/>
          </a:solidFill>
          <a:ln w="12700">
            <a:solidFill>
              <a:srgbClr val="EB5A1B"/>
            </a:solidFill>
            <a:prstDash val="solid"/>
          </a:ln>
        </p:spPr>
      </p:sp>
      <p:sp>
        <p:nvSpPr>
          <p:cNvPr id="15" name="Text 13"/>
          <p:cNvSpPr txBox="1"/>
          <p:nvPr/>
        </p:nvSpPr>
        <p:spPr>
          <a:xfrm>
            <a:off x="1234440" y="4426712"/>
            <a:ext cx="4343400" cy="498856"/>
          </a:xfrm>
          <a:prstGeom prst="rect">
            <a:avLst/>
          </a:prstGeom>
          <a:noFill/>
          <a:ln/>
        </p:spPr>
        <p:txBody>
          <a:bodyPr wrap="square" lIns="0" tIns="0" rIns="0" bIns="0" rtlCol="0" anchor="t"/>
          <a:lstStyle/>
          <a:p>
            <a:pPr indent="0" marL="0">
              <a:buNone/>
            </a:pPr>
            <a:r>
              <a:rPr lang="en-US" sz="1300" b="1" dirty="0">
                <a:solidFill>
                  <a:srgbClr val="FFFFFF"/>
                </a:solidFill>
                <a:latin typeface="Poppins" pitchFamily="34" charset="0"/>
                <a:ea typeface="Poppins" pitchFamily="34" charset="-122"/>
                <a:cs typeface="Poppins" pitchFamily="34" charset="-120"/>
              </a:rPr>
              <a:t>Stichwort „Instagram“</a:t>
            </a:r>
            <a:pPr indent="0" marL="0">
              <a:buNone/>
            </a:pPr>
            <a:r>
              <a:rPr lang="en-US" sz="1300" dirty="0">
                <a:solidFill>
                  <a:srgbClr val="FFFFFF"/>
                </a:solidFill>
                <a:latin typeface="Poppins" pitchFamily="34" charset="0"/>
                <a:ea typeface="Poppins" pitchFamily="34" charset="-122"/>
                <a:cs typeface="Poppins" pitchFamily="34" charset="-120"/>
              </a:rPr>
              <a:t> per WhatsApp: jede Anfrage messbar</a:t>
            </a:r>
            <a:endParaRPr lang="en-US" sz="1300" dirty="0"/>
          </a:p>
        </p:txBody>
      </p:sp>
      <p:sp>
        <p:nvSpPr>
          <p:cNvPr id="16" name="Shape 14"/>
          <p:cNvSpPr/>
          <p:nvPr/>
        </p:nvSpPr>
        <p:spPr>
          <a:xfrm>
            <a:off x="1005840" y="5105146"/>
            <a:ext cx="91440" cy="91440"/>
          </a:xfrm>
          <a:prstGeom prst="ellipse">
            <a:avLst/>
          </a:prstGeom>
          <a:solidFill>
            <a:srgbClr val="EB5A1B"/>
          </a:solidFill>
          <a:ln w="12700">
            <a:solidFill>
              <a:srgbClr val="EB5A1B"/>
            </a:solidFill>
            <a:prstDash val="solid"/>
          </a:ln>
        </p:spPr>
      </p:sp>
      <p:sp>
        <p:nvSpPr>
          <p:cNvPr id="17" name="Text 15"/>
          <p:cNvSpPr txBox="1"/>
          <p:nvPr/>
        </p:nvSpPr>
        <p:spPr>
          <a:xfrm>
            <a:off x="1234440" y="5035296"/>
            <a:ext cx="4343400" cy="267716"/>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Weiterleitung an den Vertrieb am selben Tag</a:t>
            </a:r>
            <a:endParaRPr lang="en-US" sz="1300" dirty="0"/>
          </a:p>
        </p:txBody>
      </p:sp>
      <p:sp>
        <p:nvSpPr>
          <p:cNvPr id="18" name="Text 16"/>
          <p:cNvSpPr txBox="1"/>
          <p:nvPr/>
        </p:nvSpPr>
        <p:spPr>
          <a:xfrm>
            <a:off x="6309360" y="1828800"/>
            <a:ext cx="4572000" cy="320040"/>
          </a:xfrm>
          <a:prstGeom prst="rect">
            <a:avLst/>
          </a:prstGeom>
          <a:noFill/>
          <a:ln/>
        </p:spPr>
        <p:txBody>
          <a:bodyPr wrap="square" lIns="0" tIns="0" rIns="0" bIns="0" rtlCol="0" anchor="t"/>
          <a:lstStyle/>
          <a:p>
            <a:pPr indent="0" marL="0">
              <a:buNone/>
            </a:pPr>
            <a:r>
              <a:rPr lang="en-US" sz="1600" dirty="0">
                <a:solidFill>
                  <a:srgbClr val="111111"/>
                </a:solidFill>
                <a:latin typeface="Poppins SemiBold" pitchFamily="34" charset="0"/>
                <a:ea typeface="Poppins SemiBold" pitchFamily="34" charset="-122"/>
                <a:cs typeface="Poppins SemiBold" pitchFamily="34" charset="-120"/>
              </a:rPr>
              <a:t>So läuft es</a:t>
            </a:r>
            <a:endParaRPr lang="en-US" sz="1600" dirty="0"/>
          </a:p>
        </p:txBody>
      </p:sp>
      <p:sp>
        <p:nvSpPr>
          <p:cNvPr id="19" name="Shape 17"/>
          <p:cNvSpPr/>
          <p:nvPr/>
        </p:nvSpPr>
        <p:spPr>
          <a:xfrm>
            <a:off x="6309360" y="2286000"/>
            <a:ext cx="411480" cy="411480"/>
          </a:xfrm>
          <a:prstGeom prst="ellipse">
            <a:avLst/>
          </a:prstGeom>
          <a:solidFill>
            <a:srgbClr val="EB5A1B"/>
          </a:solidFill>
          <a:ln w="12700">
            <a:solidFill>
              <a:srgbClr val="EB5A1B"/>
            </a:solidFill>
            <a:prstDash val="solid"/>
          </a:ln>
        </p:spPr>
      </p:sp>
      <p:sp>
        <p:nvSpPr>
          <p:cNvPr id="20" name="Text 18"/>
          <p:cNvSpPr txBox="1"/>
          <p:nvPr/>
        </p:nvSpPr>
        <p:spPr>
          <a:xfrm>
            <a:off x="6309360" y="2286000"/>
            <a:ext cx="411480" cy="411480"/>
          </a:xfrm>
          <a:prstGeom prst="rect">
            <a:avLst/>
          </a:prstGeom>
          <a:noFill/>
          <a:ln/>
        </p:spPr>
        <p:txBody>
          <a:bodyPr wrap="square" lIns="0" tIns="0" rIns="0" bIns="0" rtlCol="0" anchor="ctr"/>
          <a:lstStyle/>
          <a:p>
            <a:pPr algn="ctr" indent="0" marL="0">
              <a:buNone/>
            </a:pPr>
            <a:r>
              <a:rPr lang="en-US" sz="1400" dirty="0">
                <a:solidFill>
                  <a:srgbClr val="FFFFFF"/>
                </a:solidFill>
                <a:latin typeface="Poppins ExtraBold" pitchFamily="34" charset="0"/>
                <a:ea typeface="Poppins ExtraBold" pitchFamily="34" charset="-122"/>
                <a:cs typeface="Poppins ExtraBold" pitchFamily="34" charset="-120"/>
              </a:rPr>
              <a:t>1</a:t>
            </a:r>
            <a:endParaRPr lang="en-US" sz="1400" dirty="0"/>
          </a:p>
        </p:txBody>
      </p:sp>
      <p:sp>
        <p:nvSpPr>
          <p:cNvPr id="21" name="Text 19"/>
          <p:cNvSpPr txBox="1"/>
          <p:nvPr/>
        </p:nvSpPr>
        <p:spPr>
          <a:xfrm>
            <a:off x="6858000" y="2286000"/>
            <a:ext cx="4663440" cy="411480"/>
          </a:xfrm>
          <a:prstGeom prst="rect">
            <a:avLst/>
          </a:prstGeom>
          <a:noFill/>
          <a:ln/>
        </p:spPr>
        <p:txBody>
          <a:bodyPr wrap="square" lIns="0" tIns="0" rIns="0" bIns="0" rtlCol="0" anchor="ctr"/>
          <a:lstStyle/>
          <a:p>
            <a:pPr indent="0" marL="0">
              <a:buNone/>
            </a:pPr>
            <a:r>
              <a:rPr lang="en-US" sz="1300" dirty="0">
                <a:solidFill>
                  <a:srgbClr val="222222"/>
                </a:solidFill>
                <a:latin typeface="Poppins" pitchFamily="34" charset="0"/>
                <a:ea typeface="Poppins" pitchFamily="34" charset="-122"/>
                <a:cs typeface="Poppins" pitchFamily="34" charset="-120"/>
              </a:rPr>
              <a:t>Organisch posten</a:t>
            </a:r>
            <a:endParaRPr lang="en-US" sz="1300" dirty="0"/>
          </a:p>
        </p:txBody>
      </p:sp>
      <p:sp>
        <p:nvSpPr>
          <p:cNvPr id="22" name="Shape 20"/>
          <p:cNvSpPr/>
          <p:nvPr/>
        </p:nvSpPr>
        <p:spPr>
          <a:xfrm>
            <a:off x="6309360" y="2852928"/>
            <a:ext cx="411480" cy="411480"/>
          </a:xfrm>
          <a:prstGeom prst="ellipse">
            <a:avLst/>
          </a:prstGeom>
          <a:solidFill>
            <a:srgbClr val="EB5A1B"/>
          </a:solidFill>
          <a:ln w="12700">
            <a:solidFill>
              <a:srgbClr val="EB5A1B"/>
            </a:solidFill>
            <a:prstDash val="solid"/>
          </a:ln>
        </p:spPr>
      </p:sp>
      <p:sp>
        <p:nvSpPr>
          <p:cNvPr id="23" name="Text 21"/>
          <p:cNvSpPr txBox="1"/>
          <p:nvPr/>
        </p:nvSpPr>
        <p:spPr>
          <a:xfrm>
            <a:off x="6309360" y="2852928"/>
            <a:ext cx="411480" cy="411480"/>
          </a:xfrm>
          <a:prstGeom prst="rect">
            <a:avLst/>
          </a:prstGeom>
          <a:noFill/>
          <a:ln/>
        </p:spPr>
        <p:txBody>
          <a:bodyPr wrap="square" lIns="0" tIns="0" rIns="0" bIns="0" rtlCol="0" anchor="ctr"/>
          <a:lstStyle/>
          <a:p>
            <a:pPr algn="ctr" indent="0" marL="0">
              <a:buNone/>
            </a:pPr>
            <a:r>
              <a:rPr lang="en-US" sz="1400" dirty="0">
                <a:solidFill>
                  <a:srgbClr val="FFFFFF"/>
                </a:solidFill>
                <a:latin typeface="Poppins ExtraBold" pitchFamily="34" charset="0"/>
                <a:ea typeface="Poppins ExtraBold" pitchFamily="34" charset="-122"/>
                <a:cs typeface="Poppins ExtraBold" pitchFamily="34" charset="-120"/>
              </a:rPr>
              <a:t>2</a:t>
            </a:r>
            <a:endParaRPr lang="en-US" sz="1400" dirty="0"/>
          </a:p>
        </p:txBody>
      </p:sp>
      <p:sp>
        <p:nvSpPr>
          <p:cNvPr id="24" name="Text 22"/>
          <p:cNvSpPr txBox="1"/>
          <p:nvPr/>
        </p:nvSpPr>
        <p:spPr>
          <a:xfrm>
            <a:off x="6858000" y="2852928"/>
            <a:ext cx="4663440" cy="411480"/>
          </a:xfrm>
          <a:prstGeom prst="rect">
            <a:avLst/>
          </a:prstGeom>
          <a:noFill/>
          <a:ln/>
        </p:spPr>
        <p:txBody>
          <a:bodyPr wrap="square" lIns="0" tIns="0" rIns="0" bIns="0" rtlCol="0" anchor="ctr"/>
          <a:lstStyle/>
          <a:p>
            <a:pPr indent="0" marL="0">
              <a:buNone/>
            </a:pPr>
            <a:r>
              <a:rPr lang="en-US" sz="1300" dirty="0">
                <a:solidFill>
                  <a:srgbClr val="222222"/>
                </a:solidFill>
                <a:latin typeface="Poppins" pitchFamily="34" charset="0"/>
                <a:ea typeface="Poppins" pitchFamily="34" charset="-122"/>
                <a:cs typeface="Poppins" pitchFamily="34" charset="-120"/>
              </a:rPr>
              <a:t>Nach 3–5 Tagen den besten Beitrag „bewerben“</a:t>
            </a:r>
            <a:endParaRPr lang="en-US" sz="1300" dirty="0"/>
          </a:p>
        </p:txBody>
      </p:sp>
      <p:sp>
        <p:nvSpPr>
          <p:cNvPr id="25" name="Shape 23"/>
          <p:cNvSpPr/>
          <p:nvPr/>
        </p:nvSpPr>
        <p:spPr>
          <a:xfrm>
            <a:off x="6309360" y="3419856"/>
            <a:ext cx="411480" cy="411480"/>
          </a:xfrm>
          <a:prstGeom prst="ellipse">
            <a:avLst/>
          </a:prstGeom>
          <a:solidFill>
            <a:srgbClr val="EB5A1B"/>
          </a:solidFill>
          <a:ln w="12700">
            <a:solidFill>
              <a:srgbClr val="EB5A1B"/>
            </a:solidFill>
            <a:prstDash val="solid"/>
          </a:ln>
        </p:spPr>
      </p:sp>
      <p:sp>
        <p:nvSpPr>
          <p:cNvPr id="26" name="Text 24"/>
          <p:cNvSpPr txBox="1"/>
          <p:nvPr/>
        </p:nvSpPr>
        <p:spPr>
          <a:xfrm>
            <a:off x="6309360" y="3419856"/>
            <a:ext cx="411480" cy="411480"/>
          </a:xfrm>
          <a:prstGeom prst="rect">
            <a:avLst/>
          </a:prstGeom>
          <a:noFill/>
          <a:ln/>
        </p:spPr>
        <p:txBody>
          <a:bodyPr wrap="square" lIns="0" tIns="0" rIns="0" bIns="0" rtlCol="0" anchor="ctr"/>
          <a:lstStyle/>
          <a:p>
            <a:pPr algn="ctr" indent="0" marL="0">
              <a:buNone/>
            </a:pPr>
            <a:r>
              <a:rPr lang="en-US" sz="1400" dirty="0">
                <a:solidFill>
                  <a:srgbClr val="FFFFFF"/>
                </a:solidFill>
                <a:latin typeface="Poppins ExtraBold" pitchFamily="34" charset="0"/>
                <a:ea typeface="Poppins ExtraBold" pitchFamily="34" charset="-122"/>
                <a:cs typeface="Poppins ExtraBold" pitchFamily="34" charset="-120"/>
              </a:rPr>
              <a:t>3</a:t>
            </a:r>
            <a:endParaRPr lang="en-US" sz="1400" dirty="0"/>
          </a:p>
        </p:txBody>
      </p:sp>
      <p:sp>
        <p:nvSpPr>
          <p:cNvPr id="27" name="Text 25"/>
          <p:cNvSpPr txBox="1"/>
          <p:nvPr/>
        </p:nvSpPr>
        <p:spPr>
          <a:xfrm>
            <a:off x="6858000" y="3419856"/>
            <a:ext cx="4663440" cy="411480"/>
          </a:xfrm>
          <a:prstGeom prst="rect">
            <a:avLst/>
          </a:prstGeom>
          <a:noFill/>
          <a:ln/>
        </p:spPr>
        <p:txBody>
          <a:bodyPr wrap="square" lIns="0" tIns="0" rIns="0" bIns="0" rtlCol="0" anchor="ctr"/>
          <a:lstStyle/>
          <a:p>
            <a:pPr indent="0" marL="0">
              <a:buNone/>
            </a:pPr>
            <a:r>
              <a:rPr lang="en-US" sz="1300" dirty="0">
                <a:solidFill>
                  <a:srgbClr val="222222"/>
                </a:solidFill>
                <a:latin typeface="Poppins" pitchFamily="34" charset="0"/>
                <a:ea typeface="Poppins" pitchFamily="34" charset="-122"/>
                <a:cs typeface="Poppins" pitchFamily="34" charset="-120"/>
              </a:rPr>
              <a:t>Ergebnis im Monatsreport festhalten</a:t>
            </a:r>
            <a:endParaRPr lang="en-US" sz="1300" dirty="0"/>
          </a:p>
        </p:txBody>
      </p:sp>
      <p:graphicFrame>
        <p:nvGraphicFramePr>
          <p:cNvPr id="28" name="Chart 0" descr=""/>
          <p:cNvGraphicFramePr/>
          <p:nvPr/>
        </p:nvGraphicFramePr>
        <p:xfrm>
          <a:off x="6217920" y="4023360"/>
          <a:ext cx="5303520" cy="1783080"/>
        </p:xfrm>
        <a:graphic xmlns:a="http://schemas.openxmlformats.org/drawingml/2006/main">
          <a:graphicData uri="http://schemas.openxmlformats.org/drawingml/2006/chart">
            <c:chart xmlns:c="http://schemas.openxmlformats.org/drawingml/2006/chart" r:id="rId1"/>
          </a:graphicData>
        </a:graphic>
      </p:graphicFrame>
      <p:pic>
        <p:nvPicPr>
          <p:cNvPr id="29" name="Image 0" descr="/home/user/Marlene/poleschak-social-media/assets/logo-transparent.png">    </p:cNvPr>
          <p:cNvPicPr>
            <a:picLocks noChangeAspect="1"/>
          </p:cNvPicPr>
          <p:nvPr/>
        </p:nvPicPr>
        <p:blipFill>
          <a:blip r:embed="rId2"/>
          <a:stretch>
            <a:fillRect/>
          </a:stretch>
        </p:blipFill>
        <p:spPr>
          <a:xfrm>
            <a:off x="685800" y="6291072"/>
            <a:ext cx="643680" cy="329184"/>
          </a:xfrm>
          <a:prstGeom prst="rect">
            <a:avLst/>
          </a:prstGeom>
        </p:spPr>
      </p:pic>
      <p:sp>
        <p:nvSpPr>
          <p:cNvPr id="30" name="Text 26"/>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9E9EA"/>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16 · VORLAGEN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19 Vorlagen.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Fertig.</a:t>
            </a:r>
            <a:endParaRPr lang="en-US" sz="3400" dirty="0"/>
          </a:p>
        </p:txBody>
      </p:sp>
      <p:pic>
        <p:nvPicPr>
          <p:cNvPr id="5" name="Image 0" descr="/home/user/Marlene/poleschak-social-media/vorlagen/export/reel-cover-3-uhr-nachts.png">    </p:cNvPr>
          <p:cNvPicPr>
            <a:picLocks noChangeAspect="1"/>
          </p:cNvPicPr>
          <p:nvPr/>
        </p:nvPicPr>
        <p:blipFill>
          <a:blip r:embed="rId1"/>
          <a:stretch>
            <a:fillRect/>
          </a:stretch>
        </p:blipFill>
        <p:spPr>
          <a:xfrm>
            <a:off x="685800" y="1783080"/>
            <a:ext cx="1568768" cy="2788920"/>
          </a:xfrm>
          <a:prstGeom prst="rect">
            <a:avLst/>
          </a:prstGeom>
          <a:effectLst>
            <a:outerShdw sx="100000" sy="100000" kx="0" ky="0" algn="bl" rotWithShape="0" blurRad="76200" dist="25400" dir="5400000">
              <a:srgbClr val="000000">
                <a:alpha val="22000"/>
              </a:srgbClr>
            </a:outerShdw>
          </a:effectLst>
        </p:spPr>
      </p:pic>
      <p:pic>
        <p:nvPicPr>
          <p:cNvPr id="6" name="Image 1" descr="/home/user/Marlene/poleschak-social-media/vorlagen/export/karussell-schwachstellen-1.png">    </p:cNvPr>
          <p:cNvPicPr>
            <a:picLocks noChangeAspect="1"/>
          </p:cNvPicPr>
          <p:nvPr/>
        </p:nvPicPr>
        <p:blipFill>
          <a:blip r:embed="rId2"/>
          <a:stretch>
            <a:fillRect/>
          </a:stretch>
        </p:blipFill>
        <p:spPr>
          <a:xfrm>
            <a:off x="2455736" y="1783080"/>
            <a:ext cx="2231136" cy="2788920"/>
          </a:xfrm>
          <a:prstGeom prst="rect">
            <a:avLst/>
          </a:prstGeom>
          <a:effectLst>
            <a:outerShdw sx="100000" sy="100000" kx="0" ky="0" algn="bl" rotWithShape="0" blurRad="76200" dist="25400" dir="5400000">
              <a:srgbClr val="000000">
                <a:alpha val="22000"/>
              </a:srgbClr>
            </a:outerShdw>
          </a:effectLst>
        </p:spPr>
      </p:pic>
      <p:pic>
        <p:nvPicPr>
          <p:cNvPr id="7" name="Image 2" descr="/home/user/Marlene/poleschak-social-media/vorlagen/export/karussell-schwachstellen-2.png">    </p:cNvPr>
          <p:cNvPicPr>
            <a:picLocks noChangeAspect="1"/>
          </p:cNvPicPr>
          <p:nvPr/>
        </p:nvPicPr>
        <p:blipFill>
          <a:blip r:embed="rId3"/>
          <a:stretch>
            <a:fillRect/>
          </a:stretch>
        </p:blipFill>
        <p:spPr>
          <a:xfrm>
            <a:off x="4888040" y="1783080"/>
            <a:ext cx="2231136" cy="2788920"/>
          </a:xfrm>
          <a:prstGeom prst="rect">
            <a:avLst/>
          </a:prstGeom>
          <a:effectLst>
            <a:outerShdw sx="100000" sy="100000" kx="0" ky="0" algn="bl" rotWithShape="0" blurRad="76200" dist="25400" dir="5400000">
              <a:srgbClr val="000000">
                <a:alpha val="22000"/>
              </a:srgbClr>
            </a:outerShdw>
          </a:effectLst>
        </p:spPr>
      </p:pic>
      <p:pic>
        <p:nvPicPr>
          <p:cNvPr id="8" name="Image 3" descr="/home/user/Marlene/poleschak-social-media/vorlagen/export/post-stelle-servicetechniker.png">    </p:cNvPr>
          <p:cNvPicPr>
            <a:picLocks noChangeAspect="1"/>
          </p:cNvPicPr>
          <p:nvPr/>
        </p:nvPicPr>
        <p:blipFill>
          <a:blip r:embed="rId4"/>
          <a:stretch>
            <a:fillRect/>
          </a:stretch>
        </p:blipFill>
        <p:spPr>
          <a:xfrm>
            <a:off x="7320344" y="1783080"/>
            <a:ext cx="2231136" cy="2788920"/>
          </a:xfrm>
          <a:prstGeom prst="rect">
            <a:avLst/>
          </a:prstGeom>
          <a:effectLst>
            <a:outerShdw sx="100000" sy="100000" kx="0" ky="0" algn="bl" rotWithShape="0" blurRad="76200" dist="25400" dir="5400000">
              <a:srgbClr val="000000">
                <a:alpha val="22000"/>
              </a:srgbClr>
            </a:outerShdw>
          </a:effectLst>
        </p:spPr>
      </p:pic>
      <p:pic>
        <p:nvPicPr>
          <p:cNvPr id="9" name="Image 4" descr="/home/user/Marlene/poleschak-social-media/vorlagen/export/story-umfrage.png">    </p:cNvPr>
          <p:cNvPicPr>
            <a:picLocks noChangeAspect="1"/>
          </p:cNvPicPr>
          <p:nvPr/>
        </p:nvPicPr>
        <p:blipFill>
          <a:blip r:embed="rId5"/>
          <a:stretch>
            <a:fillRect/>
          </a:stretch>
        </p:blipFill>
        <p:spPr>
          <a:xfrm>
            <a:off x="9752648" y="1783080"/>
            <a:ext cx="1568768" cy="2788920"/>
          </a:xfrm>
          <a:prstGeom prst="rect">
            <a:avLst/>
          </a:prstGeom>
          <a:effectLst>
            <a:outerShdw sx="100000" sy="100000" kx="0" ky="0" algn="bl" rotWithShape="0" blurRad="76200" dist="25400" dir="5400000">
              <a:srgbClr val="000000">
                <a:alpha val="22000"/>
              </a:srgbClr>
            </a:outerShdw>
          </a:effectLst>
        </p:spPr>
      </p:pic>
      <p:sp>
        <p:nvSpPr>
          <p:cNvPr id="10" name="Text 3"/>
          <p:cNvSpPr txBox="1"/>
          <p:nvPr/>
        </p:nvSpPr>
        <p:spPr>
          <a:xfrm>
            <a:off x="685800" y="4892040"/>
            <a:ext cx="10789920" cy="731520"/>
          </a:xfrm>
          <a:prstGeom prst="rect">
            <a:avLst/>
          </a:prstGeom>
          <a:noFill/>
          <a:ln/>
        </p:spPr>
        <p:txBody>
          <a:bodyPr wrap="square" lIns="0" tIns="0" rIns="0" bIns="0" rtlCol="0" anchor="t"/>
          <a:lstStyle/>
          <a:p>
            <a:pPr indent="0" marL="0">
              <a:buNone/>
            </a:pPr>
            <a:r>
              <a:rPr lang="en-US" sz="1300" dirty="0">
                <a:solidFill>
                  <a:srgbClr val="222222"/>
                </a:solidFill>
                <a:latin typeface="Poppins" pitchFamily="34" charset="0"/>
                <a:ea typeface="Poppins" pitchFamily="34" charset="-122"/>
                <a:cs typeface="Poppins" pitchFamily="34" charset="-120"/>
              </a:rPr>
              <a:t>Reel-Cover · Karussell · Posts · Stories · 5 Highlight-Cover. Dazu Bildunterschriften, Reel-Drehbuch, Stellenanzeige, Antwortbausteine und Einwilligungsvorlage. In Canva als Markenvorlagen angelegt, entsteht ein Post in ca. 10 Minuten.</a:t>
            </a:r>
            <a:endParaRPr lang="en-US" sz="1300" dirty="0"/>
          </a:p>
        </p:txBody>
      </p:sp>
      <p:pic>
        <p:nvPicPr>
          <p:cNvPr id="11" name="Image 5" descr="/home/user/Marlene/poleschak-social-media/assets/logo-transparent.png">    </p:cNvPr>
          <p:cNvPicPr>
            <a:picLocks noChangeAspect="1"/>
          </p:cNvPicPr>
          <p:nvPr/>
        </p:nvPicPr>
        <p:blipFill>
          <a:blip r:embed="rId6"/>
          <a:stretch>
            <a:fillRect/>
          </a:stretch>
        </p:blipFill>
        <p:spPr>
          <a:xfrm>
            <a:off x="685800" y="6291072"/>
            <a:ext cx="643680" cy="329184"/>
          </a:xfrm>
          <a:prstGeom prst="rect">
            <a:avLst/>
          </a:prstGeom>
        </p:spPr>
      </p:pic>
      <p:sp>
        <p:nvSpPr>
          <p:cNvPr id="12" name="Text 4"/>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17 · ZIELE FÜR 12 MONATE</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FFFFFF"/>
                </a:solidFill>
                <a:latin typeface="Poppins ExtraBold" pitchFamily="34" charset="0"/>
                <a:ea typeface="Poppins ExtraBold" pitchFamily="34" charset="-122"/>
                <a:cs typeface="Poppins ExtraBold" pitchFamily="34" charset="-120"/>
              </a:rPr>
              <a:t>Messbar.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Nicht gefühlt.</a:t>
            </a:r>
            <a:endParaRPr lang="en-US" sz="3400" dirty="0"/>
          </a:p>
        </p:txBody>
      </p:sp>
      <p:sp>
        <p:nvSpPr>
          <p:cNvPr id="5" name="Shape 3"/>
          <p:cNvSpPr/>
          <p:nvPr/>
        </p:nvSpPr>
        <p:spPr>
          <a:xfrm>
            <a:off x="685800" y="1828800"/>
            <a:ext cx="3429000" cy="1508760"/>
          </a:xfrm>
          <a:prstGeom prst="roundRect">
            <a:avLst>
              <a:gd name="adj" fmla="val 7273"/>
            </a:avLst>
          </a:prstGeom>
          <a:solidFill>
            <a:srgbClr val="222222"/>
          </a:solidFill>
          <a:ln w="12700">
            <a:solidFill>
              <a:srgbClr val="222222"/>
            </a:solidFill>
            <a:prstDash val="solid"/>
          </a:ln>
        </p:spPr>
      </p:sp>
      <p:sp>
        <p:nvSpPr>
          <p:cNvPr id="6" name="Text 4"/>
          <p:cNvSpPr txBox="1"/>
          <p:nvPr/>
        </p:nvSpPr>
        <p:spPr>
          <a:xfrm>
            <a:off x="960120" y="2011680"/>
            <a:ext cx="2926080" cy="685800"/>
          </a:xfrm>
          <a:prstGeom prst="rect">
            <a:avLst/>
          </a:prstGeom>
          <a:noFill/>
          <a:ln/>
        </p:spPr>
        <p:txBody>
          <a:bodyPr wrap="square" lIns="0" tIns="0" rIns="0" bIns="0" rtlCol="0" anchor="t"/>
          <a:lstStyle/>
          <a:p>
            <a:pPr indent="0" marL="0">
              <a:buNone/>
            </a:pPr>
            <a:r>
              <a:rPr lang="en-US" sz="3400" dirty="0">
                <a:solidFill>
                  <a:srgbClr val="EB5A1B"/>
                </a:solidFill>
                <a:latin typeface="Poppins ExtraBold" pitchFamily="34" charset="0"/>
                <a:ea typeface="Poppins ExtraBold" pitchFamily="34" charset="-122"/>
                <a:cs typeface="Poppins ExtraBold" pitchFamily="34" charset="-120"/>
              </a:rPr>
              <a:t>1.100</a:t>
            </a:r>
            <a:endParaRPr lang="en-US" sz="3400" dirty="0"/>
          </a:p>
        </p:txBody>
      </p:sp>
      <p:sp>
        <p:nvSpPr>
          <p:cNvPr id="7" name="Text 5"/>
          <p:cNvSpPr txBox="1"/>
          <p:nvPr/>
        </p:nvSpPr>
        <p:spPr>
          <a:xfrm>
            <a:off x="960120" y="2724912"/>
            <a:ext cx="2926080" cy="502920"/>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Follower aus der Region, damit Nr. 1</a:t>
            </a:r>
            <a:endParaRPr lang="en-US" sz="1300" dirty="0"/>
          </a:p>
        </p:txBody>
      </p:sp>
      <p:sp>
        <p:nvSpPr>
          <p:cNvPr id="8" name="Shape 6"/>
          <p:cNvSpPr/>
          <p:nvPr/>
        </p:nvSpPr>
        <p:spPr>
          <a:xfrm>
            <a:off x="4343400" y="1828800"/>
            <a:ext cx="3429000" cy="1508760"/>
          </a:xfrm>
          <a:prstGeom prst="roundRect">
            <a:avLst>
              <a:gd name="adj" fmla="val 7273"/>
            </a:avLst>
          </a:prstGeom>
          <a:solidFill>
            <a:srgbClr val="222222"/>
          </a:solidFill>
          <a:ln w="12700">
            <a:solidFill>
              <a:srgbClr val="222222"/>
            </a:solidFill>
            <a:prstDash val="solid"/>
          </a:ln>
        </p:spPr>
      </p:sp>
      <p:sp>
        <p:nvSpPr>
          <p:cNvPr id="9" name="Text 7"/>
          <p:cNvSpPr txBox="1"/>
          <p:nvPr/>
        </p:nvSpPr>
        <p:spPr>
          <a:xfrm>
            <a:off x="4617720" y="2011680"/>
            <a:ext cx="2926080" cy="685800"/>
          </a:xfrm>
          <a:prstGeom prst="rect">
            <a:avLst/>
          </a:prstGeom>
          <a:noFill/>
          <a:ln/>
        </p:spPr>
        <p:txBody>
          <a:bodyPr wrap="square" lIns="0" tIns="0" rIns="0" bIns="0" rtlCol="0" anchor="t"/>
          <a:lstStyle/>
          <a:p>
            <a:pPr indent="0" marL="0">
              <a:buNone/>
            </a:pPr>
            <a:r>
              <a:rPr lang="en-US" sz="3400" dirty="0">
                <a:solidFill>
                  <a:srgbClr val="EB5A1B"/>
                </a:solidFill>
                <a:latin typeface="Poppins ExtraBold" pitchFamily="34" charset="0"/>
                <a:ea typeface="Poppins ExtraBold" pitchFamily="34" charset="-122"/>
                <a:cs typeface="Poppins ExtraBold" pitchFamily="34" charset="-120"/>
              </a:rPr>
              <a:t>≥ 20</a:t>
            </a:r>
            <a:endParaRPr lang="en-US" sz="3400" dirty="0"/>
          </a:p>
        </p:txBody>
      </p:sp>
      <p:sp>
        <p:nvSpPr>
          <p:cNvPr id="10" name="Text 8"/>
          <p:cNvSpPr txBox="1"/>
          <p:nvPr/>
        </p:nvSpPr>
        <p:spPr>
          <a:xfrm>
            <a:off x="4617720" y="2724912"/>
            <a:ext cx="2926080" cy="502920"/>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Bewerbungen pro Jahr über Social Media</a:t>
            </a:r>
            <a:endParaRPr lang="en-US" sz="1300" dirty="0"/>
          </a:p>
        </p:txBody>
      </p:sp>
      <p:sp>
        <p:nvSpPr>
          <p:cNvPr id="11" name="Shape 9"/>
          <p:cNvSpPr/>
          <p:nvPr/>
        </p:nvSpPr>
        <p:spPr>
          <a:xfrm>
            <a:off x="8001000" y="1828800"/>
            <a:ext cx="3429000" cy="1508760"/>
          </a:xfrm>
          <a:prstGeom prst="roundRect">
            <a:avLst>
              <a:gd name="adj" fmla="val 7273"/>
            </a:avLst>
          </a:prstGeom>
          <a:solidFill>
            <a:srgbClr val="222222"/>
          </a:solidFill>
          <a:ln w="12700">
            <a:solidFill>
              <a:srgbClr val="222222"/>
            </a:solidFill>
            <a:prstDash val="solid"/>
          </a:ln>
        </p:spPr>
      </p:sp>
      <p:sp>
        <p:nvSpPr>
          <p:cNvPr id="12" name="Text 10"/>
          <p:cNvSpPr txBox="1"/>
          <p:nvPr/>
        </p:nvSpPr>
        <p:spPr>
          <a:xfrm>
            <a:off x="8275320" y="2011680"/>
            <a:ext cx="2926080" cy="685800"/>
          </a:xfrm>
          <a:prstGeom prst="rect">
            <a:avLst/>
          </a:prstGeom>
          <a:noFill/>
          <a:ln/>
        </p:spPr>
        <p:txBody>
          <a:bodyPr wrap="square" lIns="0" tIns="0" rIns="0" bIns="0" rtlCol="0" anchor="t"/>
          <a:lstStyle/>
          <a:p>
            <a:pPr indent="0" marL="0">
              <a:buNone/>
            </a:pPr>
            <a:r>
              <a:rPr lang="en-US" sz="3400" dirty="0">
                <a:solidFill>
                  <a:srgbClr val="EB5A1B"/>
                </a:solidFill>
                <a:latin typeface="Poppins ExtraBold" pitchFamily="34" charset="0"/>
                <a:ea typeface="Poppins ExtraBold" pitchFamily="34" charset="-122"/>
                <a:cs typeface="Poppins ExtraBold" pitchFamily="34" charset="-120"/>
              </a:rPr>
              <a:t>≥ 1</a:t>
            </a:r>
            <a:endParaRPr lang="en-US" sz="3400" dirty="0"/>
          </a:p>
        </p:txBody>
      </p:sp>
      <p:sp>
        <p:nvSpPr>
          <p:cNvPr id="13" name="Text 11"/>
          <p:cNvSpPr txBox="1"/>
          <p:nvPr/>
        </p:nvSpPr>
        <p:spPr>
          <a:xfrm>
            <a:off x="8275320" y="2724912"/>
            <a:ext cx="2926080" cy="502920"/>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Einstellung pro Jahr über Social Media</a:t>
            </a:r>
            <a:endParaRPr lang="en-US" sz="1300" dirty="0"/>
          </a:p>
        </p:txBody>
      </p:sp>
      <p:sp>
        <p:nvSpPr>
          <p:cNvPr id="14" name="Shape 12"/>
          <p:cNvSpPr/>
          <p:nvPr/>
        </p:nvSpPr>
        <p:spPr>
          <a:xfrm>
            <a:off x="685800" y="3566160"/>
            <a:ext cx="3429000" cy="1508760"/>
          </a:xfrm>
          <a:prstGeom prst="roundRect">
            <a:avLst>
              <a:gd name="adj" fmla="val 7273"/>
            </a:avLst>
          </a:prstGeom>
          <a:solidFill>
            <a:srgbClr val="222222"/>
          </a:solidFill>
          <a:ln w="12700">
            <a:solidFill>
              <a:srgbClr val="222222"/>
            </a:solidFill>
            <a:prstDash val="solid"/>
          </a:ln>
        </p:spPr>
      </p:sp>
      <p:sp>
        <p:nvSpPr>
          <p:cNvPr id="15" name="Text 13"/>
          <p:cNvSpPr txBox="1"/>
          <p:nvPr/>
        </p:nvSpPr>
        <p:spPr>
          <a:xfrm>
            <a:off x="960120" y="3749040"/>
            <a:ext cx="2926080" cy="685800"/>
          </a:xfrm>
          <a:prstGeom prst="rect">
            <a:avLst/>
          </a:prstGeom>
          <a:noFill/>
          <a:ln/>
        </p:spPr>
        <p:txBody>
          <a:bodyPr wrap="square" lIns="0" tIns="0" rIns="0" bIns="0" rtlCol="0" anchor="t"/>
          <a:lstStyle/>
          <a:p>
            <a:pPr indent="0" marL="0">
              <a:buNone/>
            </a:pPr>
            <a:r>
              <a:rPr lang="en-US" sz="3400" dirty="0">
                <a:solidFill>
                  <a:srgbClr val="EB5A1B"/>
                </a:solidFill>
                <a:latin typeface="Poppins ExtraBold" pitchFamily="34" charset="0"/>
                <a:ea typeface="Poppins ExtraBold" pitchFamily="34" charset="-122"/>
                <a:cs typeface="Poppins ExtraBold" pitchFamily="34" charset="-120"/>
              </a:rPr>
              <a:t>≥ 3</a:t>
            </a:r>
            <a:endParaRPr lang="en-US" sz="3400" dirty="0"/>
          </a:p>
        </p:txBody>
      </p:sp>
      <p:sp>
        <p:nvSpPr>
          <p:cNvPr id="16" name="Text 14"/>
          <p:cNvSpPr txBox="1"/>
          <p:nvPr/>
        </p:nvSpPr>
        <p:spPr>
          <a:xfrm>
            <a:off x="960120" y="4462272"/>
            <a:ext cx="2926080" cy="502920"/>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Kundenanfragen pro Monat (ab Monat 4)</a:t>
            </a:r>
            <a:endParaRPr lang="en-US" sz="1300" dirty="0"/>
          </a:p>
        </p:txBody>
      </p:sp>
      <p:sp>
        <p:nvSpPr>
          <p:cNvPr id="17" name="Shape 15"/>
          <p:cNvSpPr/>
          <p:nvPr/>
        </p:nvSpPr>
        <p:spPr>
          <a:xfrm>
            <a:off x="4343400" y="3566160"/>
            <a:ext cx="3429000" cy="1508760"/>
          </a:xfrm>
          <a:prstGeom prst="roundRect">
            <a:avLst>
              <a:gd name="adj" fmla="val 7273"/>
            </a:avLst>
          </a:prstGeom>
          <a:solidFill>
            <a:srgbClr val="222222"/>
          </a:solidFill>
          <a:ln w="12700">
            <a:solidFill>
              <a:srgbClr val="222222"/>
            </a:solidFill>
            <a:prstDash val="solid"/>
          </a:ln>
        </p:spPr>
      </p:sp>
      <p:sp>
        <p:nvSpPr>
          <p:cNvPr id="18" name="Text 16"/>
          <p:cNvSpPr txBox="1"/>
          <p:nvPr/>
        </p:nvSpPr>
        <p:spPr>
          <a:xfrm>
            <a:off x="4617720" y="3749040"/>
            <a:ext cx="2926080" cy="685800"/>
          </a:xfrm>
          <a:prstGeom prst="rect">
            <a:avLst/>
          </a:prstGeom>
          <a:noFill/>
          <a:ln/>
        </p:spPr>
        <p:txBody>
          <a:bodyPr wrap="square" lIns="0" tIns="0" rIns="0" bIns="0" rtlCol="0" anchor="t"/>
          <a:lstStyle/>
          <a:p>
            <a:pPr indent="0" marL="0">
              <a:buNone/>
            </a:pPr>
            <a:r>
              <a:rPr lang="en-US" sz="3400" dirty="0">
                <a:solidFill>
                  <a:srgbClr val="EB5A1B"/>
                </a:solidFill>
                <a:latin typeface="Poppins ExtraBold" pitchFamily="34" charset="0"/>
                <a:ea typeface="Poppins ExtraBold" pitchFamily="34" charset="-122"/>
                <a:cs typeface="Poppins ExtraBold" pitchFamily="34" charset="-120"/>
              </a:rPr>
              <a:t>17 → 40</a:t>
            </a:r>
            <a:endParaRPr lang="en-US" sz="3400" dirty="0"/>
          </a:p>
        </p:txBody>
      </p:sp>
      <p:sp>
        <p:nvSpPr>
          <p:cNvPr id="19" name="Text 17"/>
          <p:cNvSpPr txBox="1"/>
          <p:nvPr/>
        </p:nvSpPr>
        <p:spPr>
          <a:xfrm>
            <a:off x="4617720" y="4462272"/>
            <a:ext cx="2926080" cy="502920"/>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Google-Bewertungen</a:t>
            </a:r>
            <a:endParaRPr lang="en-US" sz="1300" dirty="0"/>
          </a:p>
        </p:txBody>
      </p:sp>
      <p:sp>
        <p:nvSpPr>
          <p:cNvPr id="20" name="Shape 18"/>
          <p:cNvSpPr/>
          <p:nvPr/>
        </p:nvSpPr>
        <p:spPr>
          <a:xfrm>
            <a:off x="8001000" y="3566160"/>
            <a:ext cx="3429000" cy="1508760"/>
          </a:xfrm>
          <a:prstGeom prst="roundRect">
            <a:avLst>
              <a:gd name="adj" fmla="val 7273"/>
            </a:avLst>
          </a:prstGeom>
          <a:solidFill>
            <a:srgbClr val="222222"/>
          </a:solidFill>
          <a:ln w="12700">
            <a:solidFill>
              <a:srgbClr val="222222"/>
            </a:solidFill>
            <a:prstDash val="solid"/>
          </a:ln>
        </p:spPr>
      </p:sp>
      <p:sp>
        <p:nvSpPr>
          <p:cNvPr id="21" name="Text 19"/>
          <p:cNvSpPr txBox="1"/>
          <p:nvPr/>
        </p:nvSpPr>
        <p:spPr>
          <a:xfrm>
            <a:off x="8275320" y="3749040"/>
            <a:ext cx="2926080" cy="685800"/>
          </a:xfrm>
          <a:prstGeom prst="rect">
            <a:avLst/>
          </a:prstGeom>
          <a:noFill/>
          <a:ln/>
        </p:spPr>
        <p:txBody>
          <a:bodyPr wrap="square" lIns="0" tIns="0" rIns="0" bIns="0" rtlCol="0" anchor="t"/>
          <a:lstStyle/>
          <a:p>
            <a:pPr indent="0" marL="0">
              <a:buNone/>
            </a:pPr>
            <a:r>
              <a:rPr lang="en-US" sz="3400" dirty="0">
                <a:solidFill>
                  <a:srgbClr val="EB5A1B"/>
                </a:solidFill>
                <a:latin typeface="Poppins ExtraBold" pitchFamily="34" charset="0"/>
                <a:ea typeface="Poppins ExtraBold" pitchFamily="34" charset="-122"/>
                <a:cs typeface="Poppins ExtraBold" pitchFamily="34" charset="-120"/>
              </a:rPr>
              <a:t>≥ 2 %</a:t>
            </a:r>
            <a:endParaRPr lang="en-US" sz="3400" dirty="0"/>
          </a:p>
        </p:txBody>
      </p:sp>
      <p:sp>
        <p:nvSpPr>
          <p:cNvPr id="22" name="Text 20"/>
          <p:cNvSpPr txBox="1"/>
          <p:nvPr/>
        </p:nvSpPr>
        <p:spPr>
          <a:xfrm>
            <a:off x="8275320" y="4462272"/>
            <a:ext cx="2926080" cy="502920"/>
          </a:xfrm>
          <a:prstGeom prst="rect">
            <a:avLst/>
          </a:prstGeom>
          <a:noFill/>
          <a:ln/>
        </p:spPr>
        <p:txBody>
          <a:bodyPr wrap="square" lIns="0" tIns="0" rIns="0" bIns="0" rtlCol="0" anchor="t"/>
          <a:lstStyle/>
          <a:p>
            <a:pPr indent="0" marL="0">
              <a:buNone/>
            </a:pPr>
            <a:r>
              <a:rPr lang="en-US" sz="1300" dirty="0">
                <a:solidFill>
                  <a:srgbClr val="FFFFFF"/>
                </a:solidFill>
                <a:latin typeface="Poppins" pitchFamily="34" charset="0"/>
                <a:ea typeface="Poppins" pitchFamily="34" charset="-122"/>
                <a:cs typeface="Poppins" pitchFamily="34" charset="-120"/>
              </a:rPr>
              <a:t>Engagement-Rate (Branche Ø 0,48 %)</a:t>
            </a:r>
            <a:endParaRPr lang="en-US" sz="1300" dirty="0"/>
          </a:p>
        </p:txBody>
      </p:sp>
      <p:sp>
        <p:nvSpPr>
          <p:cNvPr id="23" name="Text 21"/>
          <p:cNvSpPr txBox="1"/>
          <p:nvPr/>
        </p:nvSpPr>
        <p:spPr>
          <a:xfrm>
            <a:off x="685800" y="5440680"/>
            <a:ext cx="10789920" cy="32004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Gemessen über: Stichwort „Instagram“ · „Wie sind Sie auf uns aufmerksam geworden?“ · Monatsreport auf 1 Seite · Nullmessung am ersten Tag</a:t>
            </a:r>
            <a:endParaRPr lang="en-US" sz="1200" dirty="0"/>
          </a:p>
        </p:txBody>
      </p:sp>
      <p:pic>
        <p:nvPicPr>
          <p:cNvPr id="24" name="Image 0" descr="/home/user/Marlene/poleschak-social-media/assets/logo-negativ.png">    </p:cNvPr>
          <p:cNvPicPr>
            <a:picLocks noChangeAspect="1"/>
          </p:cNvPicPr>
          <p:nvPr/>
        </p:nvPicPr>
        <p:blipFill>
          <a:blip r:embed="rId1"/>
          <a:stretch>
            <a:fillRect/>
          </a:stretch>
        </p:blipFill>
        <p:spPr>
          <a:xfrm>
            <a:off x="685800" y="6291072"/>
            <a:ext cx="643680" cy="329184"/>
          </a:xfrm>
          <a:prstGeom prst="rect">
            <a:avLst/>
          </a:prstGeom>
        </p:spPr>
      </p:pic>
      <p:sp>
        <p:nvSpPr>
          <p:cNvPr id="25" name="Text 22"/>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18 · DAS MODELL</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Stufe 1: Minijob.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43 Stunden im Monat.</a:t>
            </a:r>
            <a:endParaRPr lang="en-US" sz="3400" dirty="0"/>
          </a:p>
        </p:txBody>
      </p:sp>
      <p:sp>
        <p:nvSpPr>
          <p:cNvPr id="5" name="Shape 3"/>
          <p:cNvSpPr/>
          <p:nvPr/>
        </p:nvSpPr>
        <p:spPr>
          <a:xfrm>
            <a:off x="685800" y="1828800"/>
            <a:ext cx="4206240" cy="4023360"/>
          </a:xfrm>
          <a:prstGeom prst="roundRect">
            <a:avLst>
              <a:gd name="adj" fmla="val 2727"/>
            </a:avLst>
          </a:prstGeom>
          <a:solidFill>
            <a:srgbClr val="111111"/>
          </a:solidFill>
          <a:ln w="12700">
            <a:solidFill>
              <a:srgbClr val="111111"/>
            </a:solidFill>
            <a:prstDash val="solid"/>
          </a:ln>
        </p:spPr>
      </p:sp>
      <p:sp>
        <p:nvSpPr>
          <p:cNvPr id="6" name="Text 4"/>
          <p:cNvSpPr txBox="1"/>
          <p:nvPr/>
        </p:nvSpPr>
        <p:spPr>
          <a:xfrm>
            <a:off x="1005840" y="2057400"/>
            <a:ext cx="3657600" cy="320040"/>
          </a:xfrm>
          <a:prstGeom prst="rect">
            <a:avLst/>
          </a:prstGeom>
          <a:noFill/>
          <a:ln/>
        </p:spPr>
        <p:txBody>
          <a:bodyPr wrap="square" lIns="0" tIns="0" rIns="0" bIns="0" rtlCol="0" anchor="t"/>
          <a:lstStyle/>
          <a:p>
            <a:pPr indent="0" marL="0">
              <a:buNone/>
            </a:pPr>
            <a:r>
              <a:rPr lang="en-US" sz="1100" spc="200" kern="0" dirty="0">
                <a:solidFill>
                  <a:srgbClr val="B4B5BB"/>
                </a:solidFill>
                <a:latin typeface="Poppins Light" pitchFamily="34" charset="0"/>
                <a:ea typeface="Poppins Light" pitchFamily="34" charset="-122"/>
                <a:cs typeface="Poppins Light" pitchFamily="34" charset="-120"/>
              </a:rPr>
              <a:t>Bei der Alarmanlagen Poleschak GmbH</a:t>
            </a:r>
            <a:endParaRPr lang="en-US" sz="1100" dirty="0"/>
          </a:p>
        </p:txBody>
      </p:sp>
      <p:sp>
        <p:nvSpPr>
          <p:cNvPr id="7" name="Text 5"/>
          <p:cNvSpPr txBox="1"/>
          <p:nvPr/>
        </p:nvSpPr>
        <p:spPr>
          <a:xfrm>
            <a:off x="1005840" y="2468880"/>
            <a:ext cx="3657600" cy="731520"/>
          </a:xfrm>
          <a:prstGeom prst="rect">
            <a:avLst/>
          </a:prstGeom>
          <a:noFill/>
          <a:ln/>
        </p:spPr>
        <p:txBody>
          <a:bodyPr wrap="square" lIns="0" tIns="0" rIns="0" bIns="0" rtlCol="0" anchor="t"/>
          <a:lstStyle/>
          <a:p>
            <a:pPr indent="0" marL="0">
              <a:buNone/>
            </a:pPr>
            <a:r>
              <a:rPr lang="en-US" sz="4000" dirty="0">
                <a:solidFill>
                  <a:srgbClr val="EB5A1B"/>
                </a:solidFill>
                <a:latin typeface="Poppins ExtraBold" pitchFamily="34" charset="0"/>
                <a:ea typeface="Poppins ExtraBold" pitchFamily="34" charset="-122"/>
                <a:cs typeface="Poppins ExtraBold" pitchFamily="34" charset="-120"/>
              </a:rPr>
              <a:t>ca. 905 €</a:t>
            </a:r>
            <a:endParaRPr lang="en-US" sz="4000" dirty="0"/>
          </a:p>
        </p:txBody>
      </p:sp>
      <p:sp>
        <p:nvSpPr>
          <p:cNvPr id="8" name="Text 6"/>
          <p:cNvSpPr txBox="1"/>
          <p:nvPr/>
        </p:nvSpPr>
        <p:spPr>
          <a:xfrm>
            <a:off x="1005840" y="3200400"/>
            <a:ext cx="3566160" cy="731520"/>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Kosten pro Monat für die Firma (603 € Minijob inkl. ca. 31 % Abgaben + Sachbezug, Internetpauschale)</a:t>
            </a:r>
            <a:endParaRPr lang="en-US" sz="1200" dirty="0"/>
          </a:p>
        </p:txBody>
      </p:sp>
      <p:sp>
        <p:nvSpPr>
          <p:cNvPr id="9" name="Shape 7"/>
          <p:cNvSpPr/>
          <p:nvPr/>
        </p:nvSpPr>
        <p:spPr>
          <a:xfrm>
            <a:off x="1005840" y="4175760"/>
            <a:ext cx="91440" cy="91440"/>
          </a:xfrm>
          <a:prstGeom prst="ellipse">
            <a:avLst/>
          </a:prstGeom>
          <a:solidFill>
            <a:srgbClr val="EB5A1B"/>
          </a:solidFill>
          <a:ln w="12700">
            <a:solidFill>
              <a:srgbClr val="EB5A1B"/>
            </a:solidFill>
            <a:prstDash val="solid"/>
          </a:ln>
        </p:spPr>
      </p:sp>
      <p:sp>
        <p:nvSpPr>
          <p:cNvPr id="10" name="Text 8"/>
          <p:cNvSpPr txBox="1"/>
          <p:nvPr/>
        </p:nvSpPr>
        <p:spPr>
          <a:xfrm>
            <a:off x="1234440" y="4114800"/>
            <a:ext cx="3337560" cy="463296"/>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Paket S: 12 Feed-Beiträge + 13 Story-Tage pro Monat</a:t>
            </a:r>
            <a:endParaRPr lang="en-US" sz="1200" dirty="0"/>
          </a:p>
        </p:txBody>
      </p:sp>
      <p:sp>
        <p:nvSpPr>
          <p:cNvPr id="11" name="Shape 9"/>
          <p:cNvSpPr/>
          <p:nvPr/>
        </p:nvSpPr>
        <p:spPr>
          <a:xfrm>
            <a:off x="1005840" y="4748784"/>
            <a:ext cx="91440" cy="91440"/>
          </a:xfrm>
          <a:prstGeom prst="ellipse">
            <a:avLst/>
          </a:prstGeom>
          <a:solidFill>
            <a:srgbClr val="EB5A1B"/>
          </a:solidFill>
          <a:ln w="12700">
            <a:solidFill>
              <a:srgbClr val="EB5A1B"/>
            </a:solidFill>
            <a:prstDash val="solid"/>
          </a:ln>
        </p:spPr>
      </p:sp>
      <p:sp>
        <p:nvSpPr>
          <p:cNvPr id="12" name="Text 10"/>
          <p:cNvSpPr txBox="1"/>
          <p:nvPr/>
        </p:nvSpPr>
        <p:spPr>
          <a:xfrm>
            <a:off x="1234440" y="4687824"/>
            <a:ext cx="3337560" cy="463296"/>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Arbeitszeit dokumentiert, getrennt von SWD-Schichten</a:t>
            </a:r>
            <a:endParaRPr lang="en-US" sz="1200" dirty="0"/>
          </a:p>
        </p:txBody>
      </p:sp>
      <p:sp>
        <p:nvSpPr>
          <p:cNvPr id="13" name="Shape 11"/>
          <p:cNvSpPr/>
          <p:nvPr/>
        </p:nvSpPr>
        <p:spPr>
          <a:xfrm>
            <a:off x="1005840" y="5321808"/>
            <a:ext cx="91440" cy="91440"/>
          </a:xfrm>
          <a:prstGeom prst="ellipse">
            <a:avLst/>
          </a:prstGeom>
          <a:solidFill>
            <a:srgbClr val="EB5A1B"/>
          </a:solidFill>
          <a:ln w="12700">
            <a:solidFill>
              <a:srgbClr val="EB5A1B"/>
            </a:solidFill>
            <a:prstDash val="solid"/>
          </a:ln>
        </p:spPr>
      </p:sp>
      <p:sp>
        <p:nvSpPr>
          <p:cNvPr id="14" name="Text 12"/>
          <p:cNvSpPr txBox="1"/>
          <p:nvPr/>
        </p:nvSpPr>
        <p:spPr>
          <a:xfrm>
            <a:off x="1234440" y="5260848"/>
            <a:ext cx="3337560" cy="463296"/>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Vergütung dynamisch an die Minijob-Grenze</a:t>
            </a:r>
            <a:endParaRPr lang="en-US" sz="1200" dirty="0"/>
          </a:p>
        </p:txBody>
      </p:sp>
      <p:graphicFrame>
        <p:nvGraphicFramePr>
          <p:cNvPr id="15" name="Chart 0" descr=""/>
          <p:cNvGraphicFramePr/>
          <p:nvPr/>
        </p:nvGraphicFramePr>
        <p:xfrm>
          <a:off x="5212080" y="1737360"/>
          <a:ext cx="6309360" cy="4206240"/>
        </p:xfrm>
        <a:graphic xmlns:a="http://schemas.openxmlformats.org/drawingml/2006/main">
          <a:graphicData uri="http://schemas.openxmlformats.org/drawingml/2006/chart">
            <c:chart xmlns:c="http://schemas.openxmlformats.org/drawingml/2006/chart" r:id="rId1"/>
          </a:graphicData>
        </a:graphic>
      </p:graphicFrame>
      <p:pic>
        <p:nvPicPr>
          <p:cNvPr id="16" name="Image 0" descr="/home/user/Marlene/poleschak-social-media/assets/logo-transparent.png">    </p:cNvPr>
          <p:cNvPicPr>
            <a:picLocks noChangeAspect="1"/>
          </p:cNvPicPr>
          <p:nvPr/>
        </p:nvPicPr>
        <p:blipFill>
          <a:blip r:embed="rId2"/>
          <a:stretch>
            <a:fillRect/>
          </a:stretch>
        </p:blipFill>
        <p:spPr>
          <a:xfrm>
            <a:off x="685800" y="6291072"/>
            <a:ext cx="643680" cy="329184"/>
          </a:xfrm>
          <a:prstGeom prst="rect">
            <a:avLst/>
          </a:prstGeom>
        </p:spPr>
      </p:pic>
      <p:sp>
        <p:nvSpPr>
          <p:cNvPr id="17" name="Text 13"/>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19 · INVESTITION &amp; GEGENWERT</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Rechnet sich ab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ca. 1 Auftrag pro Monat.</a:t>
            </a:r>
            <a:endParaRPr lang="en-US" sz="3400" dirty="0"/>
          </a:p>
        </p:txBody>
      </p:sp>
      <p:sp>
        <p:nvSpPr>
          <p:cNvPr id="5" name="Text 3"/>
          <p:cNvSpPr txBox="1"/>
          <p:nvPr/>
        </p:nvSpPr>
        <p:spPr>
          <a:xfrm>
            <a:off x="685800" y="1828800"/>
            <a:ext cx="3474720" cy="731520"/>
          </a:xfrm>
          <a:prstGeom prst="rect">
            <a:avLst/>
          </a:prstGeom>
          <a:noFill/>
          <a:ln/>
        </p:spPr>
        <p:txBody>
          <a:bodyPr wrap="square" lIns="0" tIns="0" rIns="0" bIns="0" rtlCol="0" anchor="t"/>
          <a:lstStyle/>
          <a:p>
            <a:pPr indent="0" marL="0">
              <a:buNone/>
            </a:pPr>
            <a:r>
              <a:rPr lang="en-US" sz="3200" dirty="0">
                <a:solidFill>
                  <a:srgbClr val="EB5A1B"/>
                </a:solidFill>
                <a:latin typeface="Poppins ExtraBold" pitchFamily="34" charset="0"/>
                <a:ea typeface="Poppins ExtraBold" pitchFamily="34" charset="-122"/>
                <a:cs typeface="Poppins ExtraBold" pitchFamily="34" charset="-120"/>
              </a:rPr>
              <a:t>15.300 €</a:t>
            </a:r>
            <a:endParaRPr lang="en-US" sz="3200" dirty="0"/>
          </a:p>
        </p:txBody>
      </p:sp>
      <p:sp>
        <p:nvSpPr>
          <p:cNvPr id="6" name="Text 4"/>
          <p:cNvSpPr txBox="1"/>
          <p:nvPr/>
        </p:nvSpPr>
        <p:spPr>
          <a:xfrm>
            <a:off x="685800" y="2560320"/>
            <a:ext cx="329184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Gesamtkosten pro Jahr</a:t>
            </a:r>
            <a:endParaRPr lang="en-US" sz="1400" dirty="0"/>
          </a:p>
        </p:txBody>
      </p:sp>
      <p:sp>
        <p:nvSpPr>
          <p:cNvPr id="7" name="Text 5"/>
          <p:cNvSpPr txBox="1"/>
          <p:nvPr/>
        </p:nvSpPr>
        <p:spPr>
          <a:xfrm>
            <a:off x="685800" y="2880360"/>
            <a:ext cx="3291840" cy="54864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Minijob 10.900 € · Werbung 3.800 € · Ausstattung 600 €</a:t>
            </a:r>
            <a:endParaRPr lang="en-US" sz="1100" dirty="0"/>
          </a:p>
        </p:txBody>
      </p:sp>
      <p:sp>
        <p:nvSpPr>
          <p:cNvPr id="8" name="Text 6"/>
          <p:cNvSpPr txBox="1"/>
          <p:nvPr/>
        </p:nvSpPr>
        <p:spPr>
          <a:xfrm>
            <a:off x="4343400" y="1828800"/>
            <a:ext cx="3474720" cy="731520"/>
          </a:xfrm>
          <a:prstGeom prst="rect">
            <a:avLst/>
          </a:prstGeom>
          <a:noFill/>
          <a:ln/>
        </p:spPr>
        <p:txBody>
          <a:bodyPr wrap="square" lIns="0" tIns="0" rIns="0" bIns="0" rtlCol="0" anchor="t"/>
          <a:lstStyle/>
          <a:p>
            <a:pPr indent="0" marL="0">
              <a:buNone/>
            </a:pPr>
            <a:r>
              <a:rPr lang="en-US" sz="3200" dirty="0">
                <a:solidFill>
                  <a:srgbClr val="EB5A1B"/>
                </a:solidFill>
                <a:latin typeface="Poppins ExtraBold" pitchFamily="34" charset="0"/>
                <a:ea typeface="Poppins ExtraBold" pitchFamily="34" charset="-122"/>
                <a:cs typeface="Poppins ExtraBold" pitchFamily="34" charset="-120"/>
              </a:rPr>
              <a:t>≈ 1</a:t>
            </a:r>
            <a:endParaRPr lang="en-US" sz="3200" dirty="0"/>
          </a:p>
        </p:txBody>
      </p:sp>
      <p:sp>
        <p:nvSpPr>
          <p:cNvPr id="9" name="Text 7"/>
          <p:cNvSpPr txBox="1"/>
          <p:nvPr/>
        </p:nvSpPr>
        <p:spPr>
          <a:xfrm>
            <a:off x="4343400" y="2560320"/>
            <a:ext cx="329184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Auftrag pro Monat reicht</a:t>
            </a:r>
            <a:endParaRPr lang="en-US" sz="1400" dirty="0"/>
          </a:p>
        </p:txBody>
      </p:sp>
      <p:sp>
        <p:nvSpPr>
          <p:cNvPr id="10" name="Text 8"/>
          <p:cNvSpPr txBox="1"/>
          <p:nvPr/>
        </p:nvSpPr>
        <p:spPr>
          <a:xfrm>
            <a:off x="4343400" y="2880360"/>
            <a:ext cx="3291840" cy="54864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bei angenommenen 1.200 € Deckungsbeitrag pro Auftrag</a:t>
            </a:r>
            <a:endParaRPr lang="en-US" sz="1100" dirty="0"/>
          </a:p>
        </p:txBody>
      </p:sp>
      <p:sp>
        <p:nvSpPr>
          <p:cNvPr id="11" name="Text 9"/>
          <p:cNvSpPr txBox="1"/>
          <p:nvPr/>
        </p:nvSpPr>
        <p:spPr>
          <a:xfrm>
            <a:off x="8001000" y="1828800"/>
            <a:ext cx="3474720" cy="731520"/>
          </a:xfrm>
          <a:prstGeom prst="rect">
            <a:avLst/>
          </a:prstGeom>
          <a:noFill/>
          <a:ln/>
        </p:spPr>
        <p:txBody>
          <a:bodyPr wrap="square" lIns="0" tIns="0" rIns="0" bIns="0" rtlCol="0" anchor="t"/>
          <a:lstStyle/>
          <a:p>
            <a:pPr indent="0" marL="0">
              <a:buNone/>
            </a:pPr>
            <a:r>
              <a:rPr lang="en-US" sz="3200" dirty="0">
                <a:solidFill>
                  <a:srgbClr val="EB5A1B"/>
                </a:solidFill>
                <a:latin typeface="Poppins ExtraBold" pitchFamily="34" charset="0"/>
                <a:ea typeface="Poppins ExtraBold" pitchFamily="34" charset="-122"/>
                <a:cs typeface="Poppins ExtraBold" pitchFamily="34" charset="-120"/>
              </a:rPr>
              <a:t>1.500–3.000 €</a:t>
            </a:r>
            <a:endParaRPr lang="en-US" sz="3200" dirty="0"/>
          </a:p>
        </p:txBody>
      </p:sp>
      <p:sp>
        <p:nvSpPr>
          <p:cNvPr id="12" name="Text 10"/>
          <p:cNvSpPr txBox="1"/>
          <p:nvPr/>
        </p:nvSpPr>
        <p:spPr>
          <a:xfrm>
            <a:off x="8001000" y="2560320"/>
            <a:ext cx="329184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spart jede Einstellung</a:t>
            </a:r>
            <a:endParaRPr lang="en-US" sz="1400" dirty="0"/>
          </a:p>
        </p:txBody>
      </p:sp>
      <p:sp>
        <p:nvSpPr>
          <p:cNvPr id="13" name="Text 11"/>
          <p:cNvSpPr txBox="1"/>
          <p:nvPr/>
        </p:nvSpPr>
        <p:spPr>
          <a:xfrm>
            <a:off x="8001000" y="2880360"/>
            <a:ext cx="3291840" cy="54864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typische Vollkosten pro Einstellung über Social Recruiting</a:t>
            </a:r>
            <a:endParaRPr lang="en-US" sz="1100" dirty="0"/>
          </a:p>
        </p:txBody>
      </p:sp>
      <p:sp>
        <p:nvSpPr>
          <p:cNvPr id="14" name="Shape 12"/>
          <p:cNvSpPr/>
          <p:nvPr/>
        </p:nvSpPr>
        <p:spPr>
          <a:xfrm>
            <a:off x="685800" y="3749040"/>
            <a:ext cx="5257800" cy="2103120"/>
          </a:xfrm>
          <a:prstGeom prst="roundRect">
            <a:avLst>
              <a:gd name="adj" fmla="val 5217"/>
            </a:avLst>
          </a:prstGeom>
          <a:solidFill>
            <a:srgbClr val="F4F4F4"/>
          </a:solidFill>
          <a:ln w="12700">
            <a:solidFill>
              <a:srgbClr val="F4F4F4"/>
            </a:solidFill>
            <a:prstDash val="solid"/>
          </a:ln>
        </p:spPr>
      </p:sp>
      <p:sp>
        <p:nvSpPr>
          <p:cNvPr id="15" name="Shape 13"/>
          <p:cNvSpPr/>
          <p:nvPr/>
        </p:nvSpPr>
        <p:spPr>
          <a:xfrm>
            <a:off x="6217920" y="3749040"/>
            <a:ext cx="5257800" cy="2103120"/>
          </a:xfrm>
          <a:prstGeom prst="roundRect">
            <a:avLst>
              <a:gd name="adj" fmla="val 5217"/>
            </a:avLst>
          </a:prstGeom>
          <a:solidFill>
            <a:srgbClr val="111111"/>
          </a:solidFill>
          <a:ln w="12700">
            <a:solidFill>
              <a:srgbClr val="111111"/>
            </a:solidFill>
            <a:prstDash val="solid"/>
          </a:ln>
        </p:spPr>
      </p:sp>
      <p:sp>
        <p:nvSpPr>
          <p:cNvPr id="16" name="Text 14"/>
          <p:cNvSpPr txBox="1"/>
          <p:nvPr/>
        </p:nvSpPr>
        <p:spPr>
          <a:xfrm>
            <a:off x="960120" y="3931920"/>
            <a:ext cx="457200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Agentur (Instagram)</a:t>
            </a:r>
            <a:endParaRPr lang="en-US" sz="1500" dirty="0"/>
          </a:p>
        </p:txBody>
      </p:sp>
      <p:sp>
        <p:nvSpPr>
          <p:cNvPr id="17" name="Shape 15"/>
          <p:cNvSpPr/>
          <p:nvPr/>
        </p:nvSpPr>
        <p:spPr>
          <a:xfrm>
            <a:off x="960120" y="4404360"/>
            <a:ext cx="91440" cy="91440"/>
          </a:xfrm>
          <a:prstGeom prst="ellipse">
            <a:avLst/>
          </a:prstGeom>
          <a:solidFill>
            <a:srgbClr val="EB5A1B"/>
          </a:solidFill>
          <a:ln w="12700">
            <a:solidFill>
              <a:srgbClr val="EB5A1B"/>
            </a:solidFill>
            <a:prstDash val="solid"/>
          </a:ln>
        </p:spPr>
      </p:sp>
      <p:sp>
        <p:nvSpPr>
          <p:cNvPr id="18" name="Text 16"/>
          <p:cNvSpPr txBox="1"/>
          <p:nvPr/>
        </p:nvSpPr>
        <p:spPr>
          <a:xfrm>
            <a:off x="1188720" y="4343400"/>
            <a:ext cx="4526280" cy="249936"/>
          </a:xfrm>
          <a:prstGeom prst="rect">
            <a:avLst/>
          </a:prstGeom>
          <a:noFill/>
          <a:ln/>
        </p:spPr>
        <p:txBody>
          <a:bodyPr wrap="square" lIns="0" tIns="0" rIns="0" bIns="0" rtlCol="0" anchor="t"/>
          <a:lstStyle/>
          <a:p>
            <a:pPr indent="0" marL="0">
              <a:buNone/>
            </a:pPr>
            <a:r>
              <a:rPr lang="en-US" sz="1200" dirty="0">
                <a:solidFill>
                  <a:srgbClr val="222222"/>
                </a:solidFill>
                <a:latin typeface="Poppins" pitchFamily="34" charset="0"/>
                <a:ea typeface="Poppins" pitchFamily="34" charset="-122"/>
                <a:cs typeface="Poppins" pitchFamily="34" charset="-120"/>
              </a:rPr>
              <a:t>ca. 800–1.800 € pro Monat, Werbebudget extra</a:t>
            </a:r>
            <a:endParaRPr lang="en-US" sz="1200" dirty="0"/>
          </a:p>
        </p:txBody>
      </p:sp>
      <p:sp>
        <p:nvSpPr>
          <p:cNvPr id="19" name="Shape 17"/>
          <p:cNvSpPr/>
          <p:nvPr/>
        </p:nvSpPr>
        <p:spPr>
          <a:xfrm>
            <a:off x="960120" y="4764024"/>
            <a:ext cx="91440" cy="91440"/>
          </a:xfrm>
          <a:prstGeom prst="ellipse">
            <a:avLst/>
          </a:prstGeom>
          <a:solidFill>
            <a:srgbClr val="EB5A1B"/>
          </a:solidFill>
          <a:ln w="12700">
            <a:solidFill>
              <a:srgbClr val="EB5A1B"/>
            </a:solidFill>
            <a:prstDash val="solid"/>
          </a:ln>
        </p:spPr>
      </p:sp>
      <p:sp>
        <p:nvSpPr>
          <p:cNvPr id="20" name="Text 18"/>
          <p:cNvSpPr txBox="1"/>
          <p:nvPr/>
        </p:nvSpPr>
        <p:spPr>
          <a:xfrm>
            <a:off x="1188720" y="4703064"/>
            <a:ext cx="4526280" cy="249936"/>
          </a:xfrm>
          <a:prstGeom prst="rect">
            <a:avLst/>
          </a:prstGeom>
          <a:noFill/>
          <a:ln/>
        </p:spPr>
        <p:txBody>
          <a:bodyPr wrap="square" lIns="0" tIns="0" rIns="0" bIns="0" rtlCol="0" anchor="t"/>
          <a:lstStyle/>
          <a:p>
            <a:pPr indent="0" marL="0">
              <a:buNone/>
            </a:pPr>
            <a:r>
              <a:rPr lang="en-US" sz="1200" dirty="0">
                <a:solidFill>
                  <a:srgbClr val="222222"/>
                </a:solidFill>
                <a:latin typeface="Poppins" pitchFamily="34" charset="0"/>
                <a:ea typeface="Poppins" pitchFamily="34" charset="-122"/>
                <a:cs typeface="Poppins" pitchFamily="34" charset="-120"/>
              </a:rPr>
              <a:t>Nicht vor Ort, Drehtage kosten extra</a:t>
            </a:r>
            <a:endParaRPr lang="en-US" sz="1200" dirty="0"/>
          </a:p>
        </p:txBody>
      </p:sp>
      <p:sp>
        <p:nvSpPr>
          <p:cNvPr id="21" name="Shape 19"/>
          <p:cNvSpPr/>
          <p:nvPr/>
        </p:nvSpPr>
        <p:spPr>
          <a:xfrm>
            <a:off x="960120" y="5123688"/>
            <a:ext cx="91440" cy="91440"/>
          </a:xfrm>
          <a:prstGeom prst="ellipse">
            <a:avLst/>
          </a:prstGeom>
          <a:solidFill>
            <a:srgbClr val="EB5A1B"/>
          </a:solidFill>
          <a:ln w="12700">
            <a:solidFill>
              <a:srgbClr val="EB5A1B"/>
            </a:solidFill>
            <a:prstDash val="solid"/>
          </a:ln>
        </p:spPr>
      </p:sp>
      <p:sp>
        <p:nvSpPr>
          <p:cNvPr id="22" name="Text 20"/>
          <p:cNvSpPr txBox="1"/>
          <p:nvPr/>
        </p:nvSpPr>
        <p:spPr>
          <a:xfrm>
            <a:off x="1188720" y="5062728"/>
            <a:ext cx="4526280" cy="249936"/>
          </a:xfrm>
          <a:prstGeom prst="rect">
            <a:avLst/>
          </a:prstGeom>
          <a:noFill/>
          <a:ln/>
        </p:spPr>
        <p:txBody>
          <a:bodyPr wrap="square" lIns="0" tIns="0" rIns="0" bIns="0" rtlCol="0" anchor="t"/>
          <a:lstStyle/>
          <a:p>
            <a:pPr indent="0" marL="0">
              <a:buNone/>
            </a:pPr>
            <a:r>
              <a:rPr lang="en-US" sz="1200" dirty="0">
                <a:solidFill>
                  <a:srgbClr val="222222"/>
                </a:solidFill>
                <a:latin typeface="Poppins" pitchFamily="34" charset="0"/>
                <a:ea typeface="Poppins" pitchFamily="34" charset="-122"/>
                <a:cs typeface="Poppins" pitchFamily="34" charset="-120"/>
              </a:rPr>
              <a:t>Kein Zugang zur Leitstelle bei Nacht</a:t>
            </a:r>
            <a:endParaRPr lang="en-US" sz="1200" dirty="0"/>
          </a:p>
        </p:txBody>
      </p:sp>
      <p:sp>
        <p:nvSpPr>
          <p:cNvPr id="23" name="Shape 21"/>
          <p:cNvSpPr/>
          <p:nvPr/>
        </p:nvSpPr>
        <p:spPr>
          <a:xfrm>
            <a:off x="960120" y="5483352"/>
            <a:ext cx="91440" cy="91440"/>
          </a:xfrm>
          <a:prstGeom prst="ellipse">
            <a:avLst/>
          </a:prstGeom>
          <a:solidFill>
            <a:srgbClr val="EB5A1B"/>
          </a:solidFill>
          <a:ln w="12700">
            <a:solidFill>
              <a:srgbClr val="EB5A1B"/>
            </a:solidFill>
            <a:prstDash val="solid"/>
          </a:ln>
        </p:spPr>
      </p:sp>
      <p:sp>
        <p:nvSpPr>
          <p:cNvPr id="24" name="Text 22"/>
          <p:cNvSpPr txBox="1"/>
          <p:nvPr/>
        </p:nvSpPr>
        <p:spPr>
          <a:xfrm>
            <a:off x="1188720" y="5422392"/>
            <a:ext cx="4526280" cy="249936"/>
          </a:xfrm>
          <a:prstGeom prst="rect">
            <a:avLst/>
          </a:prstGeom>
          <a:noFill/>
          <a:ln/>
        </p:spPr>
        <p:txBody>
          <a:bodyPr wrap="square" lIns="0" tIns="0" rIns="0" bIns="0" rtlCol="0" anchor="t"/>
          <a:lstStyle/>
          <a:p>
            <a:pPr indent="0" marL="0">
              <a:buNone/>
            </a:pPr>
            <a:r>
              <a:rPr lang="en-US" sz="1200" dirty="0">
                <a:solidFill>
                  <a:srgbClr val="222222"/>
                </a:solidFill>
                <a:latin typeface="Poppins" pitchFamily="34" charset="0"/>
                <a:ea typeface="Poppins" pitchFamily="34" charset="-122"/>
                <a:cs typeface="Poppins" pitchFamily="34" charset="-120"/>
              </a:rPr>
              <a:t>Braucht trotzdem eine interne Ansprechperson</a:t>
            </a:r>
            <a:endParaRPr lang="en-US" sz="1200" dirty="0"/>
          </a:p>
        </p:txBody>
      </p:sp>
      <p:sp>
        <p:nvSpPr>
          <p:cNvPr id="25" name="Text 23"/>
          <p:cNvSpPr txBox="1"/>
          <p:nvPr/>
        </p:nvSpPr>
        <p:spPr>
          <a:xfrm>
            <a:off x="6492240" y="3931920"/>
            <a:ext cx="4572000" cy="320040"/>
          </a:xfrm>
          <a:prstGeom prst="rect">
            <a:avLst/>
          </a:prstGeom>
          <a:noFill/>
          <a:ln/>
        </p:spPr>
        <p:txBody>
          <a:bodyPr wrap="square" lIns="0" tIns="0" rIns="0" bIns="0" rtlCol="0" anchor="t"/>
          <a:lstStyle/>
          <a:p>
            <a:pPr indent="0" marL="0">
              <a:buNone/>
            </a:pPr>
            <a:r>
              <a:rPr lang="en-US" sz="1500" dirty="0">
                <a:solidFill>
                  <a:srgbClr val="EB5A1B"/>
                </a:solidFill>
                <a:latin typeface="Poppins SemiBold" pitchFamily="34" charset="0"/>
                <a:ea typeface="Poppins SemiBold" pitchFamily="34" charset="-122"/>
                <a:cs typeface="Poppins SemiBold" pitchFamily="34" charset="-120"/>
              </a:rPr>
              <a:t>Intern (Minijob)</a:t>
            </a:r>
            <a:endParaRPr lang="en-US" sz="1500" dirty="0"/>
          </a:p>
        </p:txBody>
      </p:sp>
      <p:sp>
        <p:nvSpPr>
          <p:cNvPr id="26" name="Shape 24"/>
          <p:cNvSpPr/>
          <p:nvPr/>
        </p:nvSpPr>
        <p:spPr>
          <a:xfrm>
            <a:off x="6492240" y="4404360"/>
            <a:ext cx="91440" cy="91440"/>
          </a:xfrm>
          <a:prstGeom prst="ellipse">
            <a:avLst/>
          </a:prstGeom>
          <a:solidFill>
            <a:srgbClr val="EB5A1B"/>
          </a:solidFill>
          <a:ln w="12700">
            <a:solidFill>
              <a:srgbClr val="EB5A1B"/>
            </a:solidFill>
            <a:prstDash val="solid"/>
          </a:ln>
        </p:spPr>
      </p:sp>
      <p:sp>
        <p:nvSpPr>
          <p:cNvPr id="27" name="Text 25"/>
          <p:cNvSpPr txBox="1"/>
          <p:nvPr/>
        </p:nvSpPr>
        <p:spPr>
          <a:xfrm>
            <a:off x="6720840" y="4343400"/>
            <a:ext cx="4526280" cy="249936"/>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ca. 905 € pro Monat, planbar</a:t>
            </a:r>
            <a:endParaRPr lang="en-US" sz="1200" dirty="0"/>
          </a:p>
        </p:txBody>
      </p:sp>
      <p:sp>
        <p:nvSpPr>
          <p:cNvPr id="28" name="Shape 26"/>
          <p:cNvSpPr/>
          <p:nvPr/>
        </p:nvSpPr>
        <p:spPr>
          <a:xfrm>
            <a:off x="6492240" y="4764024"/>
            <a:ext cx="91440" cy="91440"/>
          </a:xfrm>
          <a:prstGeom prst="ellipse">
            <a:avLst/>
          </a:prstGeom>
          <a:solidFill>
            <a:srgbClr val="EB5A1B"/>
          </a:solidFill>
          <a:ln w="12700">
            <a:solidFill>
              <a:srgbClr val="EB5A1B"/>
            </a:solidFill>
            <a:prstDash val="solid"/>
          </a:ln>
        </p:spPr>
      </p:sp>
      <p:sp>
        <p:nvSpPr>
          <p:cNvPr id="29" name="Text 27"/>
          <p:cNvSpPr txBox="1"/>
          <p:nvPr/>
        </p:nvSpPr>
        <p:spPr>
          <a:xfrm>
            <a:off x="6720840" y="4703064"/>
            <a:ext cx="4526280" cy="249936"/>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Täglich vor Ort, spontane Momente</a:t>
            </a:r>
            <a:endParaRPr lang="en-US" sz="1200" dirty="0"/>
          </a:p>
        </p:txBody>
      </p:sp>
      <p:sp>
        <p:nvSpPr>
          <p:cNvPr id="30" name="Shape 28"/>
          <p:cNvSpPr/>
          <p:nvPr/>
        </p:nvSpPr>
        <p:spPr>
          <a:xfrm>
            <a:off x="6492240" y="5123688"/>
            <a:ext cx="91440" cy="91440"/>
          </a:xfrm>
          <a:prstGeom prst="ellipse">
            <a:avLst/>
          </a:prstGeom>
          <a:solidFill>
            <a:srgbClr val="EB5A1B"/>
          </a:solidFill>
          <a:ln w="12700">
            <a:solidFill>
              <a:srgbClr val="EB5A1B"/>
            </a:solidFill>
            <a:prstDash val="solid"/>
          </a:ln>
        </p:spPr>
      </p:sp>
      <p:sp>
        <p:nvSpPr>
          <p:cNvPr id="31" name="Text 29"/>
          <p:cNvSpPr txBox="1"/>
          <p:nvPr/>
        </p:nvSpPr>
        <p:spPr>
          <a:xfrm>
            <a:off x="6720840" y="5062728"/>
            <a:ext cx="4526280" cy="249936"/>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Content aus erster Hand: die Nachtschicht</a:t>
            </a:r>
            <a:endParaRPr lang="en-US" sz="1200" dirty="0"/>
          </a:p>
        </p:txBody>
      </p:sp>
      <p:sp>
        <p:nvSpPr>
          <p:cNvPr id="32" name="Shape 30"/>
          <p:cNvSpPr/>
          <p:nvPr/>
        </p:nvSpPr>
        <p:spPr>
          <a:xfrm>
            <a:off x="6492240" y="5483352"/>
            <a:ext cx="91440" cy="91440"/>
          </a:xfrm>
          <a:prstGeom prst="ellipse">
            <a:avLst/>
          </a:prstGeom>
          <a:solidFill>
            <a:srgbClr val="EB5A1B"/>
          </a:solidFill>
          <a:ln w="12700">
            <a:solidFill>
              <a:srgbClr val="EB5A1B"/>
            </a:solidFill>
            <a:prstDash val="solid"/>
          </a:ln>
        </p:spPr>
      </p:sp>
      <p:sp>
        <p:nvSpPr>
          <p:cNvPr id="33" name="Text 31"/>
          <p:cNvSpPr txBox="1"/>
          <p:nvPr/>
        </p:nvSpPr>
        <p:spPr>
          <a:xfrm>
            <a:off x="6720840" y="5422392"/>
            <a:ext cx="4526280" cy="249936"/>
          </a:xfrm>
          <a:prstGeom prst="rect">
            <a:avLst/>
          </a:prstGeom>
          <a:noFill/>
          <a:ln/>
        </p:spPr>
        <p:txBody>
          <a:bodyPr wrap="square" lIns="0" tIns="0" rIns="0" bIns="0" rtlCol="0" anchor="t"/>
          <a:lstStyle/>
          <a:p>
            <a:pPr indent="0" marL="0">
              <a:buNone/>
            </a:pPr>
            <a:r>
              <a:rPr lang="en-US" sz="1200" dirty="0">
                <a:solidFill>
                  <a:srgbClr val="FFFFFF"/>
                </a:solidFill>
                <a:latin typeface="Poppins" pitchFamily="34" charset="0"/>
                <a:ea typeface="Poppins" pitchFamily="34" charset="-122"/>
                <a:cs typeface="Poppins" pitchFamily="34" charset="-120"/>
              </a:rPr>
              <a:t>Echter Recruiting-Content von innen</a:t>
            </a:r>
            <a:endParaRPr lang="en-US" sz="1200" dirty="0"/>
          </a:p>
        </p:txBody>
      </p:sp>
      <p:pic>
        <p:nvPicPr>
          <p:cNvPr id="34"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35" name="Text 32"/>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20 · WARUM INTERN</a:t>
            </a:r>
            <a:endParaRPr lang="en-US" sz="1200" dirty="0"/>
          </a:p>
        </p:txBody>
      </p:sp>
      <p:sp>
        <p:nvSpPr>
          <p:cNvPr id="4" name="Text 2"/>
          <p:cNvSpPr txBox="1"/>
          <p:nvPr/>
        </p:nvSpPr>
        <p:spPr>
          <a:xfrm>
            <a:off x="685800" y="868680"/>
            <a:ext cx="6858000" cy="1188720"/>
          </a:xfrm>
          <a:prstGeom prst="rect">
            <a:avLst/>
          </a:prstGeom>
          <a:noFill/>
          <a:ln/>
        </p:spPr>
        <p:txBody>
          <a:bodyPr wrap="square" lIns="0" tIns="0" rIns="0" bIns="0" rtlCol="0" anchor="t"/>
          <a:lstStyle/>
          <a:p>
            <a:pPr indent="0" marL="0">
              <a:buNone/>
            </a:pPr>
            <a:r>
              <a:rPr lang="en-US" sz="3400" dirty="0">
                <a:solidFill>
                  <a:srgbClr val="FFFFFF"/>
                </a:solidFill>
                <a:latin typeface="Poppins ExtraBold" pitchFamily="34" charset="0"/>
                <a:ea typeface="Poppins ExtraBold" pitchFamily="34" charset="-122"/>
                <a:cs typeface="Poppins ExtraBold" pitchFamily="34" charset="-120"/>
              </a:rPr>
              <a:t>Ich bin nachts wach.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Ich bin das Versprechen.</a:t>
            </a:r>
            <a:endParaRPr lang="en-US" sz="3400" dirty="0"/>
          </a:p>
        </p:txBody>
      </p:sp>
      <p:sp>
        <p:nvSpPr>
          <p:cNvPr id="5" name="Shape 3"/>
          <p:cNvSpPr/>
          <p:nvPr/>
        </p:nvSpPr>
        <p:spPr>
          <a:xfrm>
            <a:off x="7863840" y="914400"/>
            <a:ext cx="3657600" cy="4754880"/>
          </a:xfrm>
          <a:prstGeom prst="roundRect">
            <a:avLst>
              <a:gd name="adj" fmla="val 3000"/>
            </a:avLst>
          </a:prstGeom>
          <a:solidFill>
            <a:srgbClr val="222222"/>
          </a:solidFill>
          <a:ln w="12700">
            <a:solidFill>
              <a:srgbClr val="222222"/>
            </a:solidFill>
            <a:prstDash val="solid"/>
          </a:ln>
        </p:spPr>
      </p:sp>
      <p:pic>
        <p:nvPicPr>
          <p:cNvPr id="6" name="Image 0" descr="/tmp/claude-0/-home-user-Marlene/67342075-d45e-5dfd-8246-b97e829a8c42/scratchpad/deck/img/FaCamera-o.png">    </p:cNvPr>
          <p:cNvPicPr>
            <a:picLocks noChangeAspect="1"/>
          </p:cNvPicPr>
          <p:nvPr/>
        </p:nvPicPr>
        <p:blipFill>
          <a:blip r:embed="rId1"/>
          <a:stretch>
            <a:fillRect/>
          </a:stretch>
        </p:blipFill>
        <p:spPr>
          <a:xfrm>
            <a:off x="9372600" y="2651760"/>
            <a:ext cx="640080" cy="640080"/>
          </a:xfrm>
          <a:prstGeom prst="rect">
            <a:avLst/>
          </a:prstGeom>
        </p:spPr>
      </p:pic>
      <p:sp>
        <p:nvSpPr>
          <p:cNvPr id="7" name="Text 4"/>
          <p:cNvSpPr txBox="1"/>
          <p:nvPr/>
        </p:nvSpPr>
        <p:spPr>
          <a:xfrm>
            <a:off x="7863840" y="3429000"/>
            <a:ext cx="3657600" cy="365760"/>
          </a:xfrm>
          <a:prstGeom prst="rect">
            <a:avLst/>
          </a:prstGeom>
          <a:noFill/>
          <a:ln/>
        </p:spPr>
        <p:txBody>
          <a:bodyPr wrap="square" lIns="0" tIns="0" rIns="0" bIns="0" rtlCol="0" anchor="t"/>
          <a:lstStyle/>
          <a:p>
            <a:pPr algn="ctr" indent="0" marL="0">
              <a:buNone/>
            </a:pPr>
            <a:r>
              <a:rPr lang="en-US" sz="1300" dirty="0">
                <a:solidFill>
                  <a:srgbClr val="B4B5BB"/>
                </a:solidFill>
                <a:latin typeface="Poppins SemiBold" pitchFamily="34" charset="0"/>
                <a:ea typeface="Poppins SemiBold" pitchFamily="34" charset="-122"/>
                <a:cs typeface="Poppins SemiBold" pitchFamily="34" charset="-120"/>
              </a:rPr>
              <a:t>Foto von dir einsetzen</a:t>
            </a:r>
            <a:endParaRPr lang="en-US" sz="1300" dirty="0"/>
          </a:p>
        </p:txBody>
      </p:sp>
      <p:sp>
        <p:nvSpPr>
          <p:cNvPr id="8" name="Shape 5"/>
          <p:cNvSpPr/>
          <p:nvPr/>
        </p:nvSpPr>
        <p:spPr>
          <a:xfrm>
            <a:off x="685800" y="2331720"/>
            <a:ext cx="548640" cy="548640"/>
          </a:xfrm>
          <a:prstGeom prst="ellipse">
            <a:avLst/>
          </a:prstGeom>
          <a:solidFill>
            <a:srgbClr val="EB5A1B"/>
          </a:solidFill>
          <a:ln w="12700">
            <a:solidFill>
              <a:srgbClr val="EB5A1B"/>
            </a:solidFill>
            <a:prstDash val="solid"/>
          </a:ln>
        </p:spPr>
      </p:sp>
      <p:pic>
        <p:nvPicPr>
          <p:cNvPr id="9" name="Image 1" descr="/tmp/claude-0/-home-user-Marlene/67342075-d45e-5dfd-8246-b97e829a8c42/scratchpad/deck/img/FaHeadset-w.png">    </p:cNvPr>
          <p:cNvPicPr>
            <a:picLocks noChangeAspect="1"/>
          </p:cNvPicPr>
          <p:nvPr/>
        </p:nvPicPr>
        <p:blipFill>
          <a:blip r:embed="rId2"/>
          <a:stretch>
            <a:fillRect/>
          </a:stretch>
        </p:blipFill>
        <p:spPr>
          <a:xfrm>
            <a:off x="828446" y="2474366"/>
            <a:ext cx="263347" cy="263347"/>
          </a:xfrm>
          <a:prstGeom prst="rect">
            <a:avLst/>
          </a:prstGeom>
        </p:spPr>
      </p:pic>
      <p:sp>
        <p:nvSpPr>
          <p:cNvPr id="10" name="Text 6"/>
          <p:cNvSpPr txBox="1"/>
          <p:nvPr/>
        </p:nvSpPr>
        <p:spPr>
          <a:xfrm>
            <a:off x="1463040" y="2313432"/>
            <a:ext cx="6035040" cy="36576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Ich arbeite im Nachtdienst der Leitstelle</a:t>
            </a:r>
            <a:endParaRPr lang="en-US" sz="1600" dirty="0"/>
          </a:p>
        </p:txBody>
      </p:sp>
      <p:sp>
        <p:nvSpPr>
          <p:cNvPr id="11" name="Text 7"/>
          <p:cNvSpPr txBox="1"/>
          <p:nvPr/>
        </p:nvSpPr>
        <p:spPr>
          <a:xfrm>
            <a:off x="1463040" y="2679192"/>
            <a:ext cx="6035040" cy="59436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Ich kenne die Abläufe, die Menschen und die Momente, die man zeigen kann und die man nicht zeigen darf.</a:t>
            </a:r>
            <a:endParaRPr lang="en-US" sz="1200" dirty="0"/>
          </a:p>
        </p:txBody>
      </p:sp>
      <p:sp>
        <p:nvSpPr>
          <p:cNvPr id="12" name="Shape 8"/>
          <p:cNvSpPr/>
          <p:nvPr/>
        </p:nvSpPr>
        <p:spPr>
          <a:xfrm>
            <a:off x="685800" y="3474720"/>
            <a:ext cx="548640" cy="548640"/>
          </a:xfrm>
          <a:prstGeom prst="ellipse">
            <a:avLst/>
          </a:prstGeom>
          <a:solidFill>
            <a:srgbClr val="EB5A1B"/>
          </a:solidFill>
          <a:ln w="12700">
            <a:solidFill>
              <a:srgbClr val="EB5A1B"/>
            </a:solidFill>
            <a:prstDash val="solid"/>
          </a:ln>
        </p:spPr>
      </p:sp>
      <p:pic>
        <p:nvPicPr>
          <p:cNvPr id="13" name="Image 2" descr="/tmp/claude-0/-home-user-Marlene/67342075-d45e-5dfd-8246-b97e829a8c42/scratchpad/deck/img/FaEyeSlash-w.png">    </p:cNvPr>
          <p:cNvPicPr>
            <a:picLocks noChangeAspect="1"/>
          </p:cNvPicPr>
          <p:nvPr/>
        </p:nvPicPr>
        <p:blipFill>
          <a:blip r:embed="rId3"/>
          <a:stretch>
            <a:fillRect/>
          </a:stretch>
        </p:blipFill>
        <p:spPr>
          <a:xfrm>
            <a:off x="828446" y="3617366"/>
            <a:ext cx="263347" cy="263347"/>
          </a:xfrm>
          <a:prstGeom prst="rect">
            <a:avLst/>
          </a:prstGeom>
        </p:spPr>
      </p:pic>
      <p:sp>
        <p:nvSpPr>
          <p:cNvPr id="14" name="Text 9"/>
          <p:cNvSpPr txBox="1"/>
          <p:nvPr/>
        </p:nvSpPr>
        <p:spPr>
          <a:xfrm>
            <a:off x="1463040" y="3456432"/>
            <a:ext cx="6035040" cy="36576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Diskretion ist mein Alltag</a:t>
            </a:r>
            <a:endParaRPr lang="en-US" sz="1600" dirty="0"/>
          </a:p>
        </p:txBody>
      </p:sp>
      <p:sp>
        <p:nvSpPr>
          <p:cNvPr id="15" name="Text 10"/>
          <p:cNvSpPr txBox="1"/>
          <p:nvPr/>
        </p:nvSpPr>
        <p:spPr>
          <a:xfrm>
            <a:off x="1463040" y="3822192"/>
            <a:ext cx="6035040" cy="59436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Datenschutz und Sicherheit sind in unserem Geschäft nicht verhandelbar. Das bringe ich mit.</a:t>
            </a:r>
            <a:endParaRPr lang="en-US" sz="1200" dirty="0"/>
          </a:p>
        </p:txBody>
      </p:sp>
      <p:sp>
        <p:nvSpPr>
          <p:cNvPr id="16" name="Shape 11"/>
          <p:cNvSpPr/>
          <p:nvPr/>
        </p:nvSpPr>
        <p:spPr>
          <a:xfrm>
            <a:off x="685800" y="4617720"/>
            <a:ext cx="548640" cy="548640"/>
          </a:xfrm>
          <a:prstGeom prst="ellipse">
            <a:avLst/>
          </a:prstGeom>
          <a:solidFill>
            <a:srgbClr val="EB5A1B"/>
          </a:solidFill>
          <a:ln w="12700">
            <a:solidFill>
              <a:srgbClr val="EB5A1B"/>
            </a:solidFill>
            <a:prstDash val="solid"/>
          </a:ln>
        </p:spPr>
      </p:sp>
      <p:pic>
        <p:nvPicPr>
          <p:cNvPr id="17" name="Image 3" descr="/tmp/claude-0/-home-user-Marlene/67342075-d45e-5dfd-8246-b97e829a8c42/scratchpad/deck/img/FaUsers-w.png">    </p:cNvPr>
          <p:cNvPicPr>
            <a:picLocks noChangeAspect="1"/>
          </p:cNvPicPr>
          <p:nvPr/>
        </p:nvPicPr>
        <p:blipFill>
          <a:blip r:embed="rId4"/>
          <a:stretch>
            <a:fillRect/>
          </a:stretch>
        </p:blipFill>
        <p:spPr>
          <a:xfrm>
            <a:off x="828446" y="4760366"/>
            <a:ext cx="263347" cy="263347"/>
          </a:xfrm>
          <a:prstGeom prst="rect">
            <a:avLst/>
          </a:prstGeom>
        </p:spPr>
      </p:pic>
      <p:sp>
        <p:nvSpPr>
          <p:cNvPr id="18" name="Text 12"/>
          <p:cNvSpPr txBox="1"/>
          <p:nvPr/>
        </p:nvSpPr>
        <p:spPr>
          <a:xfrm>
            <a:off x="1463040" y="4599432"/>
            <a:ext cx="6035040" cy="36576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Ich bin mittendrin</a:t>
            </a:r>
            <a:endParaRPr lang="en-US" sz="1600" dirty="0"/>
          </a:p>
        </p:txBody>
      </p:sp>
      <p:sp>
        <p:nvSpPr>
          <p:cNvPr id="19" name="Text 13"/>
          <p:cNvSpPr txBox="1"/>
          <p:nvPr/>
        </p:nvSpPr>
        <p:spPr>
          <a:xfrm>
            <a:off x="1463040" y="4965192"/>
            <a:ext cx="6035040" cy="59436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Nah an Team, Azubis und Technik. Kein Briefing, keine Anfahrt, keine Drehtag-Pauschale.</a:t>
            </a:r>
            <a:endParaRPr lang="en-US" sz="1200" dirty="0"/>
          </a:p>
        </p:txBody>
      </p:sp>
      <p:pic>
        <p:nvPicPr>
          <p:cNvPr id="20" name="Image 4" descr="/home/user/Marlene/poleschak-social-media/assets/logo-negativ.png">    </p:cNvPr>
          <p:cNvPicPr>
            <a:picLocks noChangeAspect="1"/>
          </p:cNvPicPr>
          <p:nvPr/>
        </p:nvPicPr>
        <p:blipFill>
          <a:blip r:embed="rId5"/>
          <a:stretch>
            <a:fillRect/>
          </a:stretch>
        </p:blipFill>
        <p:spPr>
          <a:xfrm>
            <a:off x="685800" y="6291072"/>
            <a:ext cx="643680" cy="329184"/>
          </a:xfrm>
          <a:prstGeom prst="rect">
            <a:avLst/>
          </a:prstGeom>
        </p:spPr>
      </p:pic>
      <p:sp>
        <p:nvSpPr>
          <p:cNvPr id="21" name="Text 14"/>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21 · VORAUSSETZUNGEN &amp; SPIELREGELN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Was es braucht, damit es funktioniert.</a:t>
            </a:r>
            <a:endParaRPr lang="en-US" sz="3400" dirty="0"/>
          </a:p>
        </p:txBody>
      </p:sp>
      <p:sp>
        <p:nvSpPr>
          <p:cNvPr id="5" name="Shape 3"/>
          <p:cNvSpPr/>
          <p:nvPr/>
        </p:nvSpPr>
        <p:spPr>
          <a:xfrm>
            <a:off x="685800" y="1874520"/>
            <a:ext cx="502920" cy="502920"/>
          </a:xfrm>
          <a:prstGeom prst="ellipse">
            <a:avLst/>
          </a:prstGeom>
          <a:solidFill>
            <a:srgbClr val="EB5A1B"/>
          </a:solidFill>
          <a:ln w="12700">
            <a:solidFill>
              <a:srgbClr val="EB5A1B"/>
            </a:solidFill>
            <a:prstDash val="solid"/>
          </a:ln>
        </p:spPr>
      </p:sp>
      <p:pic>
        <p:nvPicPr>
          <p:cNvPr id="6" name="Image 0" descr="/tmp/claude-0/-home-user-Marlene/67342075-d45e-5dfd-8246-b97e829a8c42/scratchpad/deck/img/FaKey-w.png">    </p:cNvPr>
          <p:cNvPicPr>
            <a:picLocks noChangeAspect="1"/>
          </p:cNvPicPr>
          <p:nvPr/>
        </p:nvPicPr>
        <p:blipFill>
          <a:blip r:embed="rId1"/>
          <a:stretch>
            <a:fillRect/>
          </a:stretch>
        </p:blipFill>
        <p:spPr>
          <a:xfrm>
            <a:off x="816559" y="2005279"/>
            <a:ext cx="241402" cy="241402"/>
          </a:xfrm>
          <a:prstGeom prst="rect">
            <a:avLst/>
          </a:prstGeom>
        </p:spPr>
      </p:pic>
      <p:sp>
        <p:nvSpPr>
          <p:cNvPr id="7" name="Text 4"/>
          <p:cNvSpPr txBox="1"/>
          <p:nvPr/>
        </p:nvSpPr>
        <p:spPr>
          <a:xfrm>
            <a:off x="1371600" y="1856232"/>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Admin-Zugang</a:t>
            </a:r>
            <a:endParaRPr lang="en-US" sz="1500" dirty="0"/>
          </a:p>
        </p:txBody>
      </p:sp>
      <p:sp>
        <p:nvSpPr>
          <p:cNvPr id="8" name="Text 5"/>
          <p:cNvSpPr txBox="1"/>
          <p:nvPr/>
        </p:nvSpPr>
        <p:spPr>
          <a:xfrm>
            <a:off x="1371600" y="2176272"/>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Instagram, Facebook, Meta Business Suite + Werbekonto</a:t>
            </a:r>
            <a:endParaRPr lang="en-US" sz="1200" dirty="0"/>
          </a:p>
        </p:txBody>
      </p:sp>
      <p:sp>
        <p:nvSpPr>
          <p:cNvPr id="9" name="Shape 6"/>
          <p:cNvSpPr/>
          <p:nvPr/>
        </p:nvSpPr>
        <p:spPr>
          <a:xfrm>
            <a:off x="685800" y="2862072"/>
            <a:ext cx="502920" cy="502920"/>
          </a:xfrm>
          <a:prstGeom prst="ellipse">
            <a:avLst/>
          </a:prstGeom>
          <a:solidFill>
            <a:srgbClr val="EB5A1B"/>
          </a:solidFill>
          <a:ln w="12700">
            <a:solidFill>
              <a:srgbClr val="EB5A1B"/>
            </a:solidFill>
            <a:prstDash val="solid"/>
          </a:ln>
        </p:spPr>
      </p:sp>
      <p:pic>
        <p:nvPicPr>
          <p:cNvPr id="10" name="Image 1" descr="/tmp/claude-0/-home-user-Marlene/67342075-d45e-5dfd-8246-b97e829a8c42/scratchpad/deck/img/FaHandshake-w.png">    </p:cNvPr>
          <p:cNvPicPr>
            <a:picLocks noChangeAspect="1"/>
          </p:cNvPicPr>
          <p:nvPr/>
        </p:nvPicPr>
        <p:blipFill>
          <a:blip r:embed="rId2"/>
          <a:stretch>
            <a:fillRect/>
          </a:stretch>
        </p:blipFill>
        <p:spPr>
          <a:xfrm>
            <a:off x="816559" y="2992831"/>
            <a:ext cx="241402" cy="241402"/>
          </a:xfrm>
          <a:prstGeom prst="rect">
            <a:avLst/>
          </a:prstGeom>
        </p:spPr>
      </p:pic>
      <p:sp>
        <p:nvSpPr>
          <p:cNvPr id="11" name="Text 7"/>
          <p:cNvSpPr txBox="1"/>
          <p:nvPr/>
        </p:nvSpPr>
        <p:spPr>
          <a:xfrm>
            <a:off x="1371600" y="2843784"/>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Freigabe in 24 h</a:t>
            </a:r>
            <a:endParaRPr lang="en-US" sz="1500" dirty="0"/>
          </a:p>
        </p:txBody>
      </p:sp>
      <p:sp>
        <p:nvSpPr>
          <p:cNvPr id="12" name="Text 8"/>
          <p:cNvSpPr txBox="1"/>
          <p:nvPr/>
        </p:nvSpPr>
        <p:spPr>
          <a:xfrm>
            <a:off x="1371600" y="3163824"/>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Wochenplan montags, eine feste Ansprechperson</a:t>
            </a:r>
            <a:endParaRPr lang="en-US" sz="1200" dirty="0"/>
          </a:p>
        </p:txBody>
      </p:sp>
      <p:sp>
        <p:nvSpPr>
          <p:cNvPr id="13" name="Shape 9"/>
          <p:cNvSpPr/>
          <p:nvPr/>
        </p:nvSpPr>
        <p:spPr>
          <a:xfrm>
            <a:off x="685800" y="3849624"/>
            <a:ext cx="502920" cy="502920"/>
          </a:xfrm>
          <a:prstGeom prst="ellipse">
            <a:avLst/>
          </a:prstGeom>
          <a:solidFill>
            <a:srgbClr val="EB5A1B"/>
          </a:solidFill>
          <a:ln w="12700">
            <a:solidFill>
              <a:srgbClr val="EB5A1B"/>
            </a:solidFill>
            <a:prstDash val="solid"/>
          </a:ln>
        </p:spPr>
      </p:sp>
      <p:pic>
        <p:nvPicPr>
          <p:cNvPr id="14" name="Image 2" descr="/tmp/claude-0/-home-user-Marlene/67342075-d45e-5dfd-8246-b97e829a8c42/scratchpad/deck/img/FaCamera-w.png">    </p:cNvPr>
          <p:cNvPicPr>
            <a:picLocks noChangeAspect="1"/>
          </p:cNvPicPr>
          <p:nvPr/>
        </p:nvPicPr>
        <p:blipFill>
          <a:blip r:embed="rId3"/>
          <a:stretch>
            <a:fillRect/>
          </a:stretch>
        </p:blipFill>
        <p:spPr>
          <a:xfrm>
            <a:off x="816559" y="3980383"/>
            <a:ext cx="241402" cy="241402"/>
          </a:xfrm>
          <a:prstGeom prst="rect">
            <a:avLst/>
          </a:prstGeom>
        </p:spPr>
      </p:pic>
      <p:sp>
        <p:nvSpPr>
          <p:cNvPr id="15" name="Text 10"/>
          <p:cNvSpPr txBox="1"/>
          <p:nvPr/>
        </p:nvSpPr>
        <p:spPr>
          <a:xfrm>
            <a:off x="1371600" y="3831336"/>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Foto-Einwilligungen</a:t>
            </a:r>
            <a:endParaRPr lang="en-US" sz="1500" dirty="0"/>
          </a:p>
        </p:txBody>
      </p:sp>
      <p:sp>
        <p:nvSpPr>
          <p:cNvPr id="16" name="Text 11"/>
          <p:cNvSpPr txBox="1"/>
          <p:nvPr/>
        </p:nvSpPr>
        <p:spPr>
          <a:xfrm>
            <a:off x="1371600" y="4151376"/>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schriftlich, freiwillig, jederzeit widerrufbar (Vorlage fertig)</a:t>
            </a:r>
            <a:endParaRPr lang="en-US" sz="1200" dirty="0"/>
          </a:p>
        </p:txBody>
      </p:sp>
      <p:sp>
        <p:nvSpPr>
          <p:cNvPr id="17" name="Shape 12"/>
          <p:cNvSpPr/>
          <p:nvPr/>
        </p:nvSpPr>
        <p:spPr>
          <a:xfrm>
            <a:off x="685800" y="4837176"/>
            <a:ext cx="502920" cy="502920"/>
          </a:xfrm>
          <a:prstGeom prst="ellipse">
            <a:avLst/>
          </a:prstGeom>
          <a:solidFill>
            <a:srgbClr val="EB5A1B"/>
          </a:solidFill>
          <a:ln w="12700">
            <a:solidFill>
              <a:srgbClr val="EB5A1B"/>
            </a:solidFill>
            <a:prstDash val="solid"/>
          </a:ln>
        </p:spPr>
      </p:sp>
      <p:pic>
        <p:nvPicPr>
          <p:cNvPr id="18" name="Image 3" descr="/tmp/claude-0/-home-user-Marlene/67342075-d45e-5dfd-8246-b97e829a8c42/scratchpad/deck/img/FaClock-w.png">    </p:cNvPr>
          <p:cNvPicPr>
            <a:picLocks noChangeAspect="1"/>
          </p:cNvPicPr>
          <p:nvPr/>
        </p:nvPicPr>
        <p:blipFill>
          <a:blip r:embed="rId4"/>
          <a:stretch>
            <a:fillRect/>
          </a:stretch>
        </p:blipFill>
        <p:spPr>
          <a:xfrm>
            <a:off x="816559" y="4967935"/>
            <a:ext cx="241402" cy="241402"/>
          </a:xfrm>
          <a:prstGeom prst="rect">
            <a:avLst/>
          </a:prstGeom>
        </p:spPr>
      </p:pic>
      <p:sp>
        <p:nvSpPr>
          <p:cNvPr id="19" name="Text 13"/>
          <p:cNvSpPr txBox="1"/>
          <p:nvPr/>
        </p:nvSpPr>
        <p:spPr>
          <a:xfrm>
            <a:off x="1371600" y="4818888"/>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Arbeitszeit getrennt</a:t>
            </a:r>
            <a:endParaRPr lang="en-US" sz="1500" dirty="0"/>
          </a:p>
        </p:txBody>
      </p:sp>
      <p:sp>
        <p:nvSpPr>
          <p:cNvPr id="20" name="Text 14"/>
          <p:cNvSpPr txBox="1"/>
          <p:nvPr/>
        </p:nvSpPr>
        <p:spPr>
          <a:xfrm>
            <a:off x="1371600" y="5138928"/>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Content nur in Minijob-Zeit, nie während der SWD-Schicht</a:t>
            </a:r>
            <a:endParaRPr lang="en-US" sz="1200" dirty="0"/>
          </a:p>
        </p:txBody>
      </p:sp>
      <p:sp>
        <p:nvSpPr>
          <p:cNvPr id="21" name="Shape 15"/>
          <p:cNvSpPr/>
          <p:nvPr/>
        </p:nvSpPr>
        <p:spPr>
          <a:xfrm>
            <a:off x="6263640" y="1874520"/>
            <a:ext cx="502920" cy="502920"/>
          </a:xfrm>
          <a:prstGeom prst="ellipse">
            <a:avLst/>
          </a:prstGeom>
          <a:solidFill>
            <a:srgbClr val="EB5A1B"/>
          </a:solidFill>
          <a:ln w="12700">
            <a:solidFill>
              <a:srgbClr val="EB5A1B"/>
            </a:solidFill>
            <a:prstDash val="solid"/>
          </a:ln>
        </p:spPr>
      </p:sp>
      <p:pic>
        <p:nvPicPr>
          <p:cNvPr id="22" name="Image 4" descr="/tmp/claude-0/-home-user-Marlene/67342075-d45e-5dfd-8246-b97e829a8c42/scratchpad/deck/img/FaEyeSlash-w.png">    </p:cNvPr>
          <p:cNvPicPr>
            <a:picLocks noChangeAspect="1"/>
          </p:cNvPicPr>
          <p:nvPr/>
        </p:nvPicPr>
        <p:blipFill>
          <a:blip r:embed="rId5"/>
          <a:stretch>
            <a:fillRect/>
          </a:stretch>
        </p:blipFill>
        <p:spPr>
          <a:xfrm>
            <a:off x="6394399" y="2005279"/>
            <a:ext cx="241402" cy="241402"/>
          </a:xfrm>
          <a:prstGeom prst="rect">
            <a:avLst/>
          </a:prstGeom>
        </p:spPr>
      </p:pic>
      <p:sp>
        <p:nvSpPr>
          <p:cNvPr id="23" name="Text 16"/>
          <p:cNvSpPr txBox="1"/>
          <p:nvPr/>
        </p:nvSpPr>
        <p:spPr>
          <a:xfrm>
            <a:off x="6949440" y="1856232"/>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Diskretionsregel</a:t>
            </a:r>
            <a:endParaRPr lang="en-US" sz="1500" dirty="0"/>
          </a:p>
        </p:txBody>
      </p:sp>
      <p:sp>
        <p:nvSpPr>
          <p:cNvPr id="24" name="Text 17"/>
          <p:cNvSpPr txBox="1"/>
          <p:nvPr/>
        </p:nvSpPr>
        <p:spPr>
          <a:xfrm>
            <a:off x="6949440" y="2176272"/>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„Könnte ein Einbrecher aus dem Bild etwas lernen?“ Dann nicht.</a:t>
            </a:r>
            <a:endParaRPr lang="en-US" sz="1200" dirty="0"/>
          </a:p>
        </p:txBody>
      </p:sp>
      <p:sp>
        <p:nvSpPr>
          <p:cNvPr id="25" name="Shape 18"/>
          <p:cNvSpPr/>
          <p:nvPr/>
        </p:nvSpPr>
        <p:spPr>
          <a:xfrm>
            <a:off x="6263640" y="2862072"/>
            <a:ext cx="502920" cy="502920"/>
          </a:xfrm>
          <a:prstGeom prst="ellipse">
            <a:avLst/>
          </a:prstGeom>
          <a:solidFill>
            <a:srgbClr val="EB5A1B"/>
          </a:solidFill>
          <a:ln w="12700">
            <a:solidFill>
              <a:srgbClr val="EB5A1B"/>
            </a:solidFill>
            <a:prstDash val="solid"/>
          </a:ln>
        </p:spPr>
      </p:sp>
      <p:pic>
        <p:nvPicPr>
          <p:cNvPr id="26" name="Image 5" descr="/tmp/claude-0/-home-user-Marlene/67342075-d45e-5dfd-8246-b97e829a8c42/scratchpad/deck/img/FaStar-w.png">    </p:cNvPr>
          <p:cNvPicPr>
            <a:picLocks noChangeAspect="1"/>
          </p:cNvPicPr>
          <p:nvPr/>
        </p:nvPicPr>
        <p:blipFill>
          <a:blip r:embed="rId6"/>
          <a:stretch>
            <a:fillRect/>
          </a:stretch>
        </p:blipFill>
        <p:spPr>
          <a:xfrm>
            <a:off x="6394399" y="2992831"/>
            <a:ext cx="241402" cy="241402"/>
          </a:xfrm>
          <a:prstGeom prst="rect">
            <a:avLst/>
          </a:prstGeom>
        </p:spPr>
      </p:pic>
      <p:sp>
        <p:nvSpPr>
          <p:cNvPr id="27" name="Text 19"/>
          <p:cNvSpPr txBox="1"/>
          <p:nvPr/>
        </p:nvSpPr>
        <p:spPr>
          <a:xfrm>
            <a:off x="6949440" y="2843784"/>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QR-Karten für Google</a:t>
            </a:r>
            <a:endParaRPr lang="en-US" sz="1500" dirty="0"/>
          </a:p>
        </p:txBody>
      </p:sp>
      <p:sp>
        <p:nvSpPr>
          <p:cNvPr id="28" name="Text 20"/>
          <p:cNvSpPr txBox="1"/>
          <p:nvPr/>
        </p:nvSpPr>
        <p:spPr>
          <a:xfrm>
            <a:off x="6949440" y="3163824"/>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Techniker geben sie nach dem Auftrag ab (Firmenprozess)</a:t>
            </a:r>
            <a:endParaRPr lang="en-US" sz="1200" dirty="0"/>
          </a:p>
        </p:txBody>
      </p:sp>
      <p:sp>
        <p:nvSpPr>
          <p:cNvPr id="29" name="Shape 21"/>
          <p:cNvSpPr/>
          <p:nvPr/>
        </p:nvSpPr>
        <p:spPr>
          <a:xfrm>
            <a:off x="6263640" y="3849624"/>
            <a:ext cx="502920" cy="502920"/>
          </a:xfrm>
          <a:prstGeom prst="ellipse">
            <a:avLst/>
          </a:prstGeom>
          <a:solidFill>
            <a:srgbClr val="EB5A1B"/>
          </a:solidFill>
          <a:ln w="12700">
            <a:solidFill>
              <a:srgbClr val="EB5A1B"/>
            </a:solidFill>
            <a:prstDash val="solid"/>
          </a:ln>
        </p:spPr>
      </p:sp>
      <p:pic>
        <p:nvPicPr>
          <p:cNvPr id="30" name="Image 6" descr="/tmp/claude-0/-home-user-Marlene/67342075-d45e-5dfd-8246-b97e829a8c42/scratchpad/deck/img/FaMagnifyingGlass-w.png">    </p:cNvPr>
          <p:cNvPicPr>
            <a:picLocks noChangeAspect="1"/>
          </p:cNvPicPr>
          <p:nvPr/>
        </p:nvPicPr>
        <p:blipFill>
          <a:blip r:embed="rId7"/>
          <a:stretch>
            <a:fillRect/>
          </a:stretch>
        </p:blipFill>
        <p:spPr>
          <a:xfrm>
            <a:off x="6394399" y="3980383"/>
            <a:ext cx="241402" cy="241402"/>
          </a:xfrm>
          <a:prstGeom prst="rect">
            <a:avLst/>
          </a:prstGeom>
        </p:spPr>
      </p:pic>
      <p:sp>
        <p:nvSpPr>
          <p:cNvPr id="31" name="Text 22"/>
          <p:cNvSpPr txBox="1"/>
          <p:nvPr/>
        </p:nvSpPr>
        <p:spPr>
          <a:xfrm>
            <a:off x="6949440" y="3831336"/>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„Wie aufmerksam geworden?“</a:t>
            </a:r>
            <a:endParaRPr lang="en-US" sz="1500" dirty="0"/>
          </a:p>
        </p:txBody>
      </p:sp>
      <p:sp>
        <p:nvSpPr>
          <p:cNvPr id="32" name="Text 23"/>
          <p:cNvSpPr txBox="1"/>
          <p:nvPr/>
        </p:nvSpPr>
        <p:spPr>
          <a:xfrm>
            <a:off x="6949440" y="4151376"/>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bei jeder Anfrage im Büro erfassen</a:t>
            </a:r>
            <a:endParaRPr lang="en-US" sz="1200" dirty="0"/>
          </a:p>
        </p:txBody>
      </p:sp>
      <p:sp>
        <p:nvSpPr>
          <p:cNvPr id="33" name="Shape 24"/>
          <p:cNvSpPr/>
          <p:nvPr/>
        </p:nvSpPr>
        <p:spPr>
          <a:xfrm>
            <a:off x="6263640" y="4837176"/>
            <a:ext cx="502920" cy="502920"/>
          </a:xfrm>
          <a:prstGeom prst="ellipse">
            <a:avLst/>
          </a:prstGeom>
          <a:solidFill>
            <a:srgbClr val="EB5A1B"/>
          </a:solidFill>
          <a:ln w="12700">
            <a:solidFill>
              <a:srgbClr val="EB5A1B"/>
            </a:solidFill>
            <a:prstDash val="solid"/>
          </a:ln>
        </p:spPr>
      </p:sp>
      <p:pic>
        <p:nvPicPr>
          <p:cNvPr id="34" name="Image 7" descr="/tmp/claude-0/-home-user-Marlene/67342075-d45e-5dfd-8246-b97e829a8c42/scratchpad/deck/img/FaHouse-w.png">    </p:cNvPr>
          <p:cNvPicPr>
            <a:picLocks noChangeAspect="1"/>
          </p:cNvPicPr>
          <p:nvPr/>
        </p:nvPicPr>
        <p:blipFill>
          <a:blip r:embed="rId8"/>
          <a:stretch>
            <a:fillRect/>
          </a:stretch>
        </p:blipFill>
        <p:spPr>
          <a:xfrm>
            <a:off x="6394399" y="4967935"/>
            <a:ext cx="241402" cy="241402"/>
          </a:xfrm>
          <a:prstGeom prst="rect">
            <a:avLst/>
          </a:prstGeom>
        </p:spPr>
      </p:pic>
      <p:sp>
        <p:nvSpPr>
          <p:cNvPr id="35" name="Text 25"/>
          <p:cNvSpPr txBox="1"/>
          <p:nvPr/>
        </p:nvSpPr>
        <p:spPr>
          <a:xfrm>
            <a:off x="6949440" y="4818888"/>
            <a:ext cx="4480560" cy="320040"/>
          </a:xfrm>
          <a:prstGeom prst="rect">
            <a:avLst/>
          </a:prstGeom>
          <a:noFill/>
          <a:ln/>
        </p:spPr>
        <p:txBody>
          <a:bodyPr wrap="square" lIns="0" tIns="0" rIns="0" bIns="0" rtlCol="0" anchor="t"/>
          <a:lstStyle/>
          <a:p>
            <a:pPr indent="0" marL="0">
              <a:buNone/>
            </a:pPr>
            <a:r>
              <a:rPr lang="en-US" sz="1500" dirty="0">
                <a:solidFill>
                  <a:srgbClr val="111111"/>
                </a:solidFill>
                <a:latin typeface="Poppins SemiBold" pitchFamily="34" charset="0"/>
                <a:ea typeface="Poppins SemiBold" pitchFamily="34" charset="-122"/>
                <a:cs typeface="Poppins SemiBold" pitchFamily="34" charset="-120"/>
              </a:rPr>
              <a:t>Website-Korrekturen</a:t>
            </a:r>
            <a:endParaRPr lang="en-US" sz="1500" dirty="0"/>
          </a:p>
        </p:txBody>
      </p:sp>
      <p:sp>
        <p:nvSpPr>
          <p:cNvPr id="36" name="Text 26"/>
          <p:cNvSpPr txBox="1"/>
          <p:nvPr/>
        </p:nvSpPr>
        <p:spPr>
          <a:xfrm>
            <a:off x="6949440" y="5138928"/>
            <a:ext cx="4480560" cy="457200"/>
          </a:xfrm>
          <a:prstGeom prst="rect">
            <a:avLst/>
          </a:prstGeom>
          <a:noFill/>
          <a:ln/>
        </p:spPr>
        <p:txBody>
          <a:bodyPr wrap="square" lIns="0" tIns="0" rIns="0" bIns="0" rtlCol="0" anchor="t"/>
          <a:lstStyle/>
          <a:p>
            <a:pPr indent="0" marL="0">
              <a:buNone/>
            </a:pPr>
            <a:r>
              <a:rPr lang="en-US" sz="1200" dirty="0">
                <a:solidFill>
                  <a:srgbClr val="545559"/>
                </a:solidFill>
                <a:latin typeface="Poppins" pitchFamily="34" charset="0"/>
                <a:ea typeface="Poppins" pitchFamily="34" charset="-122"/>
                <a:cs typeface="Poppins" pitchFamily="34" charset="-120"/>
              </a:rPr>
              <a:t>Firmenalter, FAQ 2023, © 2024 (einmalig)</a:t>
            </a:r>
            <a:endParaRPr lang="en-US" sz="1200" dirty="0"/>
          </a:p>
        </p:txBody>
      </p:sp>
      <p:pic>
        <p:nvPicPr>
          <p:cNvPr id="37" name="Image 8" descr="/home/user/Marlene/poleschak-social-media/assets/logo-transparent.png">    </p:cNvPr>
          <p:cNvPicPr>
            <a:picLocks noChangeAspect="1"/>
          </p:cNvPicPr>
          <p:nvPr/>
        </p:nvPicPr>
        <p:blipFill>
          <a:blip r:embed="rId9"/>
          <a:stretch>
            <a:fillRect/>
          </a:stretch>
        </p:blipFill>
        <p:spPr>
          <a:xfrm>
            <a:off x="685800" y="6291072"/>
            <a:ext cx="643680" cy="329184"/>
          </a:xfrm>
          <a:prstGeom prst="rect">
            <a:avLst/>
          </a:prstGeom>
        </p:spPr>
      </p:pic>
      <p:sp>
        <p:nvSpPr>
          <p:cNvPr id="38" name="Text 27"/>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566928"/>
            <a:ext cx="146304" cy="146304"/>
          </a:xfrm>
          <a:prstGeom prst="ellipse">
            <a:avLst/>
          </a:prstGeom>
          <a:solidFill>
            <a:srgbClr val="EB5A1B"/>
          </a:solidFill>
          <a:ln w="12700">
            <a:solidFill>
              <a:srgbClr val="EB5A1B"/>
            </a:solidFill>
            <a:prstDash val="solid"/>
          </a:ln>
        </p:spPr>
      </p:sp>
      <p:sp>
        <p:nvSpPr>
          <p:cNvPr id="3" name="Text 1"/>
          <p:cNvSpPr txBox="1"/>
          <p:nvPr/>
        </p:nvSpPr>
        <p:spPr>
          <a:xfrm>
            <a:off x="941832" y="502920"/>
            <a:ext cx="8229600" cy="274320"/>
          </a:xfrm>
          <a:prstGeom prst="rect">
            <a:avLst/>
          </a:prstGeom>
          <a:noFill/>
          <a:ln/>
        </p:spPr>
        <p:txBody>
          <a:bodyPr wrap="square" lIns="0" tIns="0" rIns="0" bIns="0" rtlCol="0" anchor="ctr"/>
          <a:lstStyle/>
          <a:p>
            <a:pPr indent="0" marL="0">
              <a:buNone/>
            </a:pPr>
            <a:r>
              <a:rPr lang="en-US" sz="1200" spc="500" kern="0" dirty="0">
                <a:solidFill>
                  <a:srgbClr val="545559"/>
                </a:solidFill>
                <a:latin typeface="Poppins Light" pitchFamily="34" charset="0"/>
                <a:ea typeface="Poppins Light" pitchFamily="34" charset="-122"/>
                <a:cs typeface="Poppins Light" pitchFamily="34" charset="-120"/>
              </a:rPr>
              <a:t>22 · FAHRPLAN</a:t>
            </a:r>
            <a:endParaRPr lang="en-US" sz="1200" dirty="0"/>
          </a:p>
        </p:txBody>
      </p:sp>
      <p:sp>
        <p:nvSpPr>
          <p:cNvPr id="4" name="Text 2"/>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3400" dirty="0">
                <a:solidFill>
                  <a:srgbClr val="111111"/>
                </a:solidFill>
                <a:latin typeface="Poppins ExtraBold" pitchFamily="34" charset="0"/>
                <a:ea typeface="Poppins ExtraBold" pitchFamily="34" charset="-122"/>
                <a:cs typeface="Poppins ExtraBold" pitchFamily="34" charset="-120"/>
              </a:rPr>
              <a:t>Von der Entscheidung zum </a:t>
            </a:r>
            <a:pPr indent="0" marL="0">
              <a:buNone/>
            </a:pPr>
            <a:r>
              <a:rPr lang="en-US" sz="3400" dirty="0">
                <a:solidFill>
                  <a:srgbClr val="EB5A1B"/>
                </a:solidFill>
                <a:latin typeface="Poppins ExtraBold" pitchFamily="34" charset="0"/>
                <a:ea typeface="Poppins ExtraBold" pitchFamily="34" charset="-122"/>
                <a:cs typeface="Poppins ExtraBold" pitchFamily="34" charset="-120"/>
              </a:rPr>
              <a:t>Start am 25.10.</a:t>
            </a:r>
            <a:endParaRPr lang="en-US" sz="3400" dirty="0"/>
          </a:p>
        </p:txBody>
      </p:sp>
      <p:sp>
        <p:nvSpPr>
          <p:cNvPr id="5" name="Shape 3"/>
          <p:cNvSpPr/>
          <p:nvPr/>
        </p:nvSpPr>
        <p:spPr>
          <a:xfrm>
            <a:off x="1143000" y="3200400"/>
            <a:ext cx="9372600" cy="0"/>
          </a:xfrm>
          <a:prstGeom prst="line">
            <a:avLst/>
          </a:prstGeom>
          <a:noFill/>
          <a:ln w="25400">
            <a:solidFill>
              <a:srgbClr val="B4B5BB"/>
            </a:solidFill>
            <a:prstDash val="solid"/>
          </a:ln>
        </p:spPr>
      </p:sp>
      <p:sp>
        <p:nvSpPr>
          <p:cNvPr id="6" name="Shape 4"/>
          <p:cNvSpPr/>
          <p:nvPr/>
        </p:nvSpPr>
        <p:spPr>
          <a:xfrm>
            <a:off x="960120" y="3017520"/>
            <a:ext cx="365760" cy="365760"/>
          </a:xfrm>
          <a:prstGeom prst="ellipse">
            <a:avLst/>
          </a:prstGeom>
          <a:solidFill>
            <a:srgbClr val="111111"/>
          </a:solidFill>
          <a:ln w="25400">
            <a:solidFill>
              <a:srgbClr val="FFFFFF"/>
            </a:solidFill>
            <a:prstDash val="solid"/>
          </a:ln>
        </p:spPr>
      </p:sp>
      <p:sp>
        <p:nvSpPr>
          <p:cNvPr id="7" name="Text 5"/>
          <p:cNvSpPr txBox="1"/>
          <p:nvPr/>
        </p:nvSpPr>
        <p:spPr>
          <a:xfrm>
            <a:off x="685800" y="2377440"/>
            <a:ext cx="1828800" cy="365760"/>
          </a:xfrm>
          <a:prstGeom prst="rect">
            <a:avLst/>
          </a:prstGeom>
          <a:noFill/>
          <a:ln/>
        </p:spPr>
        <p:txBody>
          <a:bodyPr wrap="square" lIns="0" tIns="0" rIns="0" bIns="0" rtlCol="0" anchor="t"/>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07.10.</a:t>
            </a:r>
            <a:endParaRPr lang="en-US" sz="1600" dirty="0"/>
          </a:p>
        </p:txBody>
      </p:sp>
      <p:sp>
        <p:nvSpPr>
          <p:cNvPr id="8" name="Text 6"/>
          <p:cNvSpPr txBox="1"/>
          <p:nvPr/>
        </p:nvSpPr>
        <p:spPr>
          <a:xfrm>
            <a:off x="68580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Entscheidung</a:t>
            </a:r>
            <a:endParaRPr lang="en-US" sz="1400" dirty="0"/>
          </a:p>
        </p:txBody>
      </p:sp>
      <p:sp>
        <p:nvSpPr>
          <p:cNvPr id="9" name="Text 7"/>
          <p:cNvSpPr txBox="1"/>
          <p:nvPr/>
        </p:nvSpPr>
        <p:spPr>
          <a:xfrm>
            <a:off x="68580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Freigabe von Modell, Budget, Profilbild</a:t>
            </a:r>
            <a:endParaRPr lang="en-US" sz="1100" dirty="0"/>
          </a:p>
        </p:txBody>
      </p:sp>
      <p:sp>
        <p:nvSpPr>
          <p:cNvPr id="10" name="Shape 8"/>
          <p:cNvSpPr/>
          <p:nvPr/>
        </p:nvSpPr>
        <p:spPr>
          <a:xfrm>
            <a:off x="2834640" y="3017520"/>
            <a:ext cx="365760" cy="365760"/>
          </a:xfrm>
          <a:prstGeom prst="ellipse">
            <a:avLst/>
          </a:prstGeom>
          <a:solidFill>
            <a:srgbClr val="111111"/>
          </a:solidFill>
          <a:ln w="25400">
            <a:solidFill>
              <a:srgbClr val="FFFFFF"/>
            </a:solidFill>
            <a:prstDash val="solid"/>
          </a:ln>
        </p:spPr>
      </p:sp>
      <p:sp>
        <p:nvSpPr>
          <p:cNvPr id="11" name="Text 9"/>
          <p:cNvSpPr txBox="1"/>
          <p:nvPr/>
        </p:nvSpPr>
        <p:spPr>
          <a:xfrm>
            <a:off x="2560320" y="2377440"/>
            <a:ext cx="1828800" cy="365760"/>
          </a:xfrm>
          <a:prstGeom prst="rect">
            <a:avLst/>
          </a:prstGeom>
          <a:noFill/>
          <a:ln/>
        </p:spPr>
        <p:txBody>
          <a:bodyPr wrap="square" lIns="0" tIns="0" rIns="0" bIns="0" rtlCol="0" anchor="t"/>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Okt.</a:t>
            </a:r>
            <a:endParaRPr lang="en-US" sz="1600" dirty="0"/>
          </a:p>
        </p:txBody>
      </p:sp>
      <p:sp>
        <p:nvSpPr>
          <p:cNvPr id="12" name="Text 10"/>
          <p:cNvSpPr txBox="1"/>
          <p:nvPr/>
        </p:nvSpPr>
        <p:spPr>
          <a:xfrm>
            <a:off x="256032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Aufbaumonat</a:t>
            </a:r>
            <a:endParaRPr lang="en-US" sz="1400" dirty="0"/>
          </a:p>
        </p:txBody>
      </p:sp>
      <p:sp>
        <p:nvSpPr>
          <p:cNvPr id="13" name="Text 11"/>
          <p:cNvSpPr txBox="1"/>
          <p:nvPr/>
        </p:nvSpPr>
        <p:spPr>
          <a:xfrm>
            <a:off x="256032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Zugang, Nullmessung, Profil, Canva, Einwilligungen</a:t>
            </a:r>
            <a:endParaRPr lang="en-US" sz="1100" dirty="0"/>
          </a:p>
        </p:txBody>
      </p:sp>
      <p:sp>
        <p:nvSpPr>
          <p:cNvPr id="14" name="Shape 12"/>
          <p:cNvSpPr/>
          <p:nvPr/>
        </p:nvSpPr>
        <p:spPr>
          <a:xfrm>
            <a:off x="4709160" y="3017520"/>
            <a:ext cx="365760" cy="365760"/>
          </a:xfrm>
          <a:prstGeom prst="ellipse">
            <a:avLst/>
          </a:prstGeom>
          <a:solidFill>
            <a:srgbClr val="EB5A1B"/>
          </a:solidFill>
          <a:ln w="25400">
            <a:solidFill>
              <a:srgbClr val="FFFFFF"/>
            </a:solidFill>
            <a:prstDash val="solid"/>
          </a:ln>
        </p:spPr>
      </p:sp>
      <p:sp>
        <p:nvSpPr>
          <p:cNvPr id="15" name="Text 13"/>
          <p:cNvSpPr txBox="1"/>
          <p:nvPr/>
        </p:nvSpPr>
        <p:spPr>
          <a:xfrm>
            <a:off x="4434840" y="2377440"/>
            <a:ext cx="1828800" cy="365760"/>
          </a:xfrm>
          <a:prstGeom prst="rect">
            <a:avLst/>
          </a:prstGeom>
          <a:noFill/>
          <a:ln/>
        </p:spPr>
        <p:txBody>
          <a:bodyPr wrap="square" lIns="0" tIns="0" rIns="0" bIns="0" rtlCol="0" anchor="t"/>
          <a:lstStyle/>
          <a:p>
            <a:pPr indent="0" marL="0">
              <a:buNone/>
            </a:pPr>
            <a:r>
              <a:rPr lang="en-US" sz="1600" dirty="0">
                <a:solidFill>
                  <a:srgbClr val="EB5A1B"/>
                </a:solidFill>
                <a:latin typeface="Poppins ExtraBold" pitchFamily="34" charset="0"/>
                <a:ea typeface="Poppins ExtraBold" pitchFamily="34" charset="-122"/>
                <a:cs typeface="Poppins ExtraBold" pitchFamily="34" charset="-120"/>
              </a:rPr>
              <a:t>25.10.</a:t>
            </a:r>
            <a:endParaRPr lang="en-US" sz="1600" dirty="0"/>
          </a:p>
        </p:txBody>
      </p:sp>
      <p:sp>
        <p:nvSpPr>
          <p:cNvPr id="16" name="Text 14"/>
          <p:cNvSpPr txBox="1"/>
          <p:nvPr/>
        </p:nvSpPr>
        <p:spPr>
          <a:xfrm>
            <a:off x="443484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Start</a:t>
            </a:r>
            <a:endParaRPr lang="en-US" sz="1400" dirty="0"/>
          </a:p>
        </p:txBody>
      </p:sp>
      <p:sp>
        <p:nvSpPr>
          <p:cNvPr id="17" name="Text 15"/>
          <p:cNvSpPr txBox="1"/>
          <p:nvPr/>
        </p:nvSpPr>
        <p:spPr>
          <a:xfrm>
            <a:off x="443484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Tag des Einbruchschutzes, erster großer Post</a:t>
            </a:r>
            <a:endParaRPr lang="en-US" sz="1100" dirty="0"/>
          </a:p>
        </p:txBody>
      </p:sp>
      <p:sp>
        <p:nvSpPr>
          <p:cNvPr id="18" name="Shape 16"/>
          <p:cNvSpPr/>
          <p:nvPr/>
        </p:nvSpPr>
        <p:spPr>
          <a:xfrm>
            <a:off x="6583680" y="3017520"/>
            <a:ext cx="365760" cy="365760"/>
          </a:xfrm>
          <a:prstGeom prst="ellipse">
            <a:avLst/>
          </a:prstGeom>
          <a:solidFill>
            <a:srgbClr val="111111"/>
          </a:solidFill>
          <a:ln w="25400">
            <a:solidFill>
              <a:srgbClr val="FFFFFF"/>
            </a:solidFill>
            <a:prstDash val="solid"/>
          </a:ln>
        </p:spPr>
      </p:sp>
      <p:sp>
        <p:nvSpPr>
          <p:cNvPr id="19" name="Text 17"/>
          <p:cNvSpPr txBox="1"/>
          <p:nvPr/>
        </p:nvSpPr>
        <p:spPr>
          <a:xfrm>
            <a:off x="6309360" y="2377440"/>
            <a:ext cx="1828800" cy="365760"/>
          </a:xfrm>
          <a:prstGeom prst="rect">
            <a:avLst/>
          </a:prstGeom>
          <a:noFill/>
          <a:ln/>
        </p:spPr>
        <p:txBody>
          <a:bodyPr wrap="square" lIns="0" tIns="0" rIns="0" bIns="0" rtlCol="0" anchor="t"/>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Jan. 2027</a:t>
            </a:r>
            <a:endParaRPr lang="en-US" sz="1600" dirty="0"/>
          </a:p>
        </p:txBody>
      </p:sp>
      <p:sp>
        <p:nvSpPr>
          <p:cNvPr id="20" name="Text 18"/>
          <p:cNvSpPr txBox="1"/>
          <p:nvPr/>
        </p:nvSpPr>
        <p:spPr>
          <a:xfrm>
            <a:off x="630936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Azubi-Kampagne</a:t>
            </a:r>
            <a:endParaRPr lang="en-US" sz="1400" dirty="0"/>
          </a:p>
        </p:txBody>
      </p:sp>
      <p:sp>
        <p:nvSpPr>
          <p:cNvPr id="21" name="Text 19"/>
          <p:cNvSpPr txBox="1"/>
          <p:nvPr/>
        </p:nvSpPr>
        <p:spPr>
          <a:xfrm>
            <a:off x="630936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„Mach Alarm. Beruflich.“</a:t>
            </a:r>
            <a:endParaRPr lang="en-US" sz="1100" dirty="0"/>
          </a:p>
        </p:txBody>
      </p:sp>
      <p:sp>
        <p:nvSpPr>
          <p:cNvPr id="22" name="Shape 20"/>
          <p:cNvSpPr/>
          <p:nvPr/>
        </p:nvSpPr>
        <p:spPr>
          <a:xfrm>
            <a:off x="8458200" y="3017520"/>
            <a:ext cx="365760" cy="365760"/>
          </a:xfrm>
          <a:prstGeom prst="ellipse">
            <a:avLst/>
          </a:prstGeom>
          <a:solidFill>
            <a:srgbClr val="111111"/>
          </a:solidFill>
          <a:ln w="25400">
            <a:solidFill>
              <a:srgbClr val="FFFFFF"/>
            </a:solidFill>
            <a:prstDash val="solid"/>
          </a:ln>
        </p:spPr>
      </p:sp>
      <p:sp>
        <p:nvSpPr>
          <p:cNvPr id="23" name="Text 21"/>
          <p:cNvSpPr txBox="1"/>
          <p:nvPr/>
        </p:nvSpPr>
        <p:spPr>
          <a:xfrm>
            <a:off x="8183880" y="2377440"/>
            <a:ext cx="1828800" cy="365760"/>
          </a:xfrm>
          <a:prstGeom prst="rect">
            <a:avLst/>
          </a:prstGeom>
          <a:noFill/>
          <a:ln/>
        </p:spPr>
        <p:txBody>
          <a:bodyPr wrap="square" lIns="0" tIns="0" rIns="0" bIns="0" rtlCol="0" anchor="t"/>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Apr. 2027</a:t>
            </a:r>
            <a:endParaRPr lang="en-US" sz="1600" dirty="0"/>
          </a:p>
        </p:txBody>
      </p:sp>
      <p:sp>
        <p:nvSpPr>
          <p:cNvPr id="24" name="Text 22"/>
          <p:cNvSpPr txBox="1"/>
          <p:nvPr/>
        </p:nvSpPr>
        <p:spPr>
          <a:xfrm>
            <a:off x="818388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6-Monats-Review</a:t>
            </a:r>
            <a:endParaRPr lang="en-US" sz="1400" dirty="0"/>
          </a:p>
        </p:txBody>
      </p:sp>
      <p:sp>
        <p:nvSpPr>
          <p:cNvPr id="25" name="Text 23"/>
          <p:cNvSpPr txBox="1"/>
          <p:nvPr/>
        </p:nvSpPr>
        <p:spPr>
          <a:xfrm>
            <a:off x="818388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Zahlen auf den Tisch, Entscheidung Stufe 2</a:t>
            </a:r>
            <a:endParaRPr lang="en-US" sz="1100" dirty="0"/>
          </a:p>
        </p:txBody>
      </p:sp>
      <p:sp>
        <p:nvSpPr>
          <p:cNvPr id="26" name="Shape 24"/>
          <p:cNvSpPr/>
          <p:nvPr/>
        </p:nvSpPr>
        <p:spPr>
          <a:xfrm>
            <a:off x="10332720" y="3017520"/>
            <a:ext cx="365760" cy="365760"/>
          </a:xfrm>
          <a:prstGeom prst="ellipse">
            <a:avLst/>
          </a:prstGeom>
          <a:solidFill>
            <a:srgbClr val="111111"/>
          </a:solidFill>
          <a:ln w="25400">
            <a:solidFill>
              <a:srgbClr val="FFFFFF"/>
            </a:solidFill>
            <a:prstDash val="solid"/>
          </a:ln>
        </p:spPr>
      </p:sp>
      <p:sp>
        <p:nvSpPr>
          <p:cNvPr id="27" name="Text 25"/>
          <p:cNvSpPr txBox="1"/>
          <p:nvPr/>
        </p:nvSpPr>
        <p:spPr>
          <a:xfrm>
            <a:off x="10058400" y="2377440"/>
            <a:ext cx="1828800" cy="365760"/>
          </a:xfrm>
          <a:prstGeom prst="rect">
            <a:avLst/>
          </a:prstGeom>
          <a:noFill/>
          <a:ln/>
        </p:spPr>
        <p:txBody>
          <a:bodyPr wrap="square" lIns="0" tIns="0" rIns="0" bIns="0" rtlCol="0" anchor="t"/>
          <a:lstStyle/>
          <a:p>
            <a:pPr indent="0" marL="0">
              <a:buNone/>
            </a:pPr>
            <a:r>
              <a:rPr lang="en-US" sz="1600" dirty="0">
                <a:solidFill>
                  <a:srgbClr val="111111"/>
                </a:solidFill>
                <a:latin typeface="Poppins ExtraBold" pitchFamily="34" charset="0"/>
                <a:ea typeface="Poppins ExtraBold" pitchFamily="34" charset="-122"/>
                <a:cs typeface="Poppins ExtraBold" pitchFamily="34" charset="-120"/>
              </a:rPr>
              <a:t>Okt. 2027</a:t>
            </a:r>
            <a:endParaRPr lang="en-US" sz="1600" dirty="0"/>
          </a:p>
        </p:txBody>
      </p:sp>
      <p:sp>
        <p:nvSpPr>
          <p:cNvPr id="28" name="Text 26"/>
          <p:cNvSpPr txBox="1"/>
          <p:nvPr/>
        </p:nvSpPr>
        <p:spPr>
          <a:xfrm>
            <a:off x="10058400" y="3566160"/>
            <a:ext cx="1737360" cy="320040"/>
          </a:xfrm>
          <a:prstGeom prst="rect">
            <a:avLst/>
          </a:prstGeom>
          <a:noFill/>
          <a:ln/>
        </p:spPr>
        <p:txBody>
          <a:bodyPr wrap="square" lIns="0" tIns="0" rIns="0" bIns="0" rtlCol="0" anchor="t"/>
          <a:lstStyle/>
          <a:p>
            <a:pPr indent="0" marL="0">
              <a:buNone/>
            </a:pPr>
            <a:r>
              <a:rPr lang="en-US" sz="1400" dirty="0">
                <a:solidFill>
                  <a:srgbClr val="111111"/>
                </a:solidFill>
                <a:latin typeface="Poppins SemiBold" pitchFamily="34" charset="0"/>
                <a:ea typeface="Poppins SemiBold" pitchFamily="34" charset="-122"/>
                <a:cs typeface="Poppins SemiBold" pitchFamily="34" charset="-120"/>
              </a:rPr>
              <a:t>Jahresbilanz</a:t>
            </a:r>
            <a:endParaRPr lang="en-US" sz="1400" dirty="0"/>
          </a:p>
        </p:txBody>
      </p:sp>
      <p:sp>
        <p:nvSpPr>
          <p:cNvPr id="29" name="Text 27"/>
          <p:cNvSpPr txBox="1"/>
          <p:nvPr/>
        </p:nvSpPr>
        <p:spPr>
          <a:xfrm>
            <a:off x="10058400" y="3886200"/>
            <a:ext cx="1645920" cy="914400"/>
          </a:xfrm>
          <a:prstGeom prst="rect">
            <a:avLst/>
          </a:prstGeom>
          <a:noFill/>
          <a:ln/>
        </p:spPr>
        <p:txBody>
          <a:bodyPr wrap="square" lIns="0" tIns="0" rIns="0" bIns="0" rtlCol="0" anchor="t"/>
          <a:lstStyle/>
          <a:p>
            <a:pPr indent="0" marL="0">
              <a:buNone/>
            </a:pPr>
            <a:r>
              <a:rPr lang="en-US" sz="1100" dirty="0">
                <a:solidFill>
                  <a:srgbClr val="545559"/>
                </a:solidFill>
                <a:latin typeface="Poppins" pitchFamily="34" charset="0"/>
                <a:ea typeface="Poppins" pitchFamily="34" charset="-122"/>
                <a:cs typeface="Poppins" pitchFamily="34" charset="-120"/>
              </a:rPr>
              <a:t>12 Monate, alle Ziele im Check</a:t>
            </a:r>
            <a:endParaRPr lang="en-US" sz="1100" dirty="0"/>
          </a:p>
        </p:txBody>
      </p:sp>
      <p:sp>
        <p:nvSpPr>
          <p:cNvPr id="30" name="Shape 28"/>
          <p:cNvSpPr/>
          <p:nvPr/>
        </p:nvSpPr>
        <p:spPr>
          <a:xfrm>
            <a:off x="685800" y="5120640"/>
            <a:ext cx="10789920" cy="640080"/>
          </a:xfrm>
          <a:prstGeom prst="roundRect">
            <a:avLst>
              <a:gd name="adj" fmla="val 17143"/>
            </a:avLst>
          </a:prstGeom>
          <a:solidFill>
            <a:srgbClr val="F4F4F4"/>
          </a:solidFill>
          <a:ln w="12700">
            <a:solidFill>
              <a:srgbClr val="F4F4F4"/>
            </a:solidFill>
            <a:prstDash val="solid"/>
          </a:ln>
        </p:spPr>
      </p:sp>
      <p:sp>
        <p:nvSpPr>
          <p:cNvPr id="31" name="Text 29"/>
          <p:cNvSpPr txBox="1"/>
          <p:nvPr/>
        </p:nvSpPr>
        <p:spPr>
          <a:xfrm>
            <a:off x="960120" y="5120640"/>
            <a:ext cx="10241280" cy="640080"/>
          </a:xfrm>
          <a:prstGeom prst="rect">
            <a:avLst/>
          </a:prstGeom>
          <a:noFill/>
          <a:ln/>
        </p:spPr>
        <p:txBody>
          <a:bodyPr wrap="square" lIns="0" tIns="0" rIns="0" bIns="0" rtlCol="0" anchor="ctr"/>
          <a:lstStyle/>
          <a:p>
            <a:pPr indent="0" marL="0">
              <a:buNone/>
            </a:pPr>
            <a:r>
              <a:rPr lang="en-US" sz="1300" dirty="0">
                <a:solidFill>
                  <a:srgbClr val="111111"/>
                </a:solidFill>
                <a:latin typeface="Poppins SemiBold" pitchFamily="34" charset="0"/>
                <a:ea typeface="Poppins SemiBold" pitchFamily="34" charset="-122"/>
                <a:cs typeface="Poppins SemiBold" pitchFamily="34" charset="-120"/>
              </a:rPr>
              <a:t>Stufe 2 (nach Zielerreichung): </a:t>
            </a:r>
            <a:pPr indent="0" marL="0">
              <a:buNone/>
            </a:pPr>
            <a:r>
              <a:rPr lang="en-US" sz="1300" dirty="0">
                <a:solidFill>
                  <a:srgbClr val="222222"/>
                </a:solidFill>
                <a:latin typeface="Poppins" pitchFamily="34" charset="0"/>
                <a:ea typeface="Poppins" pitchFamily="34" charset="-122"/>
                <a:cs typeface="Poppins" pitchFamily="34" charset="-120"/>
              </a:rPr>
              <a:t>Paket M mit 9 Reels/Monat, Ausbau auf LinkedIn und Google, durch Umschichten von Stunden zwischen SWD und Poleschak.</a:t>
            </a:r>
            <a:endParaRPr lang="en-US" sz="1300" dirty="0"/>
          </a:p>
        </p:txBody>
      </p:sp>
      <p:pic>
        <p:nvPicPr>
          <p:cNvPr id="32" name="Image 0" descr="/home/user/Marlene/poleschak-social-media/assets/logo-transparent.png">    </p:cNvPr>
          <p:cNvPicPr>
            <a:picLocks noChangeAspect="1"/>
          </p:cNvPicPr>
          <p:nvPr/>
        </p:nvPicPr>
        <p:blipFill>
          <a:blip r:embed="rId1"/>
          <a:stretch>
            <a:fillRect/>
          </a:stretch>
        </p:blipFill>
        <p:spPr>
          <a:xfrm>
            <a:off x="685800" y="6291072"/>
            <a:ext cx="643680" cy="329184"/>
          </a:xfrm>
          <a:prstGeom prst="rect">
            <a:avLst/>
          </a:prstGeom>
        </p:spPr>
      </p:pic>
      <p:sp>
        <p:nvSpPr>
          <p:cNvPr id="33" name="Text 30"/>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545559"/>
                </a:solidFill>
                <a:latin typeface="Poppins Light" pitchFamily="34" charset="0"/>
                <a:ea typeface="Poppins Light" pitchFamily="34" charset="-122"/>
                <a:cs typeface="Poppins Light"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111"/>
        </a:solidFill>
      </p:bgPr>
    </p:bg>
    <p:spTree>
      <p:nvGrpSpPr>
        <p:cNvPr id="1" name=""/>
        <p:cNvGrpSpPr/>
        <p:nvPr/>
      </p:nvGrpSpPr>
      <p:grpSpPr>
        <a:xfrm>
          <a:off x="0" y="0"/>
          <a:ext cx="0" cy="0"/>
          <a:chOff x="0" y="0"/>
          <a:chExt cx="0" cy="0"/>
        </a:xfrm>
      </p:grpSpPr>
      <p:pic>
        <p:nvPicPr>
          <p:cNvPr id="2" name="Image 0" descr="/tmp/claude-0/-home-user-Marlene/67342075-d45e-5dfd-8246-b97e829a8c42/scratchpad/deck/img/waves.png">    </p:cNvPr>
          <p:cNvPicPr>
            <a:picLocks noChangeAspect="1"/>
          </p:cNvPicPr>
          <p:nvPr/>
        </p:nvPicPr>
        <p:blipFill>
          <a:blip r:embed="rId1"/>
          <a:stretch>
            <a:fillRect/>
          </a:stretch>
        </p:blipFill>
        <p:spPr>
          <a:xfrm>
            <a:off x="8412480" y="2103120"/>
            <a:ext cx="3931920" cy="3931920"/>
          </a:xfrm>
          <a:prstGeom prst="rect">
            <a:avLst/>
          </a:prstGeom>
        </p:spPr>
      </p:pic>
      <p:sp>
        <p:nvSpPr>
          <p:cNvPr id="3" name="Shape 0"/>
          <p:cNvSpPr/>
          <p:nvPr/>
        </p:nvSpPr>
        <p:spPr>
          <a:xfrm>
            <a:off x="685800" y="704088"/>
            <a:ext cx="146304" cy="146304"/>
          </a:xfrm>
          <a:prstGeom prst="ellipse">
            <a:avLst/>
          </a:prstGeom>
          <a:solidFill>
            <a:srgbClr val="EB5A1B"/>
          </a:solidFill>
          <a:ln w="12700">
            <a:solidFill>
              <a:srgbClr val="EB5A1B"/>
            </a:solidFill>
            <a:prstDash val="solid"/>
          </a:ln>
        </p:spPr>
      </p:sp>
      <p:sp>
        <p:nvSpPr>
          <p:cNvPr id="4" name="Text 1"/>
          <p:cNvSpPr txBox="1"/>
          <p:nvPr/>
        </p:nvSpPr>
        <p:spPr>
          <a:xfrm>
            <a:off x="941832" y="640080"/>
            <a:ext cx="8229600" cy="274320"/>
          </a:xfrm>
          <a:prstGeom prst="rect">
            <a:avLst/>
          </a:prstGeom>
          <a:noFill/>
          <a:ln/>
        </p:spPr>
        <p:txBody>
          <a:bodyPr wrap="square" lIns="0" tIns="0" rIns="0" bIns="0" rtlCol="0" anchor="ctr"/>
          <a:lstStyle/>
          <a:p>
            <a:pPr indent="0" marL="0">
              <a:buNone/>
            </a:pPr>
            <a:r>
              <a:rPr lang="en-US" sz="1200" spc="500" kern="0" dirty="0">
                <a:solidFill>
                  <a:srgbClr val="B4B5BB"/>
                </a:solidFill>
                <a:latin typeface="Poppins Light" pitchFamily="34" charset="0"/>
                <a:ea typeface="Poppins Light" pitchFamily="34" charset="-122"/>
                <a:cs typeface="Poppins Light" pitchFamily="34" charset="-120"/>
              </a:rPr>
              <a:t>MEINE BITTE AN SIE</a:t>
            </a:r>
            <a:endParaRPr lang="en-US" sz="1200" dirty="0"/>
          </a:p>
        </p:txBody>
      </p:sp>
      <p:sp>
        <p:nvSpPr>
          <p:cNvPr id="5" name="Text 2"/>
          <p:cNvSpPr txBox="1"/>
          <p:nvPr/>
        </p:nvSpPr>
        <p:spPr>
          <a:xfrm>
            <a:off x="685800" y="1097280"/>
            <a:ext cx="8229600" cy="1371600"/>
          </a:xfrm>
          <a:prstGeom prst="rect">
            <a:avLst/>
          </a:prstGeom>
          <a:noFill/>
          <a:ln/>
        </p:spPr>
        <p:txBody>
          <a:bodyPr wrap="square" lIns="0" tIns="0" rIns="0" bIns="0" rtlCol="0" anchor="t"/>
          <a:lstStyle/>
          <a:p>
            <a:pPr indent="0" marL="0">
              <a:buNone/>
            </a:pPr>
            <a:r>
              <a:rPr lang="en-US" sz="4000" dirty="0">
                <a:solidFill>
                  <a:srgbClr val="FFFFFF"/>
                </a:solidFill>
                <a:latin typeface="Poppins ExtraBold" pitchFamily="34" charset="0"/>
                <a:ea typeface="Poppins ExtraBold" pitchFamily="34" charset="-122"/>
                <a:cs typeface="Poppins ExtraBold" pitchFamily="34" charset="-120"/>
              </a:rPr>
              <a:t>Lassen Sie uns zeigen, </a:t>
            </a:r>
            <a:endParaRPr lang="en-US" sz="4000" dirty="0"/>
          </a:p>
          <a:p>
            <a:pPr indent="0" marL="0">
              <a:buNone/>
            </a:pPr>
            <a:r>
              <a:rPr lang="en-US" sz="4000" dirty="0">
                <a:solidFill>
                  <a:srgbClr val="EB5A1B"/>
                </a:solidFill>
                <a:latin typeface="Poppins ExtraBold" pitchFamily="34" charset="0"/>
                <a:ea typeface="Poppins ExtraBold" pitchFamily="34" charset="-122"/>
                <a:cs typeface="Poppins ExtraBold" pitchFamily="34" charset="-120"/>
              </a:rPr>
              <a:t>dass wir wach sind.</a:t>
            </a:r>
            <a:endParaRPr lang="en-US" sz="4000" dirty="0"/>
          </a:p>
        </p:txBody>
      </p:sp>
      <p:sp>
        <p:nvSpPr>
          <p:cNvPr id="6" name="Shape 3"/>
          <p:cNvSpPr/>
          <p:nvPr/>
        </p:nvSpPr>
        <p:spPr>
          <a:xfrm>
            <a:off x="685800" y="2880360"/>
            <a:ext cx="502920" cy="502920"/>
          </a:xfrm>
          <a:prstGeom prst="ellipse">
            <a:avLst/>
          </a:prstGeom>
          <a:solidFill>
            <a:srgbClr val="EB5A1B"/>
          </a:solidFill>
          <a:ln w="12700">
            <a:solidFill>
              <a:srgbClr val="EB5A1B"/>
            </a:solidFill>
            <a:prstDash val="solid"/>
          </a:ln>
        </p:spPr>
      </p:sp>
      <p:sp>
        <p:nvSpPr>
          <p:cNvPr id="7" name="Text 4"/>
          <p:cNvSpPr txBox="1"/>
          <p:nvPr/>
        </p:nvSpPr>
        <p:spPr>
          <a:xfrm>
            <a:off x="685800" y="2880360"/>
            <a:ext cx="502920" cy="502920"/>
          </a:xfrm>
          <a:prstGeom prst="rect">
            <a:avLst/>
          </a:prstGeom>
          <a:noFill/>
          <a:ln/>
        </p:spPr>
        <p:txBody>
          <a:bodyPr wrap="square" lIns="0" tIns="0" rIns="0" bIns="0" rtlCol="0" anchor="ctr"/>
          <a:lstStyle/>
          <a:p>
            <a:pPr algn="ctr" indent="0" marL="0">
              <a:buNone/>
            </a:pPr>
            <a:r>
              <a:rPr lang="en-US" sz="1600" dirty="0">
                <a:solidFill>
                  <a:srgbClr val="FFFFFF"/>
                </a:solidFill>
                <a:latin typeface="Poppins ExtraBold" pitchFamily="34" charset="0"/>
                <a:ea typeface="Poppins ExtraBold" pitchFamily="34" charset="-122"/>
                <a:cs typeface="Poppins ExtraBold" pitchFamily="34" charset="-120"/>
              </a:rPr>
              <a:t>1</a:t>
            </a:r>
            <a:endParaRPr lang="en-US" sz="1600" dirty="0"/>
          </a:p>
        </p:txBody>
      </p:sp>
      <p:sp>
        <p:nvSpPr>
          <p:cNvPr id="8" name="Text 5"/>
          <p:cNvSpPr txBox="1"/>
          <p:nvPr/>
        </p:nvSpPr>
        <p:spPr>
          <a:xfrm>
            <a:off x="1417320" y="2852928"/>
            <a:ext cx="7132320" cy="32004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Start des Minijobs bei der Poleschak GmbH</a:t>
            </a:r>
            <a:endParaRPr lang="en-US" sz="1600" dirty="0"/>
          </a:p>
        </p:txBody>
      </p:sp>
      <p:sp>
        <p:nvSpPr>
          <p:cNvPr id="9" name="Text 6"/>
          <p:cNvSpPr txBox="1"/>
          <p:nvPr/>
        </p:nvSpPr>
        <p:spPr>
          <a:xfrm>
            <a:off x="1417320" y="3172968"/>
            <a:ext cx="7132320" cy="2743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ab [Datum], ideal Mitte Oktober für den Start am 25.10.</a:t>
            </a:r>
            <a:endParaRPr lang="en-US" sz="1200" dirty="0"/>
          </a:p>
        </p:txBody>
      </p:sp>
      <p:sp>
        <p:nvSpPr>
          <p:cNvPr id="10" name="Shape 7"/>
          <p:cNvSpPr/>
          <p:nvPr/>
        </p:nvSpPr>
        <p:spPr>
          <a:xfrm>
            <a:off x="685800" y="3794760"/>
            <a:ext cx="502920" cy="502920"/>
          </a:xfrm>
          <a:prstGeom prst="ellipse">
            <a:avLst/>
          </a:prstGeom>
          <a:solidFill>
            <a:srgbClr val="EB5A1B"/>
          </a:solidFill>
          <a:ln w="12700">
            <a:solidFill>
              <a:srgbClr val="EB5A1B"/>
            </a:solidFill>
            <a:prstDash val="solid"/>
          </a:ln>
        </p:spPr>
      </p:sp>
      <p:sp>
        <p:nvSpPr>
          <p:cNvPr id="11" name="Text 8"/>
          <p:cNvSpPr txBox="1"/>
          <p:nvPr/>
        </p:nvSpPr>
        <p:spPr>
          <a:xfrm>
            <a:off x="685800" y="3794760"/>
            <a:ext cx="502920" cy="502920"/>
          </a:xfrm>
          <a:prstGeom prst="rect">
            <a:avLst/>
          </a:prstGeom>
          <a:noFill/>
          <a:ln/>
        </p:spPr>
        <p:txBody>
          <a:bodyPr wrap="square" lIns="0" tIns="0" rIns="0" bIns="0" rtlCol="0" anchor="ctr"/>
          <a:lstStyle/>
          <a:p>
            <a:pPr algn="ctr" indent="0" marL="0">
              <a:buNone/>
            </a:pPr>
            <a:r>
              <a:rPr lang="en-US" sz="1600" dirty="0">
                <a:solidFill>
                  <a:srgbClr val="FFFFFF"/>
                </a:solidFill>
                <a:latin typeface="Poppins ExtraBold" pitchFamily="34" charset="0"/>
                <a:ea typeface="Poppins ExtraBold" pitchFamily="34" charset="-122"/>
                <a:cs typeface="Poppins ExtraBold" pitchFamily="34" charset="-120"/>
              </a:rPr>
              <a:t>2</a:t>
            </a:r>
            <a:endParaRPr lang="en-US" sz="1600" dirty="0"/>
          </a:p>
        </p:txBody>
      </p:sp>
      <p:sp>
        <p:nvSpPr>
          <p:cNvPr id="12" name="Text 9"/>
          <p:cNvSpPr txBox="1"/>
          <p:nvPr/>
        </p:nvSpPr>
        <p:spPr>
          <a:xfrm>
            <a:off x="1417320" y="3767328"/>
            <a:ext cx="7132320" cy="32004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Werbebudget von 3.800 € pro Jahr</a:t>
            </a:r>
            <a:endParaRPr lang="en-US" sz="1600" dirty="0"/>
          </a:p>
        </p:txBody>
      </p:sp>
      <p:sp>
        <p:nvSpPr>
          <p:cNvPr id="13" name="Text 10"/>
          <p:cNvSpPr txBox="1"/>
          <p:nvPr/>
        </p:nvSpPr>
        <p:spPr>
          <a:xfrm>
            <a:off x="1417320" y="4087368"/>
            <a:ext cx="7132320" cy="2743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nur für Beiträge, die nachweislich funktionieren</a:t>
            </a:r>
            <a:endParaRPr lang="en-US" sz="1200" dirty="0"/>
          </a:p>
        </p:txBody>
      </p:sp>
      <p:sp>
        <p:nvSpPr>
          <p:cNvPr id="14" name="Shape 11"/>
          <p:cNvSpPr/>
          <p:nvPr/>
        </p:nvSpPr>
        <p:spPr>
          <a:xfrm>
            <a:off x="685800" y="4709160"/>
            <a:ext cx="502920" cy="502920"/>
          </a:xfrm>
          <a:prstGeom prst="ellipse">
            <a:avLst/>
          </a:prstGeom>
          <a:solidFill>
            <a:srgbClr val="EB5A1B"/>
          </a:solidFill>
          <a:ln w="12700">
            <a:solidFill>
              <a:srgbClr val="EB5A1B"/>
            </a:solidFill>
            <a:prstDash val="solid"/>
          </a:ln>
        </p:spPr>
      </p:sp>
      <p:sp>
        <p:nvSpPr>
          <p:cNvPr id="15" name="Text 12"/>
          <p:cNvSpPr txBox="1"/>
          <p:nvPr/>
        </p:nvSpPr>
        <p:spPr>
          <a:xfrm>
            <a:off x="685800" y="4709160"/>
            <a:ext cx="502920" cy="502920"/>
          </a:xfrm>
          <a:prstGeom prst="rect">
            <a:avLst/>
          </a:prstGeom>
          <a:noFill/>
          <a:ln/>
        </p:spPr>
        <p:txBody>
          <a:bodyPr wrap="square" lIns="0" tIns="0" rIns="0" bIns="0" rtlCol="0" anchor="ctr"/>
          <a:lstStyle/>
          <a:p>
            <a:pPr algn="ctr" indent="0" marL="0">
              <a:buNone/>
            </a:pPr>
            <a:r>
              <a:rPr lang="en-US" sz="1600" dirty="0">
                <a:solidFill>
                  <a:srgbClr val="FFFFFF"/>
                </a:solidFill>
                <a:latin typeface="Poppins ExtraBold" pitchFamily="34" charset="0"/>
                <a:ea typeface="Poppins ExtraBold" pitchFamily="34" charset="-122"/>
                <a:cs typeface="Poppins ExtraBold" pitchFamily="34" charset="-120"/>
              </a:rPr>
              <a:t>3</a:t>
            </a:r>
            <a:endParaRPr lang="en-US" sz="1600" dirty="0"/>
          </a:p>
        </p:txBody>
      </p:sp>
      <p:sp>
        <p:nvSpPr>
          <p:cNvPr id="16" name="Text 13"/>
          <p:cNvSpPr txBox="1"/>
          <p:nvPr/>
        </p:nvSpPr>
        <p:spPr>
          <a:xfrm>
            <a:off x="1417320" y="4681728"/>
            <a:ext cx="7132320" cy="320040"/>
          </a:xfrm>
          <a:prstGeom prst="rect">
            <a:avLst/>
          </a:prstGeom>
          <a:noFill/>
          <a:ln/>
        </p:spPr>
        <p:txBody>
          <a:bodyPr wrap="square" lIns="0" tIns="0" rIns="0" bIns="0" rtlCol="0" anchor="t"/>
          <a:lstStyle/>
          <a:p>
            <a:pPr indent="0" marL="0">
              <a:buNone/>
            </a:pPr>
            <a:r>
              <a:rPr lang="en-US" sz="1600" dirty="0">
                <a:solidFill>
                  <a:srgbClr val="FFFFFF"/>
                </a:solidFill>
                <a:latin typeface="Poppins SemiBold" pitchFamily="34" charset="0"/>
                <a:ea typeface="Poppins SemiBold" pitchFamily="34" charset="-122"/>
                <a:cs typeface="Poppins SemiBold" pitchFamily="34" charset="-120"/>
              </a:rPr>
              <a:t>Freigabe von Profilbild und „du“ auf Instagram</a:t>
            </a:r>
            <a:endParaRPr lang="en-US" sz="1600" dirty="0"/>
          </a:p>
        </p:txBody>
      </p:sp>
      <p:sp>
        <p:nvSpPr>
          <p:cNvPr id="17" name="Text 14"/>
          <p:cNvSpPr txBox="1"/>
          <p:nvPr/>
        </p:nvSpPr>
        <p:spPr>
          <a:xfrm>
            <a:off x="1417320" y="5001768"/>
            <a:ext cx="7132320" cy="274320"/>
          </a:xfrm>
          <a:prstGeom prst="rect">
            <a:avLst/>
          </a:prstGeom>
          <a:noFill/>
          <a:ln/>
        </p:spPr>
        <p:txBody>
          <a:bodyPr wrap="square" lIns="0" tIns="0" rIns="0" bIns="0" rtlCol="0" anchor="t"/>
          <a:lstStyle/>
          <a:p>
            <a:pPr indent="0" marL="0">
              <a:buNone/>
            </a:pPr>
            <a:r>
              <a:rPr lang="en-US" sz="1200" dirty="0">
                <a:solidFill>
                  <a:srgbClr val="B4B5BB"/>
                </a:solidFill>
                <a:latin typeface="Poppins" pitchFamily="34" charset="0"/>
                <a:ea typeface="Poppins" pitchFamily="34" charset="-122"/>
                <a:cs typeface="Poppins" pitchFamily="34" charset="-120"/>
              </a:rPr>
              <a:t>Signal-Symbol aus dem Logo, Ansprache wie besprochen</a:t>
            </a:r>
            <a:endParaRPr lang="en-US" sz="1200" dirty="0"/>
          </a:p>
        </p:txBody>
      </p:sp>
      <p:pic>
        <p:nvPicPr>
          <p:cNvPr id="18" name="Image 1" descr="/home/user/Marlene/poleschak-social-media/assets/logo-negativ.png">    </p:cNvPr>
          <p:cNvPicPr>
            <a:picLocks noChangeAspect="1"/>
          </p:cNvPicPr>
          <p:nvPr/>
        </p:nvPicPr>
        <p:blipFill>
          <a:blip r:embed="rId2"/>
          <a:stretch>
            <a:fillRect/>
          </a:stretch>
        </p:blipFill>
        <p:spPr>
          <a:xfrm>
            <a:off x="685800" y="6291072"/>
            <a:ext cx="643680" cy="329184"/>
          </a:xfrm>
          <a:prstGeom prst="rect">
            <a:avLst/>
          </a:prstGeom>
        </p:spPr>
      </p:pic>
      <p:sp>
        <p:nvSpPr>
          <p:cNvPr id="19" name="Text 15"/>
          <p:cNvSpPr txBox="1"/>
          <p:nvPr/>
        </p:nvSpPr>
        <p:spPr>
          <a:xfrm>
            <a:off x="10591495" y="6355080"/>
            <a:ext cx="914400" cy="274320"/>
          </a:xfrm>
          <a:prstGeom prst="rect">
            <a:avLst/>
          </a:prstGeom>
          <a:noFill/>
          <a:ln/>
        </p:spPr>
        <p:txBody>
          <a:bodyPr wrap="square" lIns="0" tIns="0" rIns="0" bIns="0" rtlCol="0" anchor="ctr"/>
          <a:lstStyle/>
          <a:p>
            <a:pPr algn="r" indent="0" marL="0">
              <a:buNone/>
            </a:pPr>
            <a:r>
              <a:rPr lang="en-US" sz="1100" spc="300" kern="0" dirty="0">
                <a:solidFill>
                  <a:srgbClr val="B4B5BB"/>
                </a:solidFill>
                <a:latin typeface="Poppins Light" pitchFamily="34" charset="0"/>
                <a:ea typeface="Poppins Light" pitchFamily="34" charset="-122"/>
                <a:cs typeface="Poppins Light" pitchFamily="34" charset="-120"/>
              </a:rPr>
              <a:t>24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Social-Media-Masterplan Alarmanlagen Poleschak</dc:title>
  <dc:subject>PptxGenJS Presentation</dc:subject>
  <dc:creator>Social Media · Alarmanlagen Poleschak</dc:creator>
  <cp:lastModifiedBy>Social Media · Alarmanlagen Poleschak</cp:lastModifiedBy>
  <cp:revision>1</cp:revision>
  <dcterms:created xsi:type="dcterms:W3CDTF">2026-09-29T19:45:04Z</dcterms:created>
  <dcterms:modified xsi:type="dcterms:W3CDTF">2026-09-29T19:45:04Z</dcterms:modified>
</cp:coreProperties>
</file>