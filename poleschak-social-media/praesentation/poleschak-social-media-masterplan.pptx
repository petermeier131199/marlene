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Der Claim ist die Idee in einem Satz. Unsere Leitstelle ist nachts wach, und genau das zeigen wir auf Instagram. In den nächsten 20 Minuten zeige ich, wie wir damit Kunden und neue Kolleginnen und Kollegen gewinnen und was es kostet.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für Rückfragen (Stand 09/2026, ca.-Werte): Größter regionaler Wettbewerber Pfättisch ca. 1.059 Instagram-Follower; unsere Facebook-Seite ca. 150, LinkedIn 17 Follower; Google Gaimersheim 5,0 Sterne bei 17 Bewertungen.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für Rückfragen: PKS 2025 Deutschland 82.920 Wohnungseinbrüche (+5,7 %), Bayern 3.806 (+5,6 %); GDV: Ø-Schaden 3.850 €; HWK München: 24 % der Lehrstellen im Handwerk Oberbayern 2023/24 unbesetzt. 44,9 % der Einbrüche scheitern im Versuch, Sicherung wirkt. Tag des Einbruchschutzes: 25.10.2026.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Kern der ganzen Strategie: Die Leitstelle ist unser Alleinstellungsmerkmal. Keine Agentur und kein Wettbewerber kann zeigen, was bei uns nachts passiert.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Claims sind freigegeben. Die Ansprache „du“ ist eine Empfehlung, die letzte Entscheidung liegt bei der Geschäftsführung.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Haus fasst die Strategie zusammen: Die Vision ist das Dach, die drei Ziele tragen es, das Fundament ist das, was uns schon heute ausmacht.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Stufe braucht andere Inhalte: Reels für Aufmerksamkeit, Wissen und Gesichter für Vertrauen, eine niedrige Hürde für den Kontakt.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Anteil am Content ca. 45 % Kunden, 30 % Azubis, 15 % Fachkräfte, 10 % Marke. Saisonal verschiebt sich das: Oktober bis März mehr Kundenthemen, Januar bis April und September mehr Azubi-Themen.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im Marken-Kit (8 Seiten, liegt als PDF bei). Das Profilbild zeigt nur das Signal aus dem Logo. Das braucht Ihre Freigabe. Die Endfassung kommt aus der Vektordatei des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Zielgruppe hat ihren eigenen Look. Durch Farben, Schrift und Signal-Elemente bleibt alles als Poleschak erkennbar.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Profil wird im Aufbaumonat komplett neu aufgesetzt. Follower-Zahlen tragen wir nach der Nullmessung ein. Aktuell habe ich noch keinen Zugang zum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geplanter Anteil am Feed ca. 25 % Leitstelle, 30 % Sicher wissen, 30 % Karriere, 10 % Familie, 5 % Vertrauen.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Start mit ca. drei Feed-Beiträgen pro Woche plus Stories. Uhrzeiten und Tage werden nach den ersten Wochen anhand der Instagram-Auswertung angepasst.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Wiederkehrende Formate: Aufbau, Vorlage und Schnitt sind immer gleich. Dadurch schaffe ich mehr Qualität in weniger Zeit, und die Follower wissen, was sie erwartet.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Konkreter Plan für den ersten vollen Monat. Der Rauchmeldertag am Freitag, 13.11., ist ein bundesweiter Aktionstag. Stories kommen jeweils montags, mittwochs und freitags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Kampagnen folgen den Saisons: Einbruchsaison Oktober bis März, Azubi-Bewerbungsphase Januar bis April, Ausbildungsmesse im Herbst. Nach sechs Monaten gibt es ein Review mit echten Zahlen.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Niedrige Hürden sind der Schlüssel: kein Anschreiben, kein Formular-Marathon. Die Rückmeldung an Bewerber innerhalb von 48 Stunden übernimmt die Personalabteilung, das ist nicht Teil meiner Social-Media-Aufgabe.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Werbebudget legen wir gemeinsam fest. Geld fließt nur in Beiträge, die schon funktionieren.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 Zielwerte legen wir nach einer Nullmessung gemeinsam 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Umfang, Stundenrahmen und Vergütung bespreche ich gern persönlich.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 Eine Agentur ist nicht unbedingt teurer. Der Unterschied liegt in Echtheit und Zugang.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Persönlicher Teil: Warum ich die richtige Person bin. Ein Foto von mir in der Leitstelle (ohne lesbare Monitore) wirkt hier sehr stark.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steht, was ich brauche. Rechts stehen Firmenprozesse, die außerhalb meiner 43 Stunden laufen, aber stark auf die Ziele einzahlen.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Zeitpunkt ist ideal: Der Aufbaumonat fällt in den Oktober, und der Start am Tag des Einbruchschutzes gibt uns sofort ein starkes Thema.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mit drei klaren Entscheidungen, um die ich bitte. Danach Fragen. Unterlagen im Anhang: Marken-Kit (PDF), Vorlagen, Strategie-Dokument.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1.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tmp/claude-0/-home-user-Marlene/67342075-d45e-5dfd-8246-b97e829a8c42/scratchpad/deck/img/waves.png">    </p:cNvPr>
          <p:cNvPicPr>
            <a:picLocks noChangeAspect="1"/>
          </p:cNvPicPr>
          <p:nvPr/>
        </p:nvPicPr>
        <p:blipFill>
          <a:blip r:embed="rId1"/>
          <a:stretch>
            <a:fillRect/>
          </a:stretch>
        </p:blipFill>
        <p:spPr>
          <a:xfrm>
            <a:off x="7680960" y="914400"/>
            <a:ext cx="4754880" cy="4754880"/>
          </a:xfrm>
          <a:prstGeom prst="rect">
            <a:avLst/>
          </a:prstGeom>
        </p:spPr>
      </p:pic>
      <p:sp>
        <p:nvSpPr>
          <p:cNvPr id="3" name="Shape 0"/>
          <p:cNvSpPr/>
          <p:nvPr/>
        </p:nvSpPr>
        <p:spPr>
          <a:xfrm>
            <a:off x="685800" y="704088"/>
            <a:ext cx="146304" cy="146304"/>
          </a:xfrm>
          <a:prstGeom prst="ellipse">
            <a:avLst/>
          </a:prstGeom>
          <a:solidFill>
            <a:srgbClr val="EB5A1B"/>
          </a:solidFill>
          <a:ln w="12700">
            <a:solidFill>
              <a:srgbClr val="EB5A1B"/>
            </a:solidFill>
            <a:prstDash val="solid"/>
          </a:ln>
        </p:spPr>
      </p:sp>
      <p:sp>
        <p:nvSpPr>
          <p:cNvPr id="4" name="Text 1"/>
          <p:cNvSpPr txBox="1"/>
          <p:nvPr/>
        </p:nvSpPr>
        <p:spPr>
          <a:xfrm>
            <a:off x="941832" y="64008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SOCIAL-MEDIA-MASTERPLAN · INSTAGRAM</a:t>
            </a:r>
            <a:endParaRPr lang="en-US" sz="1200" dirty="0"/>
          </a:p>
        </p:txBody>
      </p:sp>
      <p:pic>
        <p:nvPicPr>
          <p:cNvPr id="5" name="Image 1" descr="/home/user/Marlene/poleschak-social-media/assets/logo-negativ.png">    </p:cNvPr>
          <p:cNvPicPr>
            <a:picLocks noChangeAspect="1"/>
          </p:cNvPicPr>
          <p:nvPr/>
        </p:nvPicPr>
        <p:blipFill>
          <a:blip r:embed="rId2"/>
          <a:stretch>
            <a:fillRect/>
          </a:stretch>
        </p:blipFill>
        <p:spPr>
          <a:xfrm>
            <a:off x="685800" y="1325880"/>
            <a:ext cx="2413800" cy="1234440"/>
          </a:xfrm>
          <a:prstGeom prst="rect">
            <a:avLst/>
          </a:prstGeom>
        </p:spPr>
      </p:pic>
      <p:sp>
        <p:nvSpPr>
          <p:cNvPr id="6" name="Text 2"/>
          <p:cNvSpPr txBox="1"/>
          <p:nvPr/>
        </p:nvSpPr>
        <p:spPr>
          <a:xfrm>
            <a:off x="685800" y="2926080"/>
            <a:ext cx="7498080" cy="1920240"/>
          </a:xfrm>
          <a:prstGeom prst="rect">
            <a:avLst/>
          </a:prstGeom>
          <a:noFill/>
          <a:ln/>
        </p:spPr>
        <p:txBody>
          <a:bodyPr wrap="square" lIns="0" tIns="0" rIns="0" bIns="0" rtlCol="0" anchor="t"/>
          <a:lstStyle/>
          <a:p>
            <a:pPr indent="0" marL="0">
              <a:buNone/>
            </a:pPr>
            <a:r>
              <a:rPr lang="en-US" sz="5000" dirty="0">
                <a:solidFill>
                  <a:srgbClr val="FFFFFF"/>
                </a:solidFill>
                <a:latin typeface="Poppins ExtraBold" pitchFamily="34" charset="0"/>
                <a:ea typeface="Poppins ExtraBold" pitchFamily="34" charset="-122"/>
                <a:cs typeface="Poppins ExtraBold" pitchFamily="34" charset="-120"/>
              </a:rPr>
              <a:t>Wir sind wach,</a:t>
            </a:r>
            <a:endParaRPr lang="en-US" sz="5000" dirty="0"/>
          </a:p>
          <a:p>
            <a:pPr indent="0" marL="0">
              <a:buNone/>
            </a:pPr>
            <a:r>
              <a:rPr lang="en-US" sz="5000" dirty="0">
                <a:solidFill>
                  <a:srgbClr val="FFFFFF"/>
                </a:solidFill>
                <a:latin typeface="Poppins ExtraBold" pitchFamily="34" charset="0"/>
                <a:ea typeface="Poppins ExtraBold" pitchFamily="34" charset="-122"/>
                <a:cs typeface="Poppins ExtraBold" pitchFamily="34" charset="-120"/>
              </a:rPr>
              <a:t>damit du </a:t>
            </a:r>
            <a:pPr indent="0" marL="0">
              <a:buNone/>
            </a:pPr>
            <a:r>
              <a:rPr lang="en-US" sz="5000" dirty="0">
                <a:solidFill>
                  <a:srgbClr val="EB5A1B"/>
                </a:solidFill>
                <a:latin typeface="Poppins ExtraBold" pitchFamily="34" charset="0"/>
                <a:ea typeface="Poppins ExtraBold" pitchFamily="34" charset="-122"/>
                <a:cs typeface="Poppins ExtraBold" pitchFamily="34" charset="-120"/>
              </a:rPr>
              <a:t>schlafen</a:t>
            </a:r>
            <a:pPr indent="0" marL="0">
              <a:buNone/>
            </a:pPr>
            <a:r>
              <a:rPr lang="en-US" sz="5000" dirty="0">
                <a:solidFill>
                  <a:srgbClr val="FFFFFF"/>
                </a:solidFill>
                <a:latin typeface="Poppins ExtraBold" pitchFamily="34" charset="0"/>
                <a:ea typeface="Poppins ExtraBold" pitchFamily="34" charset="-122"/>
                <a:cs typeface="Poppins ExtraBold" pitchFamily="34" charset="-120"/>
              </a:rPr>
              <a:t> kannst.</a:t>
            </a:r>
            <a:endParaRPr lang="en-US" sz="5000" dirty="0"/>
          </a:p>
        </p:txBody>
      </p:sp>
      <p:sp>
        <p:nvSpPr>
          <p:cNvPr id="7" name="Text 3"/>
          <p:cNvSpPr txBox="1"/>
          <p:nvPr/>
        </p:nvSpPr>
        <p:spPr>
          <a:xfrm>
            <a:off x="685800" y="5989320"/>
            <a:ext cx="8229600" cy="320040"/>
          </a:xfrm>
          <a:prstGeom prst="rect">
            <a:avLst/>
          </a:prstGeom>
          <a:noFill/>
          <a:ln/>
        </p:spPr>
        <p:txBody>
          <a:bodyPr wrap="square" lIns="0" tIns="0" rIns="0" bIns="0" rtlCol="0" anchor="t"/>
          <a:lstStyle/>
          <a:p>
            <a:pPr indent="0" marL="0">
              <a:buNone/>
            </a:pPr>
            <a:r>
              <a:rPr lang="en-US" sz="1400" dirty="0">
                <a:solidFill>
                  <a:srgbClr val="B4B5BB"/>
                </a:solidFill>
                <a:latin typeface="Poppins" pitchFamily="34" charset="0"/>
                <a:ea typeface="Poppins" pitchFamily="34" charset="-122"/>
                <a:cs typeface="Poppins" pitchFamily="34" charset="-120"/>
              </a:rPr>
              <a:t>Vorschlag für die Geschäftsführung · 07.10.2026 · Marlene Büder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AUSGANGSLAGE</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Die Nische ist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frei.</a:t>
            </a:r>
            <a:endParaRPr lang="en-US" sz="3400" dirty="0"/>
          </a:p>
        </p:txBody>
      </p:sp>
      <p:sp>
        <p:nvSpPr>
          <p:cNvPr id="5" name="Shape 3"/>
          <p:cNvSpPr/>
          <p:nvPr/>
        </p:nvSpPr>
        <p:spPr>
          <a:xfrm>
            <a:off x="685800" y="1874520"/>
            <a:ext cx="3108960" cy="1783080"/>
          </a:xfrm>
          <a:prstGeom prst="roundRect">
            <a:avLst>
              <a:gd name="adj" fmla="val 6154"/>
            </a:avLst>
          </a:prstGeom>
          <a:solidFill>
            <a:srgbClr val="F4F4F4"/>
          </a:solidFill>
          <a:ln w="12700">
            <a:solidFill>
              <a:srgbClr val="F4F4F4"/>
            </a:solidFill>
            <a:prstDash val="solid"/>
          </a:ln>
        </p:spPr>
      </p:sp>
      <p:sp>
        <p:nvSpPr>
          <p:cNvPr id="6" name="Shape 4"/>
          <p:cNvSpPr/>
          <p:nvPr/>
        </p:nvSpPr>
        <p:spPr>
          <a:xfrm>
            <a:off x="960120" y="2130552"/>
            <a:ext cx="502920" cy="50292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MagnifyingGlass-w.png">    </p:cNvPr>
          <p:cNvPicPr>
            <a:picLocks noChangeAspect="1"/>
          </p:cNvPicPr>
          <p:nvPr/>
        </p:nvPicPr>
        <p:blipFill>
          <a:blip r:embed="rId1"/>
          <a:stretch>
            <a:fillRect/>
          </a:stretch>
        </p:blipFill>
        <p:spPr>
          <a:xfrm>
            <a:off x="1090879" y="2261311"/>
            <a:ext cx="241402" cy="241402"/>
          </a:xfrm>
          <a:prstGeom prst="rect">
            <a:avLst/>
          </a:prstGeom>
        </p:spPr>
      </p:pic>
      <p:sp>
        <p:nvSpPr>
          <p:cNvPr id="8" name="Text 5"/>
          <p:cNvSpPr txBox="1"/>
          <p:nvPr/>
        </p:nvSpPr>
        <p:spPr>
          <a:xfrm>
            <a:off x="960120" y="2743200"/>
            <a:ext cx="26517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Kaum sichtbar</a:t>
            </a:r>
            <a:endParaRPr lang="en-US" sz="1500" dirty="0"/>
          </a:p>
        </p:txBody>
      </p:sp>
      <p:sp>
        <p:nvSpPr>
          <p:cNvPr id="9" name="Text 6"/>
          <p:cNvSpPr txBox="1"/>
          <p:nvPr/>
        </p:nvSpPr>
        <p:spPr>
          <a:xfrm>
            <a:off x="960120" y="3063240"/>
            <a:ext cx="2651760" cy="54864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In der Region nutzt noch kein Sicherheitstechnik-Betrieb Instagram konsequent.</a:t>
            </a:r>
            <a:endParaRPr lang="en-US" sz="1100" dirty="0"/>
          </a:p>
        </p:txBody>
      </p:sp>
      <p:sp>
        <p:nvSpPr>
          <p:cNvPr id="10" name="Shape 7"/>
          <p:cNvSpPr/>
          <p:nvPr/>
        </p:nvSpPr>
        <p:spPr>
          <a:xfrm>
            <a:off x="4023360" y="1874520"/>
            <a:ext cx="3108960" cy="1783080"/>
          </a:xfrm>
          <a:prstGeom prst="roundRect">
            <a:avLst>
              <a:gd name="adj" fmla="val 6154"/>
            </a:avLst>
          </a:prstGeom>
          <a:solidFill>
            <a:srgbClr val="F4F4F4"/>
          </a:solidFill>
          <a:ln w="12700">
            <a:solidFill>
              <a:srgbClr val="F4F4F4"/>
            </a:solidFill>
            <a:prstDash val="solid"/>
          </a:ln>
        </p:spPr>
      </p:sp>
      <p:sp>
        <p:nvSpPr>
          <p:cNvPr id="11" name="Shape 8"/>
          <p:cNvSpPr/>
          <p:nvPr/>
        </p:nvSpPr>
        <p:spPr>
          <a:xfrm>
            <a:off x="4297680" y="2130552"/>
            <a:ext cx="502920" cy="502920"/>
          </a:xfrm>
          <a:prstGeom prst="ellipse">
            <a:avLst/>
          </a:prstGeom>
          <a:solidFill>
            <a:srgbClr val="EB5A1B"/>
          </a:solidFill>
          <a:ln w="12700">
            <a:solidFill>
              <a:srgbClr val="EB5A1B"/>
            </a:solidFill>
            <a:prstDash val="solid"/>
          </a:ln>
        </p:spPr>
      </p:sp>
      <p:pic>
        <p:nvPicPr>
          <p:cNvPr id="12" name="Image 1" descr="/tmp/claude-0/-home-user-Marlene/67342075-d45e-5dfd-8246-b97e829a8c42/scratchpad/deck/img/FaUsers-w.png">    </p:cNvPr>
          <p:cNvPicPr>
            <a:picLocks noChangeAspect="1"/>
          </p:cNvPicPr>
          <p:nvPr/>
        </p:nvPicPr>
        <p:blipFill>
          <a:blip r:embed="rId2"/>
          <a:stretch>
            <a:fillRect/>
          </a:stretch>
        </p:blipFill>
        <p:spPr>
          <a:xfrm>
            <a:off x="4428439" y="2261311"/>
            <a:ext cx="241402" cy="241402"/>
          </a:xfrm>
          <a:prstGeom prst="rect">
            <a:avLst/>
          </a:prstGeom>
        </p:spPr>
      </p:pic>
      <p:sp>
        <p:nvSpPr>
          <p:cNvPr id="13" name="Text 9"/>
          <p:cNvSpPr txBox="1"/>
          <p:nvPr/>
        </p:nvSpPr>
        <p:spPr>
          <a:xfrm>
            <a:off x="4297680" y="2743200"/>
            <a:ext cx="26517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Ohne feste Zuständigkeit</a:t>
            </a:r>
            <a:endParaRPr lang="en-US" sz="1500" dirty="0"/>
          </a:p>
        </p:txBody>
      </p:sp>
      <p:sp>
        <p:nvSpPr>
          <p:cNvPr id="14" name="Text 10"/>
          <p:cNvSpPr txBox="1"/>
          <p:nvPr/>
        </p:nvSpPr>
        <p:spPr>
          <a:xfrm>
            <a:off x="4297680" y="3063240"/>
            <a:ext cx="2651760" cy="54864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Unser Kanal hat aktuell niemanden, der ihn regelmäßig betreut.</a:t>
            </a:r>
            <a:endParaRPr lang="en-US" sz="1100" dirty="0"/>
          </a:p>
        </p:txBody>
      </p:sp>
      <p:sp>
        <p:nvSpPr>
          <p:cNvPr id="15" name="Shape 11"/>
          <p:cNvSpPr/>
          <p:nvPr/>
        </p:nvSpPr>
        <p:spPr>
          <a:xfrm>
            <a:off x="685800" y="3886200"/>
            <a:ext cx="3108960" cy="1783080"/>
          </a:xfrm>
          <a:prstGeom prst="roundRect">
            <a:avLst>
              <a:gd name="adj" fmla="val 6154"/>
            </a:avLst>
          </a:prstGeom>
          <a:solidFill>
            <a:srgbClr val="F4F4F4"/>
          </a:solidFill>
          <a:ln w="12700">
            <a:solidFill>
              <a:srgbClr val="F4F4F4"/>
            </a:solidFill>
            <a:prstDash val="solid"/>
          </a:ln>
        </p:spPr>
      </p:sp>
      <p:sp>
        <p:nvSpPr>
          <p:cNvPr id="16" name="Shape 12"/>
          <p:cNvSpPr/>
          <p:nvPr/>
        </p:nvSpPr>
        <p:spPr>
          <a:xfrm>
            <a:off x="960120" y="4142232"/>
            <a:ext cx="502920" cy="502920"/>
          </a:xfrm>
          <a:prstGeom prst="ellipse">
            <a:avLst/>
          </a:prstGeom>
          <a:solidFill>
            <a:srgbClr val="EB5A1B"/>
          </a:solidFill>
          <a:ln w="12700">
            <a:solidFill>
              <a:srgbClr val="EB5A1B"/>
            </a:solidFill>
            <a:prstDash val="solid"/>
          </a:ln>
        </p:spPr>
      </p:sp>
      <p:pic>
        <p:nvPicPr>
          <p:cNvPr id="17" name="Image 2" descr="/tmp/claude-0/-home-user-Marlene/67342075-d45e-5dfd-8246-b97e829a8c42/scratchpad/deck/img/FaStar-w.png">    </p:cNvPr>
          <p:cNvPicPr>
            <a:picLocks noChangeAspect="1"/>
          </p:cNvPicPr>
          <p:nvPr/>
        </p:nvPicPr>
        <p:blipFill>
          <a:blip r:embed="rId3"/>
          <a:stretch>
            <a:fillRect/>
          </a:stretch>
        </p:blipFill>
        <p:spPr>
          <a:xfrm>
            <a:off x="1090879" y="4272991"/>
            <a:ext cx="241402" cy="241402"/>
          </a:xfrm>
          <a:prstGeom prst="rect">
            <a:avLst/>
          </a:prstGeom>
        </p:spPr>
      </p:pic>
      <p:sp>
        <p:nvSpPr>
          <p:cNvPr id="18" name="Text 13"/>
          <p:cNvSpPr txBox="1"/>
          <p:nvPr/>
        </p:nvSpPr>
        <p:spPr>
          <a:xfrm>
            <a:off x="960120" y="4754880"/>
            <a:ext cx="26517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Starker Ruf, wenig gezeigt</a:t>
            </a:r>
            <a:endParaRPr lang="en-US" sz="1500" dirty="0"/>
          </a:p>
        </p:txBody>
      </p:sp>
      <p:sp>
        <p:nvSpPr>
          <p:cNvPr id="19" name="Text 14"/>
          <p:cNvSpPr txBox="1"/>
          <p:nvPr/>
        </p:nvSpPr>
        <p:spPr>
          <a:xfrm>
            <a:off x="960120" y="5074920"/>
            <a:ext cx="2651760" cy="54864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Kunden sind zufrieden, aber online sieht man davon kaum etwas.</a:t>
            </a:r>
            <a:endParaRPr lang="en-US" sz="1100" dirty="0"/>
          </a:p>
        </p:txBody>
      </p:sp>
      <p:sp>
        <p:nvSpPr>
          <p:cNvPr id="20" name="Shape 15"/>
          <p:cNvSpPr/>
          <p:nvPr/>
        </p:nvSpPr>
        <p:spPr>
          <a:xfrm>
            <a:off x="4023360" y="3886200"/>
            <a:ext cx="3108960" cy="1783080"/>
          </a:xfrm>
          <a:prstGeom prst="roundRect">
            <a:avLst>
              <a:gd name="adj" fmla="val 6154"/>
            </a:avLst>
          </a:prstGeom>
          <a:solidFill>
            <a:srgbClr val="F4F4F4"/>
          </a:solidFill>
          <a:ln w="12700">
            <a:solidFill>
              <a:srgbClr val="F4F4F4"/>
            </a:solidFill>
            <a:prstDash val="solid"/>
          </a:ln>
        </p:spPr>
      </p:sp>
      <p:sp>
        <p:nvSpPr>
          <p:cNvPr id="21" name="Shape 16"/>
          <p:cNvSpPr/>
          <p:nvPr/>
        </p:nvSpPr>
        <p:spPr>
          <a:xfrm>
            <a:off x="4297680" y="4142232"/>
            <a:ext cx="502920" cy="502920"/>
          </a:xfrm>
          <a:prstGeom prst="ellipse">
            <a:avLst/>
          </a:prstGeom>
          <a:solidFill>
            <a:srgbClr val="EB5A1B"/>
          </a:solidFill>
          <a:ln w="12700">
            <a:solidFill>
              <a:srgbClr val="EB5A1B"/>
            </a:solidFill>
            <a:prstDash val="solid"/>
          </a:ln>
        </p:spPr>
      </p:sp>
      <p:pic>
        <p:nvPicPr>
          <p:cNvPr id="22" name="Image 3" descr="/tmp/claude-0/-home-user-Marlene/67342075-d45e-5dfd-8246-b97e829a8c42/scratchpad/deck/img/FaUserGraduate-w.png">    </p:cNvPr>
          <p:cNvPicPr>
            <a:picLocks noChangeAspect="1"/>
          </p:cNvPicPr>
          <p:nvPr/>
        </p:nvPicPr>
        <p:blipFill>
          <a:blip r:embed="rId4"/>
          <a:stretch>
            <a:fillRect/>
          </a:stretch>
        </p:blipFill>
        <p:spPr>
          <a:xfrm>
            <a:off x="4428439" y="4272991"/>
            <a:ext cx="241402" cy="241402"/>
          </a:xfrm>
          <a:prstGeom prst="rect">
            <a:avLst/>
          </a:prstGeom>
        </p:spPr>
      </p:pic>
      <p:sp>
        <p:nvSpPr>
          <p:cNvPr id="23" name="Text 17"/>
          <p:cNvSpPr txBox="1"/>
          <p:nvPr/>
        </p:nvSpPr>
        <p:spPr>
          <a:xfrm>
            <a:off x="4297680" y="4754880"/>
            <a:ext cx="26517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Erst online, dann Anruf</a:t>
            </a:r>
            <a:endParaRPr lang="en-US" sz="1500" dirty="0"/>
          </a:p>
        </p:txBody>
      </p:sp>
      <p:sp>
        <p:nvSpPr>
          <p:cNvPr id="24" name="Text 18"/>
          <p:cNvSpPr txBox="1"/>
          <p:nvPr/>
        </p:nvSpPr>
        <p:spPr>
          <a:xfrm>
            <a:off x="4297680" y="5074920"/>
            <a:ext cx="2651760" cy="54864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Kunden und Bewerber schauen zuerst auf Instagram und Google.</a:t>
            </a:r>
            <a:endParaRPr lang="en-US" sz="1100" dirty="0"/>
          </a:p>
        </p:txBody>
      </p:sp>
      <p:sp>
        <p:nvSpPr>
          <p:cNvPr id="25" name="Shape 19"/>
          <p:cNvSpPr/>
          <p:nvPr/>
        </p:nvSpPr>
        <p:spPr>
          <a:xfrm>
            <a:off x="7589520" y="1874520"/>
            <a:ext cx="3931920" cy="3794760"/>
          </a:xfrm>
          <a:prstGeom prst="roundRect">
            <a:avLst>
              <a:gd name="adj" fmla="val 2892"/>
            </a:avLst>
          </a:prstGeom>
          <a:solidFill>
            <a:srgbClr val="111111"/>
          </a:solidFill>
          <a:ln w="12700">
            <a:solidFill>
              <a:srgbClr val="111111"/>
            </a:solidFill>
            <a:prstDash val="solid"/>
          </a:ln>
        </p:spPr>
      </p:sp>
      <p:pic>
        <p:nvPicPr>
          <p:cNvPr id="26" name="Image 4" descr="/tmp/claude-0/-home-user-Marlene/67342075-d45e-5dfd-8246-b97e829a8c42/scratchpad/deck/img/waves.png">    </p:cNvPr>
          <p:cNvPicPr>
            <a:picLocks noChangeAspect="1"/>
          </p:cNvPicPr>
          <p:nvPr/>
        </p:nvPicPr>
        <p:blipFill>
          <a:blip r:embed="rId5"/>
          <a:stretch>
            <a:fillRect/>
          </a:stretch>
        </p:blipFill>
        <p:spPr>
          <a:xfrm>
            <a:off x="9692640" y="2011680"/>
            <a:ext cx="1737360" cy="1737360"/>
          </a:xfrm>
          <a:prstGeom prst="rect">
            <a:avLst/>
          </a:prstGeom>
        </p:spPr>
      </p:pic>
      <p:sp>
        <p:nvSpPr>
          <p:cNvPr id="27" name="Text 20"/>
          <p:cNvSpPr txBox="1"/>
          <p:nvPr/>
        </p:nvSpPr>
        <p:spPr>
          <a:xfrm>
            <a:off x="7909560" y="3657600"/>
            <a:ext cx="3383280" cy="1737360"/>
          </a:xfrm>
          <a:prstGeom prst="rect">
            <a:avLst/>
          </a:prstGeom>
          <a:noFill/>
          <a:ln/>
        </p:spPr>
        <p:txBody>
          <a:bodyPr wrap="square" lIns="0" tIns="0" rIns="0" bIns="0" rtlCol="0" anchor="t"/>
          <a:lstStyle/>
          <a:p>
            <a:pPr indent="0" marL="0">
              <a:buNone/>
            </a:pPr>
            <a:r>
              <a:rPr lang="en-US" sz="2400" dirty="0">
                <a:solidFill>
                  <a:srgbClr val="FFFFFF"/>
                </a:solidFill>
                <a:latin typeface="Poppins ExtraBold" pitchFamily="34" charset="0"/>
                <a:ea typeface="Poppins ExtraBold" pitchFamily="34" charset="-122"/>
                <a:cs typeface="Poppins ExtraBold" pitchFamily="34" charset="-120"/>
              </a:rPr>
              <a:t>Wer jetzt anfängt, wird die </a:t>
            </a:r>
            <a:pPr indent="0" marL="0">
              <a:buNone/>
            </a:pPr>
            <a:r>
              <a:rPr lang="en-US" sz="2400" dirty="0">
                <a:solidFill>
                  <a:srgbClr val="EB5A1B"/>
                </a:solidFill>
                <a:latin typeface="Poppins ExtraBold" pitchFamily="34" charset="0"/>
                <a:ea typeface="Poppins ExtraBold" pitchFamily="34" charset="-122"/>
                <a:cs typeface="Poppins ExtraBold" pitchFamily="34" charset="-120"/>
              </a:rPr>
              <a:t>Nummer 1</a:t>
            </a:r>
            <a:pPr indent="0" marL="0">
              <a:buNone/>
            </a:pPr>
            <a:r>
              <a:rPr lang="en-US" sz="2400" dirty="0">
                <a:solidFill>
                  <a:srgbClr val="FFFFFF"/>
                </a:solidFill>
                <a:latin typeface="Poppins ExtraBold" pitchFamily="34" charset="0"/>
                <a:ea typeface="Poppins ExtraBold" pitchFamily="34" charset="-122"/>
                <a:cs typeface="Poppins ExtraBold" pitchFamily="34" charset="-120"/>
              </a:rPr>
              <a:t> in der Region.</a:t>
            </a:r>
            <a:endParaRPr lang="en-US" sz="2400" dirty="0"/>
          </a:p>
        </p:txBody>
      </p:sp>
      <p:pic>
        <p:nvPicPr>
          <p:cNvPr id="28" name="Image 5" descr="/home/user/Marlene/poleschak-social-media/assets/logo-transparent.png">    </p:cNvPr>
          <p:cNvPicPr>
            <a:picLocks noChangeAspect="1"/>
          </p:cNvPicPr>
          <p:nvPr/>
        </p:nvPicPr>
        <p:blipFill>
          <a:blip r:embed="rId6"/>
          <a:stretch>
            <a:fillRect/>
          </a:stretch>
        </p:blipFill>
        <p:spPr>
          <a:xfrm>
            <a:off x="685800" y="6291072"/>
            <a:ext cx="643680" cy="329184"/>
          </a:xfrm>
          <a:prstGeom prst="rect">
            <a:avLst/>
          </a:prstGeom>
        </p:spPr>
      </p:pic>
      <p:sp>
        <p:nvSpPr>
          <p:cNvPr id="29" name="Text 21"/>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WARUM JETZT</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Der richtige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Zeitpunkt.</a:t>
            </a:r>
            <a:endParaRPr lang="en-US" sz="3400" dirty="0"/>
          </a:p>
        </p:txBody>
      </p:sp>
      <p:sp>
        <p:nvSpPr>
          <p:cNvPr id="5" name="Shape 3"/>
          <p:cNvSpPr/>
          <p:nvPr/>
        </p:nvSpPr>
        <p:spPr>
          <a:xfrm>
            <a:off x="685800" y="1874520"/>
            <a:ext cx="3429000" cy="2286000"/>
          </a:xfrm>
          <a:prstGeom prst="roundRect">
            <a:avLst>
              <a:gd name="adj" fmla="val 4800"/>
            </a:avLst>
          </a:prstGeom>
          <a:solidFill>
            <a:srgbClr val="222222"/>
          </a:solidFill>
          <a:ln w="12700">
            <a:solidFill>
              <a:srgbClr val="222222"/>
            </a:solidFill>
            <a:prstDash val="solid"/>
          </a:ln>
        </p:spPr>
      </p:sp>
      <p:sp>
        <p:nvSpPr>
          <p:cNvPr id="6" name="Shape 4"/>
          <p:cNvSpPr/>
          <p:nvPr/>
        </p:nvSpPr>
        <p:spPr>
          <a:xfrm>
            <a:off x="960120" y="2148840"/>
            <a:ext cx="594360" cy="59436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House-w.png">    </p:cNvPr>
          <p:cNvPicPr>
            <a:picLocks noChangeAspect="1"/>
          </p:cNvPicPr>
          <p:nvPr/>
        </p:nvPicPr>
        <p:blipFill>
          <a:blip r:embed="rId1"/>
          <a:stretch>
            <a:fillRect/>
          </a:stretch>
        </p:blipFill>
        <p:spPr>
          <a:xfrm>
            <a:off x="1114654" y="2303374"/>
            <a:ext cx="285293" cy="285293"/>
          </a:xfrm>
          <a:prstGeom prst="rect">
            <a:avLst/>
          </a:prstGeom>
        </p:spPr>
      </p:pic>
      <p:sp>
        <p:nvSpPr>
          <p:cNvPr id="8" name="Text 5"/>
          <p:cNvSpPr txBox="1"/>
          <p:nvPr/>
        </p:nvSpPr>
        <p:spPr>
          <a:xfrm>
            <a:off x="960120" y="2880360"/>
            <a:ext cx="2926080" cy="41148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Einbrüche nehmen wieder zu</a:t>
            </a:r>
            <a:endParaRPr lang="en-US" sz="1500" dirty="0"/>
          </a:p>
        </p:txBody>
      </p:sp>
      <p:sp>
        <p:nvSpPr>
          <p:cNvPr id="9" name="Text 6"/>
          <p:cNvSpPr txBox="1"/>
          <p:nvPr/>
        </p:nvSpPr>
        <p:spPr>
          <a:xfrm>
            <a:off x="960120" y="3337560"/>
            <a:ext cx="2926080" cy="73152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Das Bedürfnis nach Sicherheit und Beratung wächst.</a:t>
            </a:r>
            <a:endParaRPr lang="en-US" sz="1300" dirty="0"/>
          </a:p>
        </p:txBody>
      </p:sp>
      <p:sp>
        <p:nvSpPr>
          <p:cNvPr id="10" name="Shape 7"/>
          <p:cNvSpPr/>
          <p:nvPr/>
        </p:nvSpPr>
        <p:spPr>
          <a:xfrm>
            <a:off x="4343400" y="1874520"/>
            <a:ext cx="3429000" cy="2286000"/>
          </a:xfrm>
          <a:prstGeom prst="roundRect">
            <a:avLst>
              <a:gd name="adj" fmla="val 4800"/>
            </a:avLst>
          </a:prstGeom>
          <a:solidFill>
            <a:srgbClr val="222222"/>
          </a:solidFill>
          <a:ln w="12700">
            <a:solidFill>
              <a:srgbClr val="222222"/>
            </a:solidFill>
            <a:prstDash val="solid"/>
          </a:ln>
        </p:spPr>
      </p:sp>
      <p:sp>
        <p:nvSpPr>
          <p:cNvPr id="11" name="Shape 8"/>
          <p:cNvSpPr/>
          <p:nvPr/>
        </p:nvSpPr>
        <p:spPr>
          <a:xfrm>
            <a:off x="4617720" y="2148840"/>
            <a:ext cx="594360" cy="594360"/>
          </a:xfrm>
          <a:prstGeom prst="ellipse">
            <a:avLst/>
          </a:prstGeom>
          <a:solidFill>
            <a:srgbClr val="EB5A1B"/>
          </a:solidFill>
          <a:ln w="12700">
            <a:solidFill>
              <a:srgbClr val="EB5A1B"/>
            </a:solidFill>
            <a:prstDash val="solid"/>
          </a:ln>
        </p:spPr>
      </p:sp>
      <p:pic>
        <p:nvPicPr>
          <p:cNvPr id="12" name="Image 1" descr="/tmp/claude-0/-home-user-Marlene/67342075-d45e-5dfd-8246-b97e829a8c42/scratchpad/deck/img/FaUserGraduate-w.png">    </p:cNvPr>
          <p:cNvPicPr>
            <a:picLocks noChangeAspect="1"/>
          </p:cNvPicPr>
          <p:nvPr/>
        </p:nvPicPr>
        <p:blipFill>
          <a:blip r:embed="rId2"/>
          <a:stretch>
            <a:fillRect/>
          </a:stretch>
        </p:blipFill>
        <p:spPr>
          <a:xfrm>
            <a:off x="4772254" y="2303374"/>
            <a:ext cx="285293" cy="285293"/>
          </a:xfrm>
          <a:prstGeom prst="rect">
            <a:avLst/>
          </a:prstGeom>
        </p:spPr>
      </p:pic>
      <p:sp>
        <p:nvSpPr>
          <p:cNvPr id="13" name="Text 9"/>
          <p:cNvSpPr txBox="1"/>
          <p:nvPr/>
        </p:nvSpPr>
        <p:spPr>
          <a:xfrm>
            <a:off x="4617720" y="2880360"/>
            <a:ext cx="2926080" cy="41148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Nachwuchs wird knapp</a:t>
            </a:r>
            <a:endParaRPr lang="en-US" sz="1500" dirty="0"/>
          </a:p>
        </p:txBody>
      </p:sp>
      <p:sp>
        <p:nvSpPr>
          <p:cNvPr id="14" name="Text 10"/>
          <p:cNvSpPr txBox="1"/>
          <p:nvPr/>
        </p:nvSpPr>
        <p:spPr>
          <a:xfrm>
            <a:off x="4617720" y="3337560"/>
            <a:ext cx="2926080" cy="73152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Azubis und Fachkräfte wählen den Arbeitgeber, den sie kennen.</a:t>
            </a:r>
            <a:endParaRPr lang="en-US" sz="1300" dirty="0"/>
          </a:p>
        </p:txBody>
      </p:sp>
      <p:sp>
        <p:nvSpPr>
          <p:cNvPr id="15" name="Shape 11"/>
          <p:cNvSpPr/>
          <p:nvPr/>
        </p:nvSpPr>
        <p:spPr>
          <a:xfrm>
            <a:off x="8001000" y="1874520"/>
            <a:ext cx="3429000" cy="2286000"/>
          </a:xfrm>
          <a:prstGeom prst="roundRect">
            <a:avLst>
              <a:gd name="adj" fmla="val 4800"/>
            </a:avLst>
          </a:prstGeom>
          <a:solidFill>
            <a:srgbClr val="222222"/>
          </a:solidFill>
          <a:ln w="12700">
            <a:solidFill>
              <a:srgbClr val="222222"/>
            </a:solidFill>
            <a:prstDash val="solid"/>
          </a:ln>
        </p:spPr>
      </p:sp>
      <p:sp>
        <p:nvSpPr>
          <p:cNvPr id="16" name="Shape 12"/>
          <p:cNvSpPr/>
          <p:nvPr/>
        </p:nvSpPr>
        <p:spPr>
          <a:xfrm>
            <a:off x="8275320" y="2148840"/>
            <a:ext cx="594360" cy="594360"/>
          </a:xfrm>
          <a:prstGeom prst="ellipse">
            <a:avLst/>
          </a:prstGeom>
          <a:solidFill>
            <a:srgbClr val="EB5A1B"/>
          </a:solidFill>
          <a:ln w="12700">
            <a:solidFill>
              <a:srgbClr val="EB5A1B"/>
            </a:solidFill>
            <a:prstDash val="solid"/>
          </a:ln>
        </p:spPr>
      </p:sp>
      <p:pic>
        <p:nvPicPr>
          <p:cNvPr id="17" name="Image 2" descr="/tmp/claude-0/-home-user-Marlene/67342075-d45e-5dfd-8246-b97e829a8c42/scratchpad/deck/img/FaHandshake-w.png">    </p:cNvPr>
          <p:cNvPicPr>
            <a:picLocks noChangeAspect="1"/>
          </p:cNvPicPr>
          <p:nvPr/>
        </p:nvPicPr>
        <p:blipFill>
          <a:blip r:embed="rId3"/>
          <a:stretch>
            <a:fillRect/>
          </a:stretch>
        </p:blipFill>
        <p:spPr>
          <a:xfrm>
            <a:off x="8429854" y="2303374"/>
            <a:ext cx="285293" cy="285293"/>
          </a:xfrm>
          <a:prstGeom prst="rect">
            <a:avLst/>
          </a:prstGeom>
        </p:spPr>
      </p:pic>
      <p:sp>
        <p:nvSpPr>
          <p:cNvPr id="18" name="Text 13"/>
          <p:cNvSpPr txBox="1"/>
          <p:nvPr/>
        </p:nvSpPr>
        <p:spPr>
          <a:xfrm>
            <a:off x="8275320" y="2880360"/>
            <a:ext cx="2926080" cy="41148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Vertrauen entsteht online</a:t>
            </a:r>
            <a:endParaRPr lang="en-US" sz="1500" dirty="0"/>
          </a:p>
        </p:txBody>
      </p:sp>
      <p:sp>
        <p:nvSpPr>
          <p:cNvPr id="19" name="Text 14"/>
          <p:cNvSpPr txBox="1"/>
          <p:nvPr/>
        </p:nvSpPr>
        <p:spPr>
          <a:xfrm>
            <a:off x="8275320" y="3337560"/>
            <a:ext cx="2926080" cy="73152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Wer sich zeigt, wird gefragt, als Dienstleister und als Arbeitgeber.</a:t>
            </a:r>
            <a:endParaRPr lang="en-US" sz="1300" dirty="0"/>
          </a:p>
        </p:txBody>
      </p:sp>
      <p:sp>
        <p:nvSpPr>
          <p:cNvPr id="20" name="Shape 15"/>
          <p:cNvSpPr/>
          <p:nvPr/>
        </p:nvSpPr>
        <p:spPr>
          <a:xfrm>
            <a:off x="685800" y="4526280"/>
            <a:ext cx="10789920" cy="960120"/>
          </a:xfrm>
          <a:prstGeom prst="roundRect">
            <a:avLst>
              <a:gd name="adj" fmla="val 11429"/>
            </a:avLst>
          </a:prstGeom>
          <a:solidFill>
            <a:srgbClr val="222222"/>
          </a:solidFill>
          <a:ln w="12700">
            <a:solidFill>
              <a:srgbClr val="222222"/>
            </a:solidFill>
            <a:prstDash val="solid"/>
          </a:ln>
        </p:spPr>
      </p:sp>
      <p:sp>
        <p:nvSpPr>
          <p:cNvPr id="21" name="Shape 16"/>
          <p:cNvSpPr/>
          <p:nvPr/>
        </p:nvSpPr>
        <p:spPr>
          <a:xfrm>
            <a:off x="960120" y="4727448"/>
            <a:ext cx="548640" cy="548640"/>
          </a:xfrm>
          <a:prstGeom prst="ellipse">
            <a:avLst/>
          </a:prstGeom>
          <a:solidFill>
            <a:srgbClr val="EB5A1B"/>
          </a:solidFill>
          <a:ln w="12700">
            <a:solidFill>
              <a:srgbClr val="EB5A1B"/>
            </a:solidFill>
            <a:prstDash val="solid"/>
          </a:ln>
        </p:spPr>
      </p:sp>
      <p:pic>
        <p:nvPicPr>
          <p:cNvPr id="22" name="Image 3" descr="/tmp/claude-0/-home-user-Marlene/67342075-d45e-5dfd-8246-b97e829a8c42/scratchpad/deck/img/FaCalendarDays-w.png">    </p:cNvPr>
          <p:cNvPicPr>
            <a:picLocks noChangeAspect="1"/>
          </p:cNvPicPr>
          <p:nvPr/>
        </p:nvPicPr>
        <p:blipFill>
          <a:blip r:embed="rId4"/>
          <a:stretch>
            <a:fillRect/>
          </a:stretch>
        </p:blipFill>
        <p:spPr>
          <a:xfrm>
            <a:off x="1102766" y="4870094"/>
            <a:ext cx="263347" cy="263347"/>
          </a:xfrm>
          <a:prstGeom prst="rect">
            <a:avLst/>
          </a:prstGeom>
        </p:spPr>
      </p:pic>
      <p:sp>
        <p:nvSpPr>
          <p:cNvPr id="23" name="Text 17"/>
          <p:cNvSpPr txBox="1"/>
          <p:nvPr/>
        </p:nvSpPr>
        <p:spPr>
          <a:xfrm>
            <a:off x="1737360" y="4773168"/>
            <a:ext cx="9509760" cy="54864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Tag des Einbruchschutzes: </a:t>
            </a:r>
            <a:pPr indent="0" marL="0">
              <a:buNone/>
            </a:pPr>
            <a:r>
              <a:rPr lang="en-US" sz="1500" dirty="0">
                <a:solidFill>
                  <a:srgbClr val="DDDDDD"/>
                </a:solidFill>
                <a:latin typeface="Poppins" pitchFamily="34" charset="0"/>
                <a:ea typeface="Poppins" pitchFamily="34" charset="-122"/>
                <a:cs typeface="Poppins" pitchFamily="34" charset="-120"/>
              </a:rPr>
              <a:t>Mit der Zeitumstellung beginnt die dunkle Jahreszeit. Der perfekte Startschuss für unseren Kanal.</a:t>
            </a:r>
            <a:endParaRPr lang="en-US" sz="1500" dirty="0"/>
          </a:p>
        </p:txBody>
      </p:sp>
      <p:pic>
        <p:nvPicPr>
          <p:cNvPr id="24" name="Image 4" descr="/home/user/Marlene/poleschak-social-media/assets/logo-negativ.png">    </p:cNvPr>
          <p:cNvPicPr>
            <a:picLocks noChangeAspect="1"/>
          </p:cNvPicPr>
          <p:nvPr/>
        </p:nvPicPr>
        <p:blipFill>
          <a:blip r:embed="rId5"/>
          <a:stretch>
            <a:fillRect/>
          </a:stretch>
        </p:blipFill>
        <p:spPr>
          <a:xfrm>
            <a:off x="685800" y="6291072"/>
            <a:ext cx="643680" cy="329184"/>
          </a:xfrm>
          <a:prstGeom prst="rect">
            <a:avLst/>
          </a:prstGeom>
        </p:spPr>
      </p:pic>
      <p:sp>
        <p:nvSpPr>
          <p:cNvPr id="25" name="Text 18"/>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WAS UNS EINZIGARTIG MACHT</a:t>
            </a:r>
            <a:endParaRPr lang="en-US" sz="1200" dirty="0"/>
          </a:p>
        </p:txBody>
      </p:sp>
      <p:sp>
        <p:nvSpPr>
          <p:cNvPr id="4" name="Text 2"/>
          <p:cNvSpPr txBox="1"/>
          <p:nvPr/>
        </p:nvSpPr>
        <p:spPr>
          <a:xfrm>
            <a:off x="685800" y="868680"/>
            <a:ext cx="10789920" cy="1188720"/>
          </a:xfrm>
          <a:prstGeom prst="rect">
            <a:avLst/>
          </a:prstGeom>
          <a:noFill/>
          <a:ln/>
        </p:spPr>
        <p:txBody>
          <a:bodyPr wrap="square" lIns="0" tIns="0" rIns="0" bIns="0" rtlCol="0" anchor="t"/>
          <a:lstStyle/>
          <a:p>
            <a:pPr indent="0" marL="0">
              <a:buNone/>
            </a:pPr>
            <a:r>
              <a:rPr lang="en-US" sz="3000" dirty="0">
                <a:solidFill>
                  <a:srgbClr val="111111"/>
                </a:solidFill>
                <a:latin typeface="Poppins ExtraBold" pitchFamily="34" charset="0"/>
                <a:ea typeface="Poppins ExtraBold" pitchFamily="34" charset="-122"/>
                <a:cs typeface="Poppins ExtraBold" pitchFamily="34" charset="-120"/>
              </a:rPr>
              <a:t>Wir bauen nicht nur ein. </a:t>
            </a:r>
            <a:pPr indent="0" marL="0">
              <a:buNone/>
            </a:pPr>
            <a:r>
              <a:rPr lang="en-US" sz="3000" dirty="0">
                <a:solidFill>
                  <a:srgbClr val="EB5A1B"/>
                </a:solidFill>
                <a:latin typeface="Poppins ExtraBold" pitchFamily="34" charset="0"/>
                <a:ea typeface="Poppins ExtraBold" pitchFamily="34" charset="-122"/>
                <a:cs typeface="Poppins ExtraBold" pitchFamily="34" charset="-120"/>
              </a:rPr>
              <a:t>Wir sind da, wenn es ernst wird.</a:t>
            </a:r>
            <a:endParaRPr lang="en-US" sz="3000" dirty="0"/>
          </a:p>
        </p:txBody>
      </p:sp>
      <p:sp>
        <p:nvSpPr>
          <p:cNvPr id="5" name="Shape 3"/>
          <p:cNvSpPr/>
          <p:nvPr/>
        </p:nvSpPr>
        <p:spPr>
          <a:xfrm>
            <a:off x="685800" y="2331720"/>
            <a:ext cx="2514600" cy="2148840"/>
          </a:xfrm>
          <a:prstGeom prst="roundRect">
            <a:avLst>
              <a:gd name="adj" fmla="val 5106"/>
            </a:avLst>
          </a:prstGeom>
          <a:solidFill>
            <a:srgbClr val="F4F4F4"/>
          </a:solidFill>
          <a:ln w="12700">
            <a:solidFill>
              <a:srgbClr val="F4F4F4"/>
            </a:solidFill>
            <a:prstDash val="solid"/>
          </a:ln>
        </p:spPr>
      </p:sp>
      <p:sp>
        <p:nvSpPr>
          <p:cNvPr id="6" name="Shape 4"/>
          <p:cNvSpPr/>
          <p:nvPr/>
        </p:nvSpPr>
        <p:spPr>
          <a:xfrm>
            <a:off x="960120" y="2606040"/>
            <a:ext cx="640080" cy="64008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PenRuler-w.png">    </p:cNvPr>
          <p:cNvPicPr>
            <a:picLocks noChangeAspect="1"/>
          </p:cNvPicPr>
          <p:nvPr/>
        </p:nvPicPr>
        <p:blipFill>
          <a:blip r:embed="rId1"/>
          <a:stretch>
            <a:fillRect/>
          </a:stretch>
        </p:blipFill>
        <p:spPr>
          <a:xfrm>
            <a:off x="1126541" y="2772461"/>
            <a:ext cx="307238" cy="307238"/>
          </a:xfrm>
          <a:prstGeom prst="rect">
            <a:avLst/>
          </a:prstGeom>
        </p:spPr>
      </p:pic>
      <p:sp>
        <p:nvSpPr>
          <p:cNvPr id="8" name="Text 5"/>
          <p:cNvSpPr txBox="1"/>
          <p:nvPr/>
        </p:nvSpPr>
        <p:spPr>
          <a:xfrm>
            <a:off x="960120" y="3429000"/>
            <a:ext cx="2103120" cy="411480"/>
          </a:xfrm>
          <a:prstGeom prst="rect">
            <a:avLst/>
          </a:prstGeom>
          <a:noFill/>
          <a:ln/>
        </p:spPr>
        <p:txBody>
          <a:bodyPr wrap="square" lIns="0" tIns="0" rIns="0" bIns="0" rtlCol="0" anchor="t"/>
          <a:lstStyle/>
          <a:p>
            <a:pPr indent="0" marL="0">
              <a:buNone/>
            </a:pPr>
            <a:r>
              <a:rPr lang="en-US" sz="1800" dirty="0">
                <a:solidFill>
                  <a:srgbClr val="111111"/>
                </a:solidFill>
                <a:latin typeface="Poppins ExtraBold" pitchFamily="34" charset="0"/>
                <a:ea typeface="Poppins ExtraBold" pitchFamily="34" charset="-122"/>
                <a:cs typeface="Poppins ExtraBold" pitchFamily="34" charset="-120"/>
              </a:rPr>
              <a:t>Planung</a:t>
            </a:r>
            <a:endParaRPr lang="en-US" sz="1800" dirty="0"/>
          </a:p>
        </p:txBody>
      </p:sp>
      <p:sp>
        <p:nvSpPr>
          <p:cNvPr id="9" name="Text 6"/>
          <p:cNvSpPr txBox="1"/>
          <p:nvPr/>
        </p:nvSpPr>
        <p:spPr>
          <a:xfrm>
            <a:off x="960120" y="3840480"/>
            <a:ext cx="2103120" cy="54864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Individuelles Sicherheitskonzept</a:t>
            </a:r>
            <a:endParaRPr lang="en-US" sz="1300" dirty="0"/>
          </a:p>
        </p:txBody>
      </p:sp>
      <p:sp>
        <p:nvSpPr>
          <p:cNvPr id="10" name="Text 7"/>
          <p:cNvSpPr txBox="1"/>
          <p:nvPr/>
        </p:nvSpPr>
        <p:spPr>
          <a:xfrm>
            <a:off x="3200400" y="3154680"/>
            <a:ext cx="274320" cy="457200"/>
          </a:xfrm>
          <a:prstGeom prst="rect">
            <a:avLst/>
          </a:prstGeom>
          <a:noFill/>
          <a:ln/>
        </p:spPr>
        <p:txBody>
          <a:bodyPr wrap="square" lIns="0" tIns="0" rIns="0" bIns="0" rtlCol="0" anchor="ctr"/>
          <a:lstStyle/>
          <a:p>
            <a:pPr algn="ctr" indent="0" marL="0">
              <a:buNone/>
            </a:pPr>
            <a:r>
              <a:rPr lang="en-US" sz="2200" dirty="0">
                <a:solidFill>
                  <a:srgbClr val="EB5A1B"/>
                </a:solidFill>
                <a:latin typeface="Poppins ExtraBold" pitchFamily="34" charset="0"/>
                <a:ea typeface="Poppins ExtraBold" pitchFamily="34" charset="-122"/>
                <a:cs typeface="Poppins ExtraBold" pitchFamily="34" charset="-120"/>
              </a:rPr>
              <a:t>→</a:t>
            </a:r>
            <a:endParaRPr lang="en-US" sz="2200" dirty="0"/>
          </a:p>
        </p:txBody>
      </p:sp>
      <p:sp>
        <p:nvSpPr>
          <p:cNvPr id="11" name="Shape 8"/>
          <p:cNvSpPr/>
          <p:nvPr/>
        </p:nvSpPr>
        <p:spPr>
          <a:xfrm>
            <a:off x="3474720" y="2331720"/>
            <a:ext cx="2514600" cy="2148840"/>
          </a:xfrm>
          <a:prstGeom prst="roundRect">
            <a:avLst>
              <a:gd name="adj" fmla="val 5106"/>
            </a:avLst>
          </a:prstGeom>
          <a:solidFill>
            <a:srgbClr val="F4F4F4"/>
          </a:solidFill>
          <a:ln w="12700">
            <a:solidFill>
              <a:srgbClr val="F4F4F4"/>
            </a:solidFill>
            <a:prstDash val="solid"/>
          </a:ln>
        </p:spPr>
      </p:sp>
      <p:sp>
        <p:nvSpPr>
          <p:cNvPr id="12" name="Shape 9"/>
          <p:cNvSpPr/>
          <p:nvPr/>
        </p:nvSpPr>
        <p:spPr>
          <a:xfrm>
            <a:off x="3749040" y="2606040"/>
            <a:ext cx="640080" cy="640080"/>
          </a:xfrm>
          <a:prstGeom prst="ellipse">
            <a:avLst/>
          </a:prstGeom>
          <a:solidFill>
            <a:srgbClr val="EB5A1B"/>
          </a:solidFill>
          <a:ln w="12700">
            <a:solidFill>
              <a:srgbClr val="EB5A1B"/>
            </a:solidFill>
            <a:prstDash val="solid"/>
          </a:ln>
        </p:spPr>
      </p:sp>
      <p:pic>
        <p:nvPicPr>
          <p:cNvPr id="13" name="Image 1" descr="/tmp/claude-0/-home-user-Marlene/67342075-d45e-5dfd-8246-b97e829a8c42/scratchpad/deck/img/FaScrewdriverWrench-w.png">    </p:cNvPr>
          <p:cNvPicPr>
            <a:picLocks noChangeAspect="1"/>
          </p:cNvPicPr>
          <p:nvPr/>
        </p:nvPicPr>
        <p:blipFill>
          <a:blip r:embed="rId2"/>
          <a:stretch>
            <a:fillRect/>
          </a:stretch>
        </p:blipFill>
        <p:spPr>
          <a:xfrm>
            <a:off x="3915461" y="2772461"/>
            <a:ext cx="307238" cy="307238"/>
          </a:xfrm>
          <a:prstGeom prst="rect">
            <a:avLst/>
          </a:prstGeom>
        </p:spPr>
      </p:pic>
      <p:sp>
        <p:nvSpPr>
          <p:cNvPr id="14" name="Text 10"/>
          <p:cNvSpPr txBox="1"/>
          <p:nvPr/>
        </p:nvSpPr>
        <p:spPr>
          <a:xfrm>
            <a:off x="3749040" y="3429000"/>
            <a:ext cx="2103120" cy="411480"/>
          </a:xfrm>
          <a:prstGeom prst="rect">
            <a:avLst/>
          </a:prstGeom>
          <a:noFill/>
          <a:ln/>
        </p:spPr>
        <p:txBody>
          <a:bodyPr wrap="square" lIns="0" tIns="0" rIns="0" bIns="0" rtlCol="0" anchor="t"/>
          <a:lstStyle/>
          <a:p>
            <a:pPr indent="0" marL="0">
              <a:buNone/>
            </a:pPr>
            <a:r>
              <a:rPr lang="en-US" sz="1800" dirty="0">
                <a:solidFill>
                  <a:srgbClr val="111111"/>
                </a:solidFill>
                <a:latin typeface="Poppins ExtraBold" pitchFamily="34" charset="0"/>
                <a:ea typeface="Poppins ExtraBold" pitchFamily="34" charset="-122"/>
                <a:cs typeface="Poppins ExtraBold" pitchFamily="34" charset="-120"/>
              </a:rPr>
              <a:t>Einbau</a:t>
            </a:r>
            <a:endParaRPr lang="en-US" sz="1800" dirty="0"/>
          </a:p>
        </p:txBody>
      </p:sp>
      <p:sp>
        <p:nvSpPr>
          <p:cNvPr id="15" name="Text 11"/>
          <p:cNvSpPr txBox="1"/>
          <p:nvPr/>
        </p:nvSpPr>
        <p:spPr>
          <a:xfrm>
            <a:off x="3749040" y="3840480"/>
            <a:ext cx="2103120" cy="54864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VdS-anerkannte Errichtung</a:t>
            </a:r>
            <a:endParaRPr lang="en-US" sz="1300" dirty="0"/>
          </a:p>
        </p:txBody>
      </p:sp>
      <p:sp>
        <p:nvSpPr>
          <p:cNvPr id="16" name="Text 12"/>
          <p:cNvSpPr txBox="1"/>
          <p:nvPr/>
        </p:nvSpPr>
        <p:spPr>
          <a:xfrm>
            <a:off x="5989320" y="3154680"/>
            <a:ext cx="274320" cy="457200"/>
          </a:xfrm>
          <a:prstGeom prst="rect">
            <a:avLst/>
          </a:prstGeom>
          <a:noFill/>
          <a:ln/>
        </p:spPr>
        <p:txBody>
          <a:bodyPr wrap="square" lIns="0" tIns="0" rIns="0" bIns="0" rtlCol="0" anchor="ctr"/>
          <a:lstStyle/>
          <a:p>
            <a:pPr algn="ctr" indent="0" marL="0">
              <a:buNone/>
            </a:pPr>
            <a:r>
              <a:rPr lang="en-US" sz="2200" dirty="0">
                <a:solidFill>
                  <a:srgbClr val="EB5A1B"/>
                </a:solidFill>
                <a:latin typeface="Poppins ExtraBold" pitchFamily="34" charset="0"/>
                <a:ea typeface="Poppins ExtraBold" pitchFamily="34" charset="-122"/>
                <a:cs typeface="Poppins ExtraBold" pitchFamily="34" charset="-120"/>
              </a:rPr>
              <a:t>→</a:t>
            </a:r>
            <a:endParaRPr lang="en-US" sz="2200" dirty="0"/>
          </a:p>
        </p:txBody>
      </p:sp>
      <p:sp>
        <p:nvSpPr>
          <p:cNvPr id="17" name="Shape 13"/>
          <p:cNvSpPr/>
          <p:nvPr/>
        </p:nvSpPr>
        <p:spPr>
          <a:xfrm>
            <a:off x="6263640" y="2331720"/>
            <a:ext cx="2514600" cy="2148840"/>
          </a:xfrm>
          <a:prstGeom prst="roundRect">
            <a:avLst>
              <a:gd name="adj" fmla="val 5106"/>
            </a:avLst>
          </a:prstGeom>
          <a:solidFill>
            <a:srgbClr val="111111"/>
          </a:solidFill>
          <a:ln w="12700">
            <a:solidFill>
              <a:srgbClr val="111111"/>
            </a:solidFill>
            <a:prstDash val="solid"/>
          </a:ln>
        </p:spPr>
      </p:sp>
      <p:sp>
        <p:nvSpPr>
          <p:cNvPr id="18" name="Shape 14"/>
          <p:cNvSpPr/>
          <p:nvPr/>
        </p:nvSpPr>
        <p:spPr>
          <a:xfrm>
            <a:off x="6537960" y="2606040"/>
            <a:ext cx="640080" cy="640080"/>
          </a:xfrm>
          <a:prstGeom prst="ellipse">
            <a:avLst/>
          </a:prstGeom>
          <a:solidFill>
            <a:srgbClr val="EB5A1B"/>
          </a:solidFill>
          <a:ln w="12700">
            <a:solidFill>
              <a:srgbClr val="EB5A1B"/>
            </a:solidFill>
            <a:prstDash val="solid"/>
          </a:ln>
        </p:spPr>
      </p:sp>
      <p:pic>
        <p:nvPicPr>
          <p:cNvPr id="19" name="Image 2" descr="/tmp/claude-0/-home-user-Marlene/67342075-d45e-5dfd-8246-b97e829a8c42/scratchpad/deck/img/FaHeadset-w.png">    </p:cNvPr>
          <p:cNvPicPr>
            <a:picLocks noChangeAspect="1"/>
          </p:cNvPicPr>
          <p:nvPr/>
        </p:nvPicPr>
        <p:blipFill>
          <a:blip r:embed="rId3"/>
          <a:stretch>
            <a:fillRect/>
          </a:stretch>
        </p:blipFill>
        <p:spPr>
          <a:xfrm>
            <a:off x="6704381" y="2772461"/>
            <a:ext cx="307238" cy="307238"/>
          </a:xfrm>
          <a:prstGeom prst="rect">
            <a:avLst/>
          </a:prstGeom>
        </p:spPr>
      </p:pic>
      <p:sp>
        <p:nvSpPr>
          <p:cNvPr id="20" name="Text 15"/>
          <p:cNvSpPr txBox="1"/>
          <p:nvPr/>
        </p:nvSpPr>
        <p:spPr>
          <a:xfrm>
            <a:off x="6537960" y="3429000"/>
            <a:ext cx="2103120" cy="411480"/>
          </a:xfrm>
          <a:prstGeom prst="rect">
            <a:avLst/>
          </a:prstGeom>
          <a:noFill/>
          <a:ln/>
        </p:spPr>
        <p:txBody>
          <a:bodyPr wrap="square" lIns="0" tIns="0" rIns="0" bIns="0" rtlCol="0" anchor="t"/>
          <a:lstStyle/>
          <a:p>
            <a:pPr indent="0" marL="0">
              <a:buNone/>
            </a:pPr>
            <a:r>
              <a:rPr lang="en-US" sz="1800" dirty="0">
                <a:solidFill>
                  <a:srgbClr val="FFFFFF"/>
                </a:solidFill>
                <a:latin typeface="Poppins ExtraBold" pitchFamily="34" charset="0"/>
                <a:ea typeface="Poppins ExtraBold" pitchFamily="34" charset="-122"/>
                <a:cs typeface="Poppins ExtraBold" pitchFamily="34" charset="-120"/>
              </a:rPr>
              <a:t>24h-Leitstelle</a:t>
            </a:r>
            <a:endParaRPr lang="en-US" sz="1800" dirty="0"/>
          </a:p>
        </p:txBody>
      </p:sp>
      <p:sp>
        <p:nvSpPr>
          <p:cNvPr id="21" name="Text 16"/>
          <p:cNvSpPr txBox="1"/>
          <p:nvPr/>
        </p:nvSpPr>
        <p:spPr>
          <a:xfrm>
            <a:off x="6537960" y="3840480"/>
            <a:ext cx="2103120" cy="54864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Wir sind wach, rund um die Uhr</a:t>
            </a:r>
            <a:endParaRPr lang="en-US" sz="1300" dirty="0"/>
          </a:p>
        </p:txBody>
      </p:sp>
      <p:sp>
        <p:nvSpPr>
          <p:cNvPr id="22" name="Text 17"/>
          <p:cNvSpPr txBox="1"/>
          <p:nvPr/>
        </p:nvSpPr>
        <p:spPr>
          <a:xfrm>
            <a:off x="8778240" y="3154680"/>
            <a:ext cx="274320" cy="457200"/>
          </a:xfrm>
          <a:prstGeom prst="rect">
            <a:avLst/>
          </a:prstGeom>
          <a:noFill/>
          <a:ln/>
        </p:spPr>
        <p:txBody>
          <a:bodyPr wrap="square" lIns="0" tIns="0" rIns="0" bIns="0" rtlCol="0" anchor="ctr"/>
          <a:lstStyle/>
          <a:p>
            <a:pPr algn="ctr" indent="0" marL="0">
              <a:buNone/>
            </a:pPr>
            <a:r>
              <a:rPr lang="en-US" sz="2200" dirty="0">
                <a:solidFill>
                  <a:srgbClr val="EB5A1B"/>
                </a:solidFill>
                <a:latin typeface="Poppins ExtraBold" pitchFamily="34" charset="0"/>
                <a:ea typeface="Poppins ExtraBold" pitchFamily="34" charset="-122"/>
                <a:cs typeface="Poppins ExtraBold" pitchFamily="34" charset="-120"/>
              </a:rPr>
              <a:t>→</a:t>
            </a:r>
            <a:endParaRPr lang="en-US" sz="2200" dirty="0"/>
          </a:p>
        </p:txBody>
      </p:sp>
      <p:sp>
        <p:nvSpPr>
          <p:cNvPr id="23" name="Shape 18"/>
          <p:cNvSpPr/>
          <p:nvPr/>
        </p:nvSpPr>
        <p:spPr>
          <a:xfrm>
            <a:off x="9052560" y="2331720"/>
            <a:ext cx="2514600" cy="2148840"/>
          </a:xfrm>
          <a:prstGeom prst="roundRect">
            <a:avLst>
              <a:gd name="adj" fmla="val 5106"/>
            </a:avLst>
          </a:prstGeom>
          <a:solidFill>
            <a:srgbClr val="F4F4F4"/>
          </a:solidFill>
          <a:ln w="12700">
            <a:solidFill>
              <a:srgbClr val="F4F4F4"/>
            </a:solidFill>
            <a:prstDash val="solid"/>
          </a:ln>
        </p:spPr>
      </p:sp>
      <p:sp>
        <p:nvSpPr>
          <p:cNvPr id="24" name="Shape 19"/>
          <p:cNvSpPr/>
          <p:nvPr/>
        </p:nvSpPr>
        <p:spPr>
          <a:xfrm>
            <a:off x="9326880" y="2606040"/>
            <a:ext cx="640080" cy="640080"/>
          </a:xfrm>
          <a:prstGeom prst="ellipse">
            <a:avLst/>
          </a:prstGeom>
          <a:solidFill>
            <a:srgbClr val="EB5A1B"/>
          </a:solidFill>
          <a:ln w="12700">
            <a:solidFill>
              <a:srgbClr val="EB5A1B"/>
            </a:solidFill>
            <a:prstDash val="solid"/>
          </a:ln>
        </p:spPr>
      </p:sp>
      <p:pic>
        <p:nvPicPr>
          <p:cNvPr id="25" name="Image 3" descr="/tmp/claude-0/-home-user-Marlene/67342075-d45e-5dfd-8246-b97e829a8c42/scratchpad/deck/img/FaCarSide-w.png">    </p:cNvPr>
          <p:cNvPicPr>
            <a:picLocks noChangeAspect="1"/>
          </p:cNvPicPr>
          <p:nvPr/>
        </p:nvPicPr>
        <p:blipFill>
          <a:blip r:embed="rId4"/>
          <a:stretch>
            <a:fillRect/>
          </a:stretch>
        </p:blipFill>
        <p:spPr>
          <a:xfrm>
            <a:off x="9493301" y="2772461"/>
            <a:ext cx="307238" cy="307238"/>
          </a:xfrm>
          <a:prstGeom prst="rect">
            <a:avLst/>
          </a:prstGeom>
        </p:spPr>
      </p:pic>
      <p:sp>
        <p:nvSpPr>
          <p:cNvPr id="26" name="Text 20"/>
          <p:cNvSpPr txBox="1"/>
          <p:nvPr/>
        </p:nvSpPr>
        <p:spPr>
          <a:xfrm>
            <a:off x="9326880" y="3429000"/>
            <a:ext cx="2103120" cy="411480"/>
          </a:xfrm>
          <a:prstGeom prst="rect">
            <a:avLst/>
          </a:prstGeom>
          <a:noFill/>
          <a:ln/>
        </p:spPr>
        <p:txBody>
          <a:bodyPr wrap="square" lIns="0" tIns="0" rIns="0" bIns="0" rtlCol="0" anchor="t"/>
          <a:lstStyle/>
          <a:p>
            <a:pPr indent="0" marL="0">
              <a:buNone/>
            </a:pPr>
            <a:r>
              <a:rPr lang="en-US" sz="1800" dirty="0">
                <a:solidFill>
                  <a:srgbClr val="111111"/>
                </a:solidFill>
                <a:latin typeface="Poppins ExtraBold" pitchFamily="34" charset="0"/>
                <a:ea typeface="Poppins ExtraBold" pitchFamily="34" charset="-122"/>
                <a:cs typeface="Poppins ExtraBold" pitchFamily="34" charset="-120"/>
              </a:rPr>
              <a:t>Wachdienst</a:t>
            </a:r>
            <a:endParaRPr lang="en-US" sz="1800" dirty="0"/>
          </a:p>
        </p:txBody>
      </p:sp>
      <p:sp>
        <p:nvSpPr>
          <p:cNvPr id="27" name="Text 21"/>
          <p:cNvSpPr txBox="1"/>
          <p:nvPr/>
        </p:nvSpPr>
        <p:spPr>
          <a:xfrm>
            <a:off x="9326880" y="3840480"/>
            <a:ext cx="2103120" cy="54864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SWD fährt raus, vor Ort</a:t>
            </a:r>
            <a:endParaRPr lang="en-US" sz="1300" dirty="0"/>
          </a:p>
        </p:txBody>
      </p:sp>
      <p:sp>
        <p:nvSpPr>
          <p:cNvPr id="28" name="Text 22"/>
          <p:cNvSpPr txBox="1"/>
          <p:nvPr/>
        </p:nvSpPr>
        <p:spPr>
          <a:xfrm>
            <a:off x="685800" y="4754880"/>
            <a:ext cx="10789920" cy="548640"/>
          </a:xfrm>
          <a:prstGeom prst="rect">
            <a:avLst/>
          </a:prstGeom>
          <a:noFill/>
          <a:ln/>
        </p:spPr>
        <p:txBody>
          <a:bodyPr wrap="square" lIns="0" tIns="0" rIns="0" bIns="0" rtlCol="0" anchor="t"/>
          <a:lstStyle/>
          <a:p>
            <a:pPr indent="0" marL="0">
              <a:buNone/>
            </a:pPr>
            <a:r>
              <a:rPr lang="en-US" sz="1500" dirty="0">
                <a:solidFill>
                  <a:srgbClr val="222222"/>
                </a:solidFill>
                <a:latin typeface="Poppins" pitchFamily="34" charset="0"/>
                <a:ea typeface="Poppins" pitchFamily="34" charset="-122"/>
                <a:cs typeface="Poppins" pitchFamily="34" charset="-120"/>
              </a:rPr>
              <a:t>Die meisten Wettbewerber decken nur Planung und Einbau ab. Die komplette Kette aus einer Hand ist unsere stärkste Geschichte, für Kunden und für Bewerber.</a:t>
            </a:r>
            <a:endParaRPr lang="en-US" sz="1500" dirty="0"/>
          </a:p>
        </p:txBody>
      </p:sp>
      <p:sp>
        <p:nvSpPr>
          <p:cNvPr id="29" name="Shape 23"/>
          <p:cNvSpPr/>
          <p:nvPr/>
        </p:nvSpPr>
        <p:spPr>
          <a:xfrm>
            <a:off x="685800" y="5440680"/>
            <a:ext cx="1138428" cy="384048"/>
          </a:xfrm>
          <a:prstGeom prst="roundRect">
            <a:avLst>
              <a:gd name="adj" fmla="val 28571"/>
            </a:avLst>
          </a:prstGeom>
          <a:solidFill>
            <a:srgbClr val="E9E9EA"/>
          </a:solidFill>
          <a:ln w="12700">
            <a:solidFill>
              <a:srgbClr val="E9E9EA"/>
            </a:solidFill>
            <a:prstDash val="solid"/>
          </a:ln>
        </p:spPr>
      </p:sp>
      <p:sp>
        <p:nvSpPr>
          <p:cNvPr id="30" name="Text 24"/>
          <p:cNvSpPr txBox="1"/>
          <p:nvPr/>
        </p:nvSpPr>
        <p:spPr>
          <a:xfrm>
            <a:off x="685800" y="5440680"/>
            <a:ext cx="1138428" cy="384048"/>
          </a:xfrm>
          <a:prstGeom prst="rect">
            <a:avLst/>
          </a:prstGeom>
          <a:noFill/>
          <a:ln/>
        </p:spPr>
        <p:txBody>
          <a:bodyPr wrap="square" lIns="0" tIns="0" rIns="0" bIns="0" rtlCol="0" anchor="ctr"/>
          <a:lstStyle/>
          <a:p>
            <a:pPr algn="ctr" indent="0" marL="0">
              <a:buNone/>
            </a:pPr>
            <a:r>
              <a:rPr lang="en-US" sz="1100" dirty="0">
                <a:solidFill>
                  <a:srgbClr val="222222"/>
                </a:solidFill>
                <a:latin typeface="Poppins SemiBold" pitchFamily="34" charset="0"/>
                <a:ea typeface="Poppins SemiBold" pitchFamily="34" charset="-122"/>
                <a:cs typeface="Poppins SemiBold" pitchFamily="34" charset="-120"/>
              </a:rPr>
              <a:t>Seit 1975</a:t>
            </a:r>
            <a:endParaRPr lang="en-US" sz="1100" dirty="0"/>
          </a:p>
        </p:txBody>
      </p:sp>
      <p:sp>
        <p:nvSpPr>
          <p:cNvPr id="31" name="Shape 25"/>
          <p:cNvSpPr/>
          <p:nvPr/>
        </p:nvSpPr>
        <p:spPr>
          <a:xfrm>
            <a:off x="1961388" y="5440680"/>
            <a:ext cx="1042416" cy="384048"/>
          </a:xfrm>
          <a:prstGeom prst="roundRect">
            <a:avLst>
              <a:gd name="adj" fmla="val 28571"/>
            </a:avLst>
          </a:prstGeom>
          <a:solidFill>
            <a:srgbClr val="E9E9EA"/>
          </a:solidFill>
          <a:ln w="12700">
            <a:solidFill>
              <a:srgbClr val="E9E9EA"/>
            </a:solidFill>
            <a:prstDash val="solid"/>
          </a:ln>
        </p:spPr>
      </p:sp>
      <p:sp>
        <p:nvSpPr>
          <p:cNvPr id="32" name="Text 26"/>
          <p:cNvSpPr txBox="1"/>
          <p:nvPr/>
        </p:nvSpPr>
        <p:spPr>
          <a:xfrm>
            <a:off x="1961388" y="5440680"/>
            <a:ext cx="1042416" cy="384048"/>
          </a:xfrm>
          <a:prstGeom prst="rect">
            <a:avLst/>
          </a:prstGeom>
          <a:noFill/>
          <a:ln/>
        </p:spPr>
        <p:txBody>
          <a:bodyPr wrap="square" lIns="0" tIns="0" rIns="0" bIns="0" rtlCol="0" anchor="ctr"/>
          <a:lstStyle/>
          <a:p>
            <a:pPr algn="ctr" indent="0" marL="0">
              <a:buNone/>
            </a:pPr>
            <a:r>
              <a:rPr lang="en-US" sz="1100" dirty="0">
                <a:solidFill>
                  <a:srgbClr val="222222"/>
                </a:solidFill>
                <a:latin typeface="Poppins SemiBold" pitchFamily="34" charset="0"/>
                <a:ea typeface="Poppins SemiBold" pitchFamily="34" charset="-122"/>
                <a:cs typeface="Poppins SemiBold" pitchFamily="34" charset="-120"/>
              </a:rPr>
              <a:t>VdS 3403</a:t>
            </a:r>
            <a:endParaRPr lang="en-US" sz="1100" dirty="0"/>
          </a:p>
        </p:txBody>
      </p:sp>
      <p:sp>
        <p:nvSpPr>
          <p:cNvPr id="33" name="Shape 27"/>
          <p:cNvSpPr/>
          <p:nvPr/>
        </p:nvSpPr>
        <p:spPr>
          <a:xfrm>
            <a:off x="3140964" y="5440680"/>
            <a:ext cx="1138428" cy="384048"/>
          </a:xfrm>
          <a:prstGeom prst="roundRect">
            <a:avLst>
              <a:gd name="adj" fmla="val 28571"/>
            </a:avLst>
          </a:prstGeom>
          <a:solidFill>
            <a:srgbClr val="E9E9EA"/>
          </a:solidFill>
          <a:ln w="12700">
            <a:solidFill>
              <a:srgbClr val="E9E9EA"/>
            </a:solidFill>
            <a:prstDash val="solid"/>
          </a:ln>
        </p:spPr>
      </p:sp>
      <p:sp>
        <p:nvSpPr>
          <p:cNvPr id="34" name="Text 28"/>
          <p:cNvSpPr txBox="1"/>
          <p:nvPr/>
        </p:nvSpPr>
        <p:spPr>
          <a:xfrm>
            <a:off x="3140964" y="5440680"/>
            <a:ext cx="1138428" cy="384048"/>
          </a:xfrm>
          <a:prstGeom prst="rect">
            <a:avLst/>
          </a:prstGeom>
          <a:noFill/>
          <a:ln/>
        </p:spPr>
        <p:txBody>
          <a:bodyPr wrap="square" lIns="0" tIns="0" rIns="0" bIns="0" rtlCol="0" anchor="ctr"/>
          <a:lstStyle/>
          <a:p>
            <a:pPr algn="ctr" indent="0" marL="0">
              <a:buNone/>
            </a:pPr>
            <a:r>
              <a:rPr lang="en-US" sz="1100" dirty="0">
                <a:solidFill>
                  <a:srgbClr val="222222"/>
                </a:solidFill>
                <a:latin typeface="Poppins SemiBold" pitchFamily="34" charset="0"/>
                <a:ea typeface="Poppins SemiBold" pitchFamily="34" charset="-122"/>
                <a:cs typeface="Poppins SemiBold" pitchFamily="34" charset="-120"/>
              </a:rPr>
              <a:t>DIN 14675</a:t>
            </a:r>
            <a:endParaRPr lang="en-US" sz="1100" dirty="0"/>
          </a:p>
        </p:txBody>
      </p:sp>
      <p:sp>
        <p:nvSpPr>
          <p:cNvPr id="35" name="Shape 29"/>
          <p:cNvSpPr/>
          <p:nvPr/>
        </p:nvSpPr>
        <p:spPr>
          <a:xfrm>
            <a:off x="4416552" y="5440680"/>
            <a:ext cx="1042416" cy="384048"/>
          </a:xfrm>
          <a:prstGeom prst="roundRect">
            <a:avLst>
              <a:gd name="adj" fmla="val 28571"/>
            </a:avLst>
          </a:prstGeom>
          <a:solidFill>
            <a:srgbClr val="E9E9EA"/>
          </a:solidFill>
          <a:ln w="12700">
            <a:solidFill>
              <a:srgbClr val="E9E9EA"/>
            </a:solidFill>
            <a:prstDash val="solid"/>
          </a:ln>
        </p:spPr>
      </p:sp>
      <p:sp>
        <p:nvSpPr>
          <p:cNvPr id="36" name="Text 30"/>
          <p:cNvSpPr txBox="1"/>
          <p:nvPr/>
        </p:nvSpPr>
        <p:spPr>
          <a:xfrm>
            <a:off x="4416552" y="5440680"/>
            <a:ext cx="1042416" cy="384048"/>
          </a:xfrm>
          <a:prstGeom prst="rect">
            <a:avLst/>
          </a:prstGeom>
          <a:noFill/>
          <a:ln/>
        </p:spPr>
        <p:txBody>
          <a:bodyPr wrap="square" lIns="0" tIns="0" rIns="0" bIns="0" rtlCol="0" anchor="ctr"/>
          <a:lstStyle/>
          <a:p>
            <a:pPr algn="ctr" indent="0" marL="0">
              <a:buNone/>
            </a:pPr>
            <a:r>
              <a:rPr lang="en-US" sz="1100" dirty="0">
                <a:solidFill>
                  <a:srgbClr val="222222"/>
                </a:solidFill>
                <a:latin typeface="Poppins SemiBold" pitchFamily="34" charset="0"/>
                <a:ea typeface="Poppins SemiBold" pitchFamily="34" charset="-122"/>
                <a:cs typeface="Poppins SemiBold" pitchFamily="34" charset="-120"/>
              </a:rPr>
              <a:t>ISO 9001</a:t>
            </a:r>
            <a:endParaRPr lang="en-US" sz="1100" dirty="0"/>
          </a:p>
        </p:txBody>
      </p:sp>
      <p:sp>
        <p:nvSpPr>
          <p:cNvPr id="37" name="Shape 31"/>
          <p:cNvSpPr/>
          <p:nvPr/>
        </p:nvSpPr>
        <p:spPr>
          <a:xfrm>
            <a:off x="5596128" y="5440680"/>
            <a:ext cx="2002536" cy="384048"/>
          </a:xfrm>
          <a:prstGeom prst="roundRect">
            <a:avLst>
              <a:gd name="adj" fmla="val 28571"/>
            </a:avLst>
          </a:prstGeom>
          <a:solidFill>
            <a:srgbClr val="E9E9EA"/>
          </a:solidFill>
          <a:ln w="12700">
            <a:solidFill>
              <a:srgbClr val="E9E9EA"/>
            </a:solidFill>
            <a:prstDash val="solid"/>
          </a:ln>
        </p:spPr>
      </p:sp>
      <p:sp>
        <p:nvSpPr>
          <p:cNvPr id="38" name="Text 32"/>
          <p:cNvSpPr txBox="1"/>
          <p:nvPr/>
        </p:nvSpPr>
        <p:spPr>
          <a:xfrm>
            <a:off x="5596128" y="5440680"/>
            <a:ext cx="2002536" cy="384048"/>
          </a:xfrm>
          <a:prstGeom prst="rect">
            <a:avLst/>
          </a:prstGeom>
          <a:noFill/>
          <a:ln/>
        </p:spPr>
        <p:txBody>
          <a:bodyPr wrap="square" lIns="0" tIns="0" rIns="0" bIns="0" rtlCol="0" anchor="ctr"/>
          <a:lstStyle/>
          <a:p>
            <a:pPr algn="ctr" indent="0" marL="0">
              <a:buNone/>
            </a:pPr>
            <a:r>
              <a:rPr lang="en-US" sz="1100" dirty="0">
                <a:solidFill>
                  <a:srgbClr val="222222"/>
                </a:solidFill>
                <a:latin typeface="Poppins SemiBold" pitchFamily="34" charset="0"/>
                <a:ea typeface="Poppins SemiBold" pitchFamily="34" charset="-122"/>
                <a:cs typeface="Poppins SemiBold" pitchFamily="34" charset="-120"/>
              </a:rPr>
              <a:t>Telenot-Stützpunkt</a:t>
            </a:r>
            <a:endParaRPr lang="en-US" sz="1100" dirty="0"/>
          </a:p>
        </p:txBody>
      </p:sp>
      <p:sp>
        <p:nvSpPr>
          <p:cNvPr id="39" name="Shape 33"/>
          <p:cNvSpPr/>
          <p:nvPr/>
        </p:nvSpPr>
        <p:spPr>
          <a:xfrm>
            <a:off x="7735824" y="5440680"/>
            <a:ext cx="1426464" cy="384048"/>
          </a:xfrm>
          <a:prstGeom prst="roundRect">
            <a:avLst>
              <a:gd name="adj" fmla="val 28571"/>
            </a:avLst>
          </a:prstGeom>
          <a:solidFill>
            <a:srgbClr val="E9E9EA"/>
          </a:solidFill>
          <a:ln w="12700">
            <a:solidFill>
              <a:srgbClr val="E9E9EA"/>
            </a:solidFill>
            <a:prstDash val="solid"/>
          </a:ln>
        </p:spPr>
      </p:sp>
      <p:sp>
        <p:nvSpPr>
          <p:cNvPr id="40" name="Text 34"/>
          <p:cNvSpPr txBox="1"/>
          <p:nvPr/>
        </p:nvSpPr>
        <p:spPr>
          <a:xfrm>
            <a:off x="7735824" y="5440680"/>
            <a:ext cx="1426464" cy="384048"/>
          </a:xfrm>
          <a:prstGeom prst="rect">
            <a:avLst/>
          </a:prstGeom>
          <a:noFill/>
          <a:ln/>
        </p:spPr>
        <p:txBody>
          <a:bodyPr wrap="square" lIns="0" tIns="0" rIns="0" bIns="0" rtlCol="0" anchor="ctr"/>
          <a:lstStyle/>
          <a:p>
            <a:pPr algn="ctr" indent="0" marL="0">
              <a:buNone/>
            </a:pPr>
            <a:r>
              <a:rPr lang="en-US" sz="1100" dirty="0">
                <a:solidFill>
                  <a:srgbClr val="222222"/>
                </a:solidFill>
                <a:latin typeface="Poppins SemiBold" pitchFamily="34" charset="0"/>
                <a:ea typeface="Poppins SemiBold" pitchFamily="34" charset="-122"/>
                <a:cs typeface="Poppins SemiBold" pitchFamily="34" charset="-120"/>
              </a:rPr>
              <a:t>25 Jahre BHE</a:t>
            </a:r>
            <a:endParaRPr lang="en-US" sz="1100" dirty="0"/>
          </a:p>
        </p:txBody>
      </p:sp>
      <p:pic>
        <p:nvPicPr>
          <p:cNvPr id="41" name="Image 4" descr="/home/user/Marlene/poleschak-social-media/assets/logo-transparent.png">    </p:cNvPr>
          <p:cNvPicPr>
            <a:picLocks noChangeAspect="1"/>
          </p:cNvPicPr>
          <p:nvPr/>
        </p:nvPicPr>
        <p:blipFill>
          <a:blip r:embed="rId5"/>
          <a:stretch>
            <a:fillRect/>
          </a:stretch>
        </p:blipFill>
        <p:spPr>
          <a:xfrm>
            <a:off x="685800" y="6291072"/>
            <a:ext cx="643680" cy="329184"/>
          </a:xfrm>
          <a:prstGeom prst="rect">
            <a:avLst/>
          </a:prstGeom>
        </p:spPr>
      </p:pic>
      <p:sp>
        <p:nvSpPr>
          <p:cNvPr id="42" name="Text 35"/>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MARKENKERN</a:t>
            </a:r>
            <a:endParaRPr lang="en-US" sz="1200" dirty="0"/>
          </a:p>
        </p:txBody>
      </p:sp>
      <p:sp>
        <p:nvSpPr>
          <p:cNvPr id="4" name="Text 2"/>
          <p:cNvSpPr txBox="1"/>
          <p:nvPr/>
        </p:nvSpPr>
        <p:spPr>
          <a:xfrm>
            <a:off x="685800" y="1097280"/>
            <a:ext cx="5029200" cy="320040"/>
          </a:xfrm>
          <a:prstGeom prst="rect">
            <a:avLst/>
          </a:prstGeom>
          <a:noFill/>
          <a:ln/>
        </p:spPr>
        <p:txBody>
          <a:bodyPr wrap="square" lIns="0" tIns="0" rIns="0" bIns="0" rtlCol="0" anchor="t"/>
          <a:lstStyle/>
          <a:p>
            <a:pPr indent="0" marL="0">
              <a:buNone/>
            </a:pPr>
            <a:r>
              <a:rPr lang="en-US" sz="1400" spc="300" kern="0" dirty="0">
                <a:solidFill>
                  <a:srgbClr val="B4B5BB"/>
                </a:solidFill>
                <a:latin typeface="Poppins Light" pitchFamily="34" charset="0"/>
                <a:ea typeface="Poppins Light" pitchFamily="34" charset="-122"/>
                <a:cs typeface="Poppins Light" pitchFamily="34" charset="-120"/>
              </a:rPr>
              <a:t>Für Kunden</a:t>
            </a:r>
            <a:endParaRPr lang="en-US" sz="1400" dirty="0"/>
          </a:p>
        </p:txBody>
      </p:sp>
      <p:sp>
        <p:nvSpPr>
          <p:cNvPr id="5" name="Text 3"/>
          <p:cNvSpPr txBox="1"/>
          <p:nvPr/>
        </p:nvSpPr>
        <p:spPr>
          <a:xfrm>
            <a:off x="685800" y="1463040"/>
            <a:ext cx="6583680" cy="146304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Wir sind wach, damit du </a:t>
            </a:r>
            <a:pPr indent="0" marL="0">
              <a:buNone/>
            </a:pPr>
            <a:r>
              <a:rPr lang="en-US" sz="3600" dirty="0">
                <a:solidFill>
                  <a:srgbClr val="EB5A1B"/>
                </a:solidFill>
                <a:latin typeface="Poppins ExtraBold" pitchFamily="34" charset="0"/>
                <a:ea typeface="Poppins ExtraBold" pitchFamily="34" charset="-122"/>
                <a:cs typeface="Poppins ExtraBold" pitchFamily="34" charset="-120"/>
              </a:rPr>
              <a:t>schlafen</a:t>
            </a:r>
            <a:pPr indent="0" marL="0">
              <a:buNone/>
            </a:pPr>
            <a:r>
              <a:rPr lang="en-US" sz="3600" dirty="0">
                <a:solidFill>
                  <a:srgbClr val="FFFFFF"/>
                </a:solidFill>
                <a:latin typeface="Poppins ExtraBold" pitchFamily="34" charset="0"/>
                <a:ea typeface="Poppins ExtraBold" pitchFamily="34" charset="-122"/>
                <a:cs typeface="Poppins ExtraBold" pitchFamily="34" charset="-120"/>
              </a:rPr>
              <a:t> kannst.</a:t>
            </a:r>
            <a:endParaRPr lang="en-US" sz="3600" dirty="0"/>
          </a:p>
        </p:txBody>
      </p:sp>
      <p:sp>
        <p:nvSpPr>
          <p:cNvPr id="6" name="Text 4"/>
          <p:cNvSpPr txBox="1"/>
          <p:nvPr/>
        </p:nvSpPr>
        <p:spPr>
          <a:xfrm>
            <a:off x="685800" y="3246120"/>
            <a:ext cx="5029200" cy="320040"/>
          </a:xfrm>
          <a:prstGeom prst="rect">
            <a:avLst/>
          </a:prstGeom>
          <a:noFill/>
          <a:ln/>
        </p:spPr>
        <p:txBody>
          <a:bodyPr wrap="square" lIns="0" tIns="0" rIns="0" bIns="0" rtlCol="0" anchor="t"/>
          <a:lstStyle/>
          <a:p>
            <a:pPr indent="0" marL="0">
              <a:buNone/>
            </a:pPr>
            <a:r>
              <a:rPr lang="en-US" sz="1400" spc="300" kern="0" dirty="0">
                <a:solidFill>
                  <a:srgbClr val="B4B5BB"/>
                </a:solidFill>
                <a:latin typeface="Poppins Light" pitchFamily="34" charset="0"/>
                <a:ea typeface="Poppins Light" pitchFamily="34" charset="-122"/>
                <a:cs typeface="Poppins Light" pitchFamily="34" charset="-120"/>
              </a:rPr>
              <a:t>Für Bewerber</a:t>
            </a:r>
            <a:endParaRPr lang="en-US" sz="1400" dirty="0"/>
          </a:p>
        </p:txBody>
      </p:sp>
      <p:sp>
        <p:nvSpPr>
          <p:cNvPr id="7" name="Text 5"/>
          <p:cNvSpPr txBox="1"/>
          <p:nvPr/>
        </p:nvSpPr>
        <p:spPr>
          <a:xfrm>
            <a:off x="685800" y="3611880"/>
            <a:ext cx="6583680" cy="731520"/>
          </a:xfrm>
          <a:prstGeom prst="rect">
            <a:avLst/>
          </a:prstGeom>
          <a:noFill/>
          <a:ln/>
        </p:spPr>
        <p:txBody>
          <a:bodyPr wrap="square" lIns="0" tIns="0" rIns="0" bIns="0" rtlCol="0" anchor="ctr"/>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Mach Alarm. </a:t>
            </a:r>
            <a:pPr indent="0" marL="0">
              <a:buNone/>
            </a:pPr>
            <a:r>
              <a:rPr lang="en-US" sz="3600" dirty="0">
                <a:solidFill>
                  <a:srgbClr val="EB5A1B"/>
                </a:solidFill>
                <a:latin typeface="Poppins ExtraBold" pitchFamily="34" charset="0"/>
                <a:ea typeface="Poppins ExtraBold" pitchFamily="34" charset="-122"/>
                <a:cs typeface="Poppins ExtraBold" pitchFamily="34" charset="-120"/>
              </a:rPr>
              <a:t>Beruflich.</a:t>
            </a:r>
            <a:endParaRPr lang="en-US" sz="3600" dirty="0"/>
          </a:p>
        </p:txBody>
      </p:sp>
      <p:sp>
        <p:nvSpPr>
          <p:cNvPr id="8" name="Text 6"/>
          <p:cNvSpPr txBox="1"/>
          <p:nvPr/>
        </p:nvSpPr>
        <p:spPr>
          <a:xfrm>
            <a:off x="7863840" y="1097280"/>
            <a:ext cx="3657600" cy="320040"/>
          </a:xfrm>
          <a:prstGeom prst="rect">
            <a:avLst/>
          </a:prstGeom>
          <a:noFill/>
          <a:ln/>
        </p:spPr>
        <p:txBody>
          <a:bodyPr wrap="square" lIns="0" tIns="0" rIns="0" bIns="0" rtlCol="0" anchor="t"/>
          <a:lstStyle/>
          <a:p>
            <a:pPr indent="0" marL="0">
              <a:buNone/>
            </a:pPr>
            <a:r>
              <a:rPr lang="en-US" sz="1400" spc="300" kern="0" dirty="0">
                <a:solidFill>
                  <a:srgbClr val="B4B5BB"/>
                </a:solidFill>
                <a:latin typeface="Poppins Light" pitchFamily="34" charset="0"/>
                <a:ea typeface="Poppins Light" pitchFamily="34" charset="-122"/>
                <a:cs typeface="Poppins Light" pitchFamily="34" charset="-120"/>
              </a:rPr>
              <a:t>Tonalität</a:t>
            </a:r>
            <a:endParaRPr lang="en-US" sz="1400" dirty="0"/>
          </a:p>
        </p:txBody>
      </p:sp>
      <p:sp>
        <p:nvSpPr>
          <p:cNvPr id="9" name="Shape 7"/>
          <p:cNvSpPr/>
          <p:nvPr/>
        </p:nvSpPr>
        <p:spPr>
          <a:xfrm>
            <a:off x="7863840" y="1554480"/>
            <a:ext cx="502920" cy="502920"/>
          </a:xfrm>
          <a:prstGeom prst="ellipse">
            <a:avLst/>
          </a:prstGeom>
          <a:solidFill>
            <a:srgbClr val="EB5A1B"/>
          </a:solidFill>
          <a:ln w="12700">
            <a:solidFill>
              <a:srgbClr val="EB5A1B"/>
            </a:solidFill>
            <a:prstDash val="solid"/>
          </a:ln>
        </p:spPr>
      </p:sp>
      <p:pic>
        <p:nvPicPr>
          <p:cNvPr id="10" name="Image 0" descr="/tmp/claude-0/-home-user-Marlene/67342075-d45e-5dfd-8246-b97e829a8c42/scratchpad/deck/img/FaMoon-w.png">    </p:cNvPr>
          <p:cNvPicPr>
            <a:picLocks noChangeAspect="1"/>
          </p:cNvPicPr>
          <p:nvPr/>
        </p:nvPicPr>
        <p:blipFill>
          <a:blip r:embed="rId1"/>
          <a:stretch>
            <a:fillRect/>
          </a:stretch>
        </p:blipFill>
        <p:spPr>
          <a:xfrm>
            <a:off x="7994599" y="1685239"/>
            <a:ext cx="241402" cy="241402"/>
          </a:xfrm>
          <a:prstGeom prst="rect">
            <a:avLst/>
          </a:prstGeom>
        </p:spPr>
      </p:pic>
      <p:sp>
        <p:nvSpPr>
          <p:cNvPr id="11" name="Text 8"/>
          <p:cNvSpPr txBox="1"/>
          <p:nvPr/>
        </p:nvSpPr>
        <p:spPr>
          <a:xfrm>
            <a:off x="8549640" y="1554480"/>
            <a:ext cx="3108960" cy="50292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Ruhig statt panisch</a:t>
            </a:r>
            <a:endParaRPr lang="en-US" sz="1600" dirty="0"/>
          </a:p>
        </p:txBody>
      </p:sp>
      <p:sp>
        <p:nvSpPr>
          <p:cNvPr id="12" name="Shape 9"/>
          <p:cNvSpPr/>
          <p:nvPr/>
        </p:nvSpPr>
        <p:spPr>
          <a:xfrm>
            <a:off x="7863840" y="2331720"/>
            <a:ext cx="502920" cy="502920"/>
          </a:xfrm>
          <a:prstGeom prst="ellipse">
            <a:avLst/>
          </a:prstGeom>
          <a:solidFill>
            <a:srgbClr val="EB5A1B"/>
          </a:solidFill>
          <a:ln w="12700">
            <a:solidFill>
              <a:srgbClr val="EB5A1B"/>
            </a:solidFill>
            <a:prstDash val="solid"/>
          </a:ln>
        </p:spPr>
      </p:sp>
      <p:pic>
        <p:nvPicPr>
          <p:cNvPr id="13" name="Image 1" descr="/tmp/claude-0/-home-user-Marlene/67342075-d45e-5dfd-8246-b97e829a8c42/scratchpad/deck/img/FaCircleCheck-w.png">    </p:cNvPr>
          <p:cNvPicPr>
            <a:picLocks noChangeAspect="1"/>
          </p:cNvPicPr>
          <p:nvPr/>
        </p:nvPicPr>
        <p:blipFill>
          <a:blip r:embed="rId2"/>
          <a:stretch>
            <a:fillRect/>
          </a:stretch>
        </p:blipFill>
        <p:spPr>
          <a:xfrm>
            <a:off x="7994599" y="2462479"/>
            <a:ext cx="241402" cy="241402"/>
          </a:xfrm>
          <a:prstGeom prst="rect">
            <a:avLst/>
          </a:prstGeom>
        </p:spPr>
      </p:pic>
      <p:sp>
        <p:nvSpPr>
          <p:cNvPr id="14" name="Text 10"/>
          <p:cNvSpPr txBox="1"/>
          <p:nvPr/>
        </p:nvSpPr>
        <p:spPr>
          <a:xfrm>
            <a:off x="8549640" y="2331720"/>
            <a:ext cx="3108960" cy="50292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Fakten statt Angstmache</a:t>
            </a:r>
            <a:endParaRPr lang="en-US" sz="1600" dirty="0"/>
          </a:p>
        </p:txBody>
      </p:sp>
      <p:sp>
        <p:nvSpPr>
          <p:cNvPr id="15" name="Shape 11"/>
          <p:cNvSpPr/>
          <p:nvPr/>
        </p:nvSpPr>
        <p:spPr>
          <a:xfrm>
            <a:off x="7863840" y="3108960"/>
            <a:ext cx="502920" cy="502920"/>
          </a:xfrm>
          <a:prstGeom prst="ellipse">
            <a:avLst/>
          </a:prstGeom>
          <a:solidFill>
            <a:srgbClr val="EB5A1B"/>
          </a:solidFill>
          <a:ln w="12700">
            <a:solidFill>
              <a:srgbClr val="EB5A1B"/>
            </a:solidFill>
            <a:prstDash val="solid"/>
          </a:ln>
        </p:spPr>
      </p:sp>
      <p:pic>
        <p:nvPicPr>
          <p:cNvPr id="16" name="Image 2" descr="/tmp/claude-0/-home-user-Marlene/67342075-d45e-5dfd-8246-b97e829a8c42/scratchpad/deck/img/FaMapLocationDot-w.png">    </p:cNvPr>
          <p:cNvPicPr>
            <a:picLocks noChangeAspect="1"/>
          </p:cNvPicPr>
          <p:nvPr/>
        </p:nvPicPr>
        <p:blipFill>
          <a:blip r:embed="rId3"/>
          <a:stretch>
            <a:fillRect/>
          </a:stretch>
        </p:blipFill>
        <p:spPr>
          <a:xfrm>
            <a:off x="7994599" y="3239719"/>
            <a:ext cx="241402" cy="241402"/>
          </a:xfrm>
          <a:prstGeom prst="rect">
            <a:avLst/>
          </a:prstGeom>
        </p:spPr>
      </p:pic>
      <p:sp>
        <p:nvSpPr>
          <p:cNvPr id="17" name="Text 12"/>
          <p:cNvSpPr txBox="1"/>
          <p:nvPr/>
        </p:nvSpPr>
        <p:spPr>
          <a:xfrm>
            <a:off x="8549640" y="3108960"/>
            <a:ext cx="3108960" cy="50292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Nahbar und regional</a:t>
            </a:r>
            <a:endParaRPr lang="en-US" sz="1600" dirty="0"/>
          </a:p>
        </p:txBody>
      </p:sp>
      <p:sp>
        <p:nvSpPr>
          <p:cNvPr id="18" name="Shape 13"/>
          <p:cNvSpPr/>
          <p:nvPr/>
        </p:nvSpPr>
        <p:spPr>
          <a:xfrm>
            <a:off x="7863840" y="3886200"/>
            <a:ext cx="502920" cy="502920"/>
          </a:xfrm>
          <a:prstGeom prst="ellipse">
            <a:avLst/>
          </a:prstGeom>
          <a:solidFill>
            <a:srgbClr val="EB5A1B"/>
          </a:solidFill>
          <a:ln w="12700">
            <a:solidFill>
              <a:srgbClr val="EB5A1B"/>
            </a:solidFill>
            <a:prstDash val="solid"/>
          </a:ln>
        </p:spPr>
      </p:sp>
      <p:pic>
        <p:nvPicPr>
          <p:cNvPr id="19" name="Image 3" descr="/tmp/claude-0/-home-user-Marlene/67342075-d45e-5dfd-8246-b97e829a8c42/scratchpad/deck/img/FaEyeSlash-w.png">    </p:cNvPr>
          <p:cNvPicPr>
            <a:picLocks noChangeAspect="1"/>
          </p:cNvPicPr>
          <p:nvPr/>
        </p:nvPicPr>
        <p:blipFill>
          <a:blip r:embed="rId4"/>
          <a:stretch>
            <a:fillRect/>
          </a:stretch>
        </p:blipFill>
        <p:spPr>
          <a:xfrm>
            <a:off x="7994599" y="4016959"/>
            <a:ext cx="241402" cy="241402"/>
          </a:xfrm>
          <a:prstGeom prst="rect">
            <a:avLst/>
          </a:prstGeom>
        </p:spPr>
      </p:pic>
      <p:sp>
        <p:nvSpPr>
          <p:cNvPr id="20" name="Text 14"/>
          <p:cNvSpPr txBox="1"/>
          <p:nvPr/>
        </p:nvSpPr>
        <p:spPr>
          <a:xfrm>
            <a:off x="8549640" y="3886200"/>
            <a:ext cx="3108960" cy="50292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Immer diskret</a:t>
            </a:r>
            <a:endParaRPr lang="en-US" sz="1600" dirty="0"/>
          </a:p>
        </p:txBody>
      </p:sp>
      <p:sp>
        <p:nvSpPr>
          <p:cNvPr id="21" name="Shape 15"/>
          <p:cNvSpPr/>
          <p:nvPr/>
        </p:nvSpPr>
        <p:spPr>
          <a:xfrm>
            <a:off x="685800" y="4800600"/>
            <a:ext cx="10789920" cy="822960"/>
          </a:xfrm>
          <a:prstGeom prst="roundRect">
            <a:avLst>
              <a:gd name="adj" fmla="val 13333"/>
            </a:avLst>
          </a:prstGeom>
          <a:solidFill>
            <a:srgbClr val="222222"/>
          </a:solidFill>
          <a:ln w="12700">
            <a:solidFill>
              <a:srgbClr val="222222"/>
            </a:solidFill>
            <a:prstDash val="solid"/>
          </a:ln>
        </p:spPr>
      </p:sp>
      <p:sp>
        <p:nvSpPr>
          <p:cNvPr id="22" name="Text 16"/>
          <p:cNvSpPr txBox="1"/>
          <p:nvPr/>
        </p:nvSpPr>
        <p:spPr>
          <a:xfrm>
            <a:off x="960120" y="4800600"/>
            <a:ext cx="10241280" cy="822960"/>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Ansprache: </a:t>
            </a:r>
            <a:pPr indent="0" marL="0">
              <a:buNone/>
            </a:pPr>
            <a:r>
              <a:rPr lang="en-US" sz="1400" dirty="0">
                <a:solidFill>
                  <a:srgbClr val="DDDDDD"/>
                </a:solidFill>
                <a:latin typeface="Poppins" pitchFamily="34" charset="0"/>
                <a:ea typeface="Poppins" pitchFamily="34" charset="-122"/>
                <a:cs typeface="Poppins" pitchFamily="34" charset="-120"/>
              </a:rPr>
              <a:t>„du“ auf Instagram (Plattform-Norm, Recruiting). „Sie“ auf Website, in Angeboten und in der Beratung. In Nachrichten spiegeln wir den Kunden.</a:t>
            </a:r>
            <a:endParaRPr lang="en-US" sz="1400" dirty="0"/>
          </a:p>
        </p:txBody>
      </p:sp>
      <p:pic>
        <p:nvPicPr>
          <p:cNvPr id="23" name="Image 4" descr="/home/user/Marlene/poleschak-social-media/assets/logo-negativ.png">    </p:cNvPr>
          <p:cNvPicPr>
            <a:picLocks noChangeAspect="1"/>
          </p:cNvPicPr>
          <p:nvPr/>
        </p:nvPicPr>
        <p:blipFill>
          <a:blip r:embed="rId5"/>
          <a:stretch>
            <a:fillRect/>
          </a:stretch>
        </p:blipFill>
        <p:spPr>
          <a:xfrm>
            <a:off x="685800" y="6291072"/>
            <a:ext cx="643680" cy="329184"/>
          </a:xfrm>
          <a:prstGeom prst="rect">
            <a:avLst/>
          </a:prstGeom>
        </p:spPr>
      </p:pic>
      <p:sp>
        <p:nvSpPr>
          <p:cNvPr id="24" name="Text 17"/>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DAS STRATEGIE-HAUS</a:t>
            </a:r>
            <a:endParaRPr lang="en-US" sz="1200" dirty="0"/>
          </a:p>
        </p:txBody>
      </p:sp>
      <p:sp>
        <p:nvSpPr>
          <p:cNvPr id="4" name="Shape 2"/>
          <p:cNvSpPr/>
          <p:nvPr/>
        </p:nvSpPr>
        <p:spPr>
          <a:xfrm>
            <a:off x="685800" y="868680"/>
            <a:ext cx="10789920" cy="914400"/>
          </a:xfrm>
          <a:prstGeom prst="triangle">
            <a:avLst/>
          </a:prstGeom>
          <a:solidFill>
            <a:srgbClr val="111111"/>
          </a:solidFill>
          <a:ln w="12700">
            <a:solidFill>
              <a:srgbClr val="111111"/>
            </a:solidFill>
            <a:prstDash val="solid"/>
          </a:ln>
        </p:spPr>
      </p:sp>
      <p:sp>
        <p:nvSpPr>
          <p:cNvPr id="5" name="Shape 3"/>
          <p:cNvSpPr/>
          <p:nvPr/>
        </p:nvSpPr>
        <p:spPr>
          <a:xfrm>
            <a:off x="685800" y="1737360"/>
            <a:ext cx="10789920" cy="777240"/>
          </a:xfrm>
          <a:prstGeom prst="roundRect">
            <a:avLst>
              <a:gd name="adj" fmla="val 14118"/>
            </a:avLst>
          </a:prstGeom>
          <a:solidFill>
            <a:srgbClr val="111111"/>
          </a:solidFill>
          <a:ln w="12700">
            <a:solidFill>
              <a:srgbClr val="111111"/>
            </a:solidFill>
            <a:prstDash val="solid"/>
          </a:ln>
        </p:spPr>
      </p:sp>
      <p:sp>
        <p:nvSpPr>
          <p:cNvPr id="6" name="Text 4"/>
          <p:cNvSpPr txBox="1"/>
          <p:nvPr/>
        </p:nvSpPr>
        <p:spPr>
          <a:xfrm>
            <a:off x="960120" y="1737360"/>
            <a:ext cx="10241280" cy="777240"/>
          </a:xfrm>
          <a:prstGeom prst="rect">
            <a:avLst/>
          </a:prstGeom>
          <a:noFill/>
          <a:ln/>
        </p:spPr>
        <p:txBody>
          <a:bodyPr wrap="square" lIns="0" tIns="0" rIns="0" bIns="0" rtlCol="0" anchor="ctr"/>
          <a:lstStyle/>
          <a:p>
            <a:pPr algn="ctr" indent="0" marL="0">
              <a:buNone/>
            </a:pPr>
            <a:r>
              <a:rPr lang="en-US" sz="1100" spc="300" kern="0" dirty="0">
                <a:solidFill>
                  <a:srgbClr val="EB5A1B"/>
                </a:solidFill>
                <a:latin typeface="Poppins SemiBold" pitchFamily="34" charset="0"/>
                <a:ea typeface="Poppins SemiBold" pitchFamily="34" charset="-122"/>
                <a:cs typeface="Poppins SemiBold" pitchFamily="34" charset="-120"/>
              </a:rPr>
              <a:t>VISION  </a:t>
            </a:r>
            <a:pPr algn="ctr" indent="0" marL="0">
              <a:buNone/>
            </a:pPr>
            <a:r>
              <a:rPr lang="en-US" sz="1700" dirty="0">
                <a:solidFill>
                  <a:srgbClr val="FFFFFF"/>
                </a:solidFill>
                <a:latin typeface="Poppins ExtraBold" pitchFamily="34" charset="0"/>
                <a:ea typeface="Poppins ExtraBold" pitchFamily="34" charset="-122"/>
                <a:cs typeface="Poppins ExtraBold" pitchFamily="34" charset="-120"/>
              </a:rPr>
              <a:t>Der sichtbarste und vertrauenswürdigste Sicherheitspartner der Region, für Kunden und für Mitarbeitende.</a:t>
            </a:r>
            <a:endParaRPr lang="en-US" sz="1700" dirty="0"/>
          </a:p>
        </p:txBody>
      </p:sp>
      <p:sp>
        <p:nvSpPr>
          <p:cNvPr id="7" name="Shape 5"/>
          <p:cNvSpPr/>
          <p:nvPr/>
        </p:nvSpPr>
        <p:spPr>
          <a:xfrm>
            <a:off x="685800" y="2697480"/>
            <a:ext cx="3474720" cy="2240280"/>
          </a:xfrm>
          <a:prstGeom prst="roundRect">
            <a:avLst>
              <a:gd name="adj" fmla="val 4898"/>
            </a:avLst>
          </a:prstGeom>
          <a:solidFill>
            <a:srgbClr val="F4F4F4"/>
          </a:solidFill>
          <a:ln w="12700">
            <a:solidFill>
              <a:srgbClr val="F4F4F4"/>
            </a:solidFill>
            <a:prstDash val="solid"/>
          </a:ln>
        </p:spPr>
      </p:sp>
      <p:sp>
        <p:nvSpPr>
          <p:cNvPr id="8" name="Shape 6"/>
          <p:cNvSpPr/>
          <p:nvPr/>
        </p:nvSpPr>
        <p:spPr>
          <a:xfrm>
            <a:off x="960120" y="2926080"/>
            <a:ext cx="548640" cy="548640"/>
          </a:xfrm>
          <a:prstGeom prst="ellipse">
            <a:avLst/>
          </a:prstGeom>
          <a:solidFill>
            <a:srgbClr val="EB5A1B"/>
          </a:solidFill>
          <a:ln w="12700">
            <a:solidFill>
              <a:srgbClr val="EB5A1B"/>
            </a:solidFill>
            <a:prstDash val="solid"/>
          </a:ln>
        </p:spPr>
      </p:sp>
      <p:pic>
        <p:nvPicPr>
          <p:cNvPr id="9" name="Image 0" descr="/tmp/claude-0/-home-user-Marlene/67342075-d45e-5dfd-8246-b97e829a8c42/scratchpad/deck/img/FaHouse-w.png">    </p:cNvPr>
          <p:cNvPicPr>
            <a:picLocks noChangeAspect="1"/>
          </p:cNvPicPr>
          <p:nvPr/>
        </p:nvPicPr>
        <p:blipFill>
          <a:blip r:embed="rId1"/>
          <a:stretch>
            <a:fillRect/>
          </a:stretch>
        </p:blipFill>
        <p:spPr>
          <a:xfrm>
            <a:off x="1102766" y="3068726"/>
            <a:ext cx="263347" cy="263347"/>
          </a:xfrm>
          <a:prstGeom prst="rect">
            <a:avLst/>
          </a:prstGeom>
        </p:spPr>
      </p:pic>
      <p:sp>
        <p:nvSpPr>
          <p:cNvPr id="10" name="Text 7"/>
          <p:cNvSpPr txBox="1"/>
          <p:nvPr/>
        </p:nvSpPr>
        <p:spPr>
          <a:xfrm>
            <a:off x="1645920" y="2971800"/>
            <a:ext cx="2377440" cy="457200"/>
          </a:xfrm>
          <a:prstGeom prst="rect">
            <a:avLst/>
          </a:prstGeom>
          <a:noFill/>
          <a:ln/>
        </p:spPr>
        <p:txBody>
          <a:bodyPr wrap="square" lIns="0" tIns="0" rIns="0" bIns="0" rtlCol="0" anchor="ctr"/>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Kunden gewinnen</a:t>
            </a:r>
            <a:endParaRPr lang="en-US" sz="1600" dirty="0"/>
          </a:p>
        </p:txBody>
      </p:sp>
      <p:sp>
        <p:nvSpPr>
          <p:cNvPr id="11" name="Text 8"/>
          <p:cNvSpPr txBox="1"/>
          <p:nvPr/>
        </p:nvSpPr>
        <p:spPr>
          <a:xfrm>
            <a:off x="960120" y="3611880"/>
            <a:ext cx="2926080" cy="228600"/>
          </a:xfrm>
          <a:prstGeom prst="rect">
            <a:avLst/>
          </a:prstGeom>
          <a:noFill/>
          <a:ln/>
        </p:spPr>
        <p:txBody>
          <a:bodyPr wrap="square" lIns="0" tIns="0" rIns="0" bIns="0" rtlCol="0" anchor="t"/>
          <a:lstStyle/>
          <a:p>
            <a:pPr indent="0" marL="0">
              <a:buNone/>
            </a:pPr>
            <a:r>
              <a:rPr lang="en-US" sz="900" spc="200" kern="0" dirty="0">
                <a:solidFill>
                  <a:srgbClr val="EB5A1B"/>
                </a:solidFill>
                <a:latin typeface="Poppins SemiBold" pitchFamily="34" charset="0"/>
                <a:ea typeface="Poppins SemiBold" pitchFamily="34" charset="-122"/>
                <a:cs typeface="Poppins SemiBold" pitchFamily="34" charset="-120"/>
              </a:rPr>
              <a:t>FÜR WEN</a:t>
            </a:r>
            <a:endParaRPr lang="en-US" sz="900" dirty="0"/>
          </a:p>
        </p:txBody>
      </p:sp>
      <p:sp>
        <p:nvSpPr>
          <p:cNvPr id="12" name="Text 9"/>
          <p:cNvSpPr txBox="1"/>
          <p:nvPr/>
        </p:nvSpPr>
        <p:spPr>
          <a:xfrm>
            <a:off x="960120" y="3840480"/>
            <a:ext cx="2926080" cy="411480"/>
          </a:xfrm>
          <a:prstGeom prst="rect">
            <a:avLst/>
          </a:prstGeom>
          <a:noFill/>
          <a:ln/>
        </p:spPr>
        <p:txBody>
          <a:bodyPr wrap="square" lIns="0" tIns="0" rIns="0" bIns="0" rtlCol="0" anchor="t"/>
          <a:lstStyle/>
          <a:p>
            <a:pPr indent="0" marL="0">
              <a:buNone/>
            </a:pPr>
            <a:r>
              <a:rPr lang="en-US" sz="1200" dirty="0">
                <a:solidFill>
                  <a:srgbClr val="222222"/>
                </a:solidFill>
                <a:latin typeface="Poppins" pitchFamily="34" charset="0"/>
                <a:ea typeface="Poppins" pitchFamily="34" charset="-122"/>
                <a:cs typeface="Poppins" pitchFamily="34" charset="-120"/>
              </a:rPr>
              <a:t>Familien und Eigenheimbesitzer in der Region</a:t>
            </a:r>
            <a:endParaRPr lang="en-US" sz="1200" dirty="0"/>
          </a:p>
        </p:txBody>
      </p:sp>
      <p:sp>
        <p:nvSpPr>
          <p:cNvPr id="13" name="Text 10"/>
          <p:cNvSpPr txBox="1"/>
          <p:nvPr/>
        </p:nvSpPr>
        <p:spPr>
          <a:xfrm>
            <a:off x="960120" y="4297680"/>
            <a:ext cx="2926080" cy="228600"/>
          </a:xfrm>
          <a:prstGeom prst="rect">
            <a:avLst/>
          </a:prstGeom>
          <a:noFill/>
          <a:ln/>
        </p:spPr>
        <p:txBody>
          <a:bodyPr wrap="square" lIns="0" tIns="0" rIns="0" bIns="0" rtlCol="0" anchor="t"/>
          <a:lstStyle/>
          <a:p>
            <a:pPr indent="0" marL="0">
              <a:buNone/>
            </a:pPr>
            <a:r>
              <a:rPr lang="en-US" sz="900" spc="200" kern="0" dirty="0">
                <a:solidFill>
                  <a:srgbClr val="EB5A1B"/>
                </a:solidFill>
                <a:latin typeface="Poppins SemiBold" pitchFamily="34" charset="0"/>
                <a:ea typeface="Poppins SemiBold" pitchFamily="34" charset="-122"/>
                <a:cs typeface="Poppins SemiBold" pitchFamily="34" charset="-120"/>
              </a:rPr>
              <a:t>WEG ZU UNS</a:t>
            </a:r>
            <a:endParaRPr lang="en-US" sz="900" dirty="0"/>
          </a:p>
        </p:txBody>
      </p:sp>
      <p:sp>
        <p:nvSpPr>
          <p:cNvPr id="14" name="Text 11"/>
          <p:cNvSpPr txBox="1"/>
          <p:nvPr/>
        </p:nvSpPr>
        <p:spPr>
          <a:xfrm>
            <a:off x="960120" y="4526280"/>
            <a:ext cx="2926080" cy="320040"/>
          </a:xfrm>
          <a:prstGeom prst="rect">
            <a:avLst/>
          </a:prstGeom>
          <a:noFill/>
          <a:ln/>
        </p:spPr>
        <p:txBody>
          <a:bodyPr wrap="square" lIns="0" tIns="0" rIns="0" bIns="0" rtlCol="0" anchor="t"/>
          <a:lstStyle/>
          <a:p>
            <a:pPr indent="0" marL="0">
              <a:buNone/>
            </a:pPr>
            <a:r>
              <a:rPr lang="en-US" sz="1200" dirty="0">
                <a:solidFill>
                  <a:srgbClr val="111111"/>
                </a:solidFill>
                <a:latin typeface="Poppins SemiBold" pitchFamily="34" charset="0"/>
                <a:ea typeface="Poppins SemiBold" pitchFamily="34" charset="-122"/>
                <a:cs typeface="Poppins SemiBold" pitchFamily="34" charset="-120"/>
              </a:rPr>
              <a:t>Kostenlose Sicherheitsberatung</a:t>
            </a:r>
            <a:endParaRPr lang="en-US" sz="1200" dirty="0"/>
          </a:p>
        </p:txBody>
      </p:sp>
      <p:sp>
        <p:nvSpPr>
          <p:cNvPr id="15" name="Shape 12"/>
          <p:cNvSpPr/>
          <p:nvPr/>
        </p:nvSpPr>
        <p:spPr>
          <a:xfrm>
            <a:off x="4343400" y="2697480"/>
            <a:ext cx="3474720" cy="2240280"/>
          </a:xfrm>
          <a:prstGeom prst="roundRect">
            <a:avLst>
              <a:gd name="adj" fmla="val 4898"/>
            </a:avLst>
          </a:prstGeom>
          <a:solidFill>
            <a:srgbClr val="F4F4F4"/>
          </a:solidFill>
          <a:ln w="12700">
            <a:solidFill>
              <a:srgbClr val="F4F4F4"/>
            </a:solidFill>
            <a:prstDash val="solid"/>
          </a:ln>
        </p:spPr>
      </p:sp>
      <p:sp>
        <p:nvSpPr>
          <p:cNvPr id="16" name="Shape 13"/>
          <p:cNvSpPr/>
          <p:nvPr/>
        </p:nvSpPr>
        <p:spPr>
          <a:xfrm>
            <a:off x="4617720" y="2926080"/>
            <a:ext cx="548640" cy="548640"/>
          </a:xfrm>
          <a:prstGeom prst="ellipse">
            <a:avLst/>
          </a:prstGeom>
          <a:solidFill>
            <a:srgbClr val="EB5A1B"/>
          </a:solidFill>
          <a:ln w="12700">
            <a:solidFill>
              <a:srgbClr val="EB5A1B"/>
            </a:solidFill>
            <a:prstDash val="solid"/>
          </a:ln>
        </p:spPr>
      </p:sp>
      <p:pic>
        <p:nvPicPr>
          <p:cNvPr id="17" name="Image 1" descr="/tmp/claude-0/-home-user-Marlene/67342075-d45e-5dfd-8246-b97e829a8c42/scratchpad/deck/img/FaUserGraduate-w.png">    </p:cNvPr>
          <p:cNvPicPr>
            <a:picLocks noChangeAspect="1"/>
          </p:cNvPicPr>
          <p:nvPr/>
        </p:nvPicPr>
        <p:blipFill>
          <a:blip r:embed="rId2"/>
          <a:stretch>
            <a:fillRect/>
          </a:stretch>
        </p:blipFill>
        <p:spPr>
          <a:xfrm>
            <a:off x="4760366" y="3068726"/>
            <a:ext cx="263347" cy="263347"/>
          </a:xfrm>
          <a:prstGeom prst="rect">
            <a:avLst/>
          </a:prstGeom>
        </p:spPr>
      </p:pic>
      <p:sp>
        <p:nvSpPr>
          <p:cNvPr id="18" name="Text 14"/>
          <p:cNvSpPr txBox="1"/>
          <p:nvPr/>
        </p:nvSpPr>
        <p:spPr>
          <a:xfrm>
            <a:off x="5303520" y="2971800"/>
            <a:ext cx="2377440" cy="457200"/>
          </a:xfrm>
          <a:prstGeom prst="rect">
            <a:avLst/>
          </a:prstGeom>
          <a:noFill/>
          <a:ln/>
        </p:spPr>
        <p:txBody>
          <a:bodyPr wrap="square" lIns="0" tIns="0" rIns="0" bIns="0" rtlCol="0" anchor="ctr"/>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Nachwuchs begeistern</a:t>
            </a:r>
            <a:endParaRPr lang="en-US" sz="1600" dirty="0"/>
          </a:p>
        </p:txBody>
      </p:sp>
      <p:sp>
        <p:nvSpPr>
          <p:cNvPr id="19" name="Text 15"/>
          <p:cNvSpPr txBox="1"/>
          <p:nvPr/>
        </p:nvSpPr>
        <p:spPr>
          <a:xfrm>
            <a:off x="4617720" y="3611880"/>
            <a:ext cx="2926080" cy="228600"/>
          </a:xfrm>
          <a:prstGeom prst="rect">
            <a:avLst/>
          </a:prstGeom>
          <a:noFill/>
          <a:ln/>
        </p:spPr>
        <p:txBody>
          <a:bodyPr wrap="square" lIns="0" tIns="0" rIns="0" bIns="0" rtlCol="0" anchor="t"/>
          <a:lstStyle/>
          <a:p>
            <a:pPr indent="0" marL="0">
              <a:buNone/>
            </a:pPr>
            <a:r>
              <a:rPr lang="en-US" sz="900" spc="200" kern="0" dirty="0">
                <a:solidFill>
                  <a:srgbClr val="EB5A1B"/>
                </a:solidFill>
                <a:latin typeface="Poppins SemiBold" pitchFamily="34" charset="0"/>
                <a:ea typeface="Poppins SemiBold" pitchFamily="34" charset="-122"/>
                <a:cs typeface="Poppins SemiBold" pitchFamily="34" charset="-120"/>
              </a:rPr>
              <a:t>FÜR WEN</a:t>
            </a:r>
            <a:endParaRPr lang="en-US" sz="900" dirty="0"/>
          </a:p>
        </p:txBody>
      </p:sp>
      <p:sp>
        <p:nvSpPr>
          <p:cNvPr id="20" name="Text 16"/>
          <p:cNvSpPr txBox="1"/>
          <p:nvPr/>
        </p:nvSpPr>
        <p:spPr>
          <a:xfrm>
            <a:off x="4617720" y="3840480"/>
            <a:ext cx="2926080" cy="411480"/>
          </a:xfrm>
          <a:prstGeom prst="rect">
            <a:avLst/>
          </a:prstGeom>
          <a:noFill/>
          <a:ln/>
        </p:spPr>
        <p:txBody>
          <a:bodyPr wrap="square" lIns="0" tIns="0" rIns="0" bIns="0" rtlCol="0" anchor="t"/>
          <a:lstStyle/>
          <a:p>
            <a:pPr indent="0" marL="0">
              <a:buNone/>
            </a:pPr>
            <a:r>
              <a:rPr lang="en-US" sz="1200" dirty="0">
                <a:solidFill>
                  <a:srgbClr val="222222"/>
                </a:solidFill>
                <a:latin typeface="Poppins" pitchFamily="34" charset="0"/>
                <a:ea typeface="Poppins" pitchFamily="34" charset="-122"/>
                <a:cs typeface="Poppins" pitchFamily="34" charset="-120"/>
              </a:rPr>
              <a:t>Schülerinnen, Schüler und ihre Eltern</a:t>
            </a:r>
            <a:endParaRPr lang="en-US" sz="1200" dirty="0"/>
          </a:p>
        </p:txBody>
      </p:sp>
      <p:sp>
        <p:nvSpPr>
          <p:cNvPr id="21" name="Text 17"/>
          <p:cNvSpPr txBox="1"/>
          <p:nvPr/>
        </p:nvSpPr>
        <p:spPr>
          <a:xfrm>
            <a:off x="4617720" y="4297680"/>
            <a:ext cx="2926080" cy="228600"/>
          </a:xfrm>
          <a:prstGeom prst="rect">
            <a:avLst/>
          </a:prstGeom>
          <a:noFill/>
          <a:ln/>
        </p:spPr>
        <p:txBody>
          <a:bodyPr wrap="square" lIns="0" tIns="0" rIns="0" bIns="0" rtlCol="0" anchor="t"/>
          <a:lstStyle/>
          <a:p>
            <a:pPr indent="0" marL="0">
              <a:buNone/>
            </a:pPr>
            <a:r>
              <a:rPr lang="en-US" sz="900" spc="200" kern="0" dirty="0">
                <a:solidFill>
                  <a:srgbClr val="EB5A1B"/>
                </a:solidFill>
                <a:latin typeface="Poppins SemiBold" pitchFamily="34" charset="0"/>
                <a:ea typeface="Poppins SemiBold" pitchFamily="34" charset="-122"/>
                <a:cs typeface="Poppins SemiBold" pitchFamily="34" charset="-120"/>
              </a:rPr>
              <a:t>WEG ZU UNS</a:t>
            </a:r>
            <a:endParaRPr lang="en-US" sz="900" dirty="0"/>
          </a:p>
        </p:txBody>
      </p:sp>
      <p:sp>
        <p:nvSpPr>
          <p:cNvPr id="22" name="Text 18"/>
          <p:cNvSpPr txBox="1"/>
          <p:nvPr/>
        </p:nvSpPr>
        <p:spPr>
          <a:xfrm>
            <a:off x="4617720" y="4526280"/>
            <a:ext cx="2926080" cy="320040"/>
          </a:xfrm>
          <a:prstGeom prst="rect">
            <a:avLst/>
          </a:prstGeom>
          <a:noFill/>
          <a:ln/>
        </p:spPr>
        <p:txBody>
          <a:bodyPr wrap="square" lIns="0" tIns="0" rIns="0" bIns="0" rtlCol="0" anchor="t"/>
          <a:lstStyle/>
          <a:p>
            <a:pPr indent="0" marL="0">
              <a:buNone/>
            </a:pPr>
            <a:r>
              <a:rPr lang="en-US" sz="1200" dirty="0">
                <a:solidFill>
                  <a:srgbClr val="111111"/>
                </a:solidFill>
                <a:latin typeface="Poppins SemiBold" pitchFamily="34" charset="0"/>
                <a:ea typeface="Poppins SemiBold" pitchFamily="34" charset="-122"/>
                <a:cs typeface="Poppins SemiBold" pitchFamily="34" charset="-120"/>
              </a:rPr>
              <a:t>Praktikum per WhatsApp</a:t>
            </a:r>
            <a:endParaRPr lang="en-US" sz="1200" dirty="0"/>
          </a:p>
        </p:txBody>
      </p:sp>
      <p:sp>
        <p:nvSpPr>
          <p:cNvPr id="23" name="Shape 19"/>
          <p:cNvSpPr/>
          <p:nvPr/>
        </p:nvSpPr>
        <p:spPr>
          <a:xfrm>
            <a:off x="8001000" y="2697480"/>
            <a:ext cx="3474720" cy="2240280"/>
          </a:xfrm>
          <a:prstGeom prst="roundRect">
            <a:avLst>
              <a:gd name="adj" fmla="val 4898"/>
            </a:avLst>
          </a:prstGeom>
          <a:solidFill>
            <a:srgbClr val="F4F4F4"/>
          </a:solidFill>
          <a:ln w="12700">
            <a:solidFill>
              <a:srgbClr val="F4F4F4"/>
            </a:solidFill>
            <a:prstDash val="solid"/>
          </a:ln>
        </p:spPr>
      </p:sp>
      <p:sp>
        <p:nvSpPr>
          <p:cNvPr id="24" name="Shape 20"/>
          <p:cNvSpPr/>
          <p:nvPr/>
        </p:nvSpPr>
        <p:spPr>
          <a:xfrm>
            <a:off x="8275320" y="2926080"/>
            <a:ext cx="548640" cy="548640"/>
          </a:xfrm>
          <a:prstGeom prst="ellipse">
            <a:avLst/>
          </a:prstGeom>
          <a:solidFill>
            <a:srgbClr val="EB5A1B"/>
          </a:solidFill>
          <a:ln w="12700">
            <a:solidFill>
              <a:srgbClr val="EB5A1B"/>
            </a:solidFill>
            <a:prstDash val="solid"/>
          </a:ln>
        </p:spPr>
      </p:sp>
      <p:pic>
        <p:nvPicPr>
          <p:cNvPr id="25" name="Image 2" descr="/tmp/claude-0/-home-user-Marlene/67342075-d45e-5dfd-8246-b97e829a8c42/scratchpad/deck/img/FaUserTie-w.png">    </p:cNvPr>
          <p:cNvPicPr>
            <a:picLocks noChangeAspect="1"/>
          </p:cNvPicPr>
          <p:nvPr/>
        </p:nvPicPr>
        <p:blipFill>
          <a:blip r:embed="rId3"/>
          <a:stretch>
            <a:fillRect/>
          </a:stretch>
        </p:blipFill>
        <p:spPr>
          <a:xfrm>
            <a:off x="8417966" y="3068726"/>
            <a:ext cx="263347" cy="263347"/>
          </a:xfrm>
          <a:prstGeom prst="rect">
            <a:avLst/>
          </a:prstGeom>
        </p:spPr>
      </p:pic>
      <p:sp>
        <p:nvSpPr>
          <p:cNvPr id="26" name="Text 21"/>
          <p:cNvSpPr txBox="1"/>
          <p:nvPr/>
        </p:nvSpPr>
        <p:spPr>
          <a:xfrm>
            <a:off x="8961120" y="2971800"/>
            <a:ext cx="2377440" cy="457200"/>
          </a:xfrm>
          <a:prstGeom prst="rect">
            <a:avLst/>
          </a:prstGeom>
          <a:noFill/>
          <a:ln/>
        </p:spPr>
        <p:txBody>
          <a:bodyPr wrap="square" lIns="0" tIns="0" rIns="0" bIns="0" rtlCol="0" anchor="ctr"/>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Fachkräfte überzeugen</a:t>
            </a:r>
            <a:endParaRPr lang="en-US" sz="1600" dirty="0"/>
          </a:p>
        </p:txBody>
      </p:sp>
      <p:sp>
        <p:nvSpPr>
          <p:cNvPr id="27" name="Text 22"/>
          <p:cNvSpPr txBox="1"/>
          <p:nvPr/>
        </p:nvSpPr>
        <p:spPr>
          <a:xfrm>
            <a:off x="8275320" y="3611880"/>
            <a:ext cx="2926080" cy="228600"/>
          </a:xfrm>
          <a:prstGeom prst="rect">
            <a:avLst/>
          </a:prstGeom>
          <a:noFill/>
          <a:ln/>
        </p:spPr>
        <p:txBody>
          <a:bodyPr wrap="square" lIns="0" tIns="0" rIns="0" bIns="0" rtlCol="0" anchor="t"/>
          <a:lstStyle/>
          <a:p>
            <a:pPr indent="0" marL="0">
              <a:buNone/>
            </a:pPr>
            <a:r>
              <a:rPr lang="en-US" sz="900" spc="200" kern="0" dirty="0">
                <a:solidFill>
                  <a:srgbClr val="EB5A1B"/>
                </a:solidFill>
                <a:latin typeface="Poppins SemiBold" pitchFamily="34" charset="0"/>
                <a:ea typeface="Poppins SemiBold" pitchFamily="34" charset="-122"/>
                <a:cs typeface="Poppins SemiBold" pitchFamily="34" charset="-120"/>
              </a:rPr>
              <a:t>FÜR WEN</a:t>
            </a:r>
            <a:endParaRPr lang="en-US" sz="900" dirty="0"/>
          </a:p>
        </p:txBody>
      </p:sp>
      <p:sp>
        <p:nvSpPr>
          <p:cNvPr id="28" name="Text 23"/>
          <p:cNvSpPr txBox="1"/>
          <p:nvPr/>
        </p:nvSpPr>
        <p:spPr>
          <a:xfrm>
            <a:off x="8275320" y="3840480"/>
            <a:ext cx="2926080" cy="411480"/>
          </a:xfrm>
          <a:prstGeom prst="rect">
            <a:avLst/>
          </a:prstGeom>
          <a:noFill/>
          <a:ln/>
        </p:spPr>
        <p:txBody>
          <a:bodyPr wrap="square" lIns="0" tIns="0" rIns="0" bIns="0" rtlCol="0" anchor="t"/>
          <a:lstStyle/>
          <a:p>
            <a:pPr indent="0" marL="0">
              <a:buNone/>
            </a:pPr>
            <a:r>
              <a:rPr lang="en-US" sz="1200" dirty="0">
                <a:solidFill>
                  <a:srgbClr val="222222"/>
                </a:solidFill>
                <a:latin typeface="Poppins" pitchFamily="34" charset="0"/>
                <a:ea typeface="Poppins" pitchFamily="34" charset="-122"/>
                <a:cs typeface="Poppins" pitchFamily="34" charset="-120"/>
              </a:rPr>
              <a:t>Elektroniker und Quereinsteiger</a:t>
            </a:r>
            <a:endParaRPr lang="en-US" sz="1200" dirty="0"/>
          </a:p>
        </p:txBody>
      </p:sp>
      <p:sp>
        <p:nvSpPr>
          <p:cNvPr id="29" name="Text 24"/>
          <p:cNvSpPr txBox="1"/>
          <p:nvPr/>
        </p:nvSpPr>
        <p:spPr>
          <a:xfrm>
            <a:off x="8275320" y="4297680"/>
            <a:ext cx="2926080" cy="228600"/>
          </a:xfrm>
          <a:prstGeom prst="rect">
            <a:avLst/>
          </a:prstGeom>
          <a:noFill/>
          <a:ln/>
        </p:spPr>
        <p:txBody>
          <a:bodyPr wrap="square" lIns="0" tIns="0" rIns="0" bIns="0" rtlCol="0" anchor="t"/>
          <a:lstStyle/>
          <a:p>
            <a:pPr indent="0" marL="0">
              <a:buNone/>
            </a:pPr>
            <a:r>
              <a:rPr lang="en-US" sz="900" spc="200" kern="0" dirty="0">
                <a:solidFill>
                  <a:srgbClr val="EB5A1B"/>
                </a:solidFill>
                <a:latin typeface="Poppins SemiBold" pitchFamily="34" charset="0"/>
                <a:ea typeface="Poppins SemiBold" pitchFamily="34" charset="-122"/>
                <a:cs typeface="Poppins SemiBold" pitchFamily="34" charset="-120"/>
              </a:rPr>
              <a:t>WEG ZU UNS</a:t>
            </a:r>
            <a:endParaRPr lang="en-US" sz="900" dirty="0"/>
          </a:p>
        </p:txBody>
      </p:sp>
      <p:sp>
        <p:nvSpPr>
          <p:cNvPr id="30" name="Text 25"/>
          <p:cNvSpPr txBox="1"/>
          <p:nvPr/>
        </p:nvSpPr>
        <p:spPr>
          <a:xfrm>
            <a:off x="8275320" y="4526280"/>
            <a:ext cx="2926080" cy="320040"/>
          </a:xfrm>
          <a:prstGeom prst="rect">
            <a:avLst/>
          </a:prstGeom>
          <a:noFill/>
          <a:ln/>
        </p:spPr>
        <p:txBody>
          <a:bodyPr wrap="square" lIns="0" tIns="0" rIns="0" bIns="0" rtlCol="0" anchor="t"/>
          <a:lstStyle/>
          <a:p>
            <a:pPr indent="0" marL="0">
              <a:buNone/>
            </a:pPr>
            <a:r>
              <a:rPr lang="en-US" sz="1200" dirty="0">
                <a:solidFill>
                  <a:srgbClr val="111111"/>
                </a:solidFill>
                <a:latin typeface="Poppins SemiBold" pitchFamily="34" charset="0"/>
                <a:ea typeface="Poppins SemiBold" pitchFamily="34" charset="-122"/>
                <a:cs typeface="Poppins SemiBold" pitchFamily="34" charset="-120"/>
              </a:rPr>
              <a:t>Bewerbung in 60 Sekunden</a:t>
            </a:r>
            <a:endParaRPr lang="en-US" sz="1200" dirty="0"/>
          </a:p>
        </p:txBody>
      </p:sp>
      <p:sp>
        <p:nvSpPr>
          <p:cNvPr id="31" name="Shape 26"/>
          <p:cNvSpPr/>
          <p:nvPr/>
        </p:nvSpPr>
        <p:spPr>
          <a:xfrm>
            <a:off x="685800" y="5120640"/>
            <a:ext cx="10789920" cy="777240"/>
          </a:xfrm>
          <a:prstGeom prst="roundRect">
            <a:avLst>
              <a:gd name="adj" fmla="val 14118"/>
            </a:avLst>
          </a:prstGeom>
          <a:solidFill>
            <a:srgbClr val="EB5A1B"/>
          </a:solidFill>
          <a:ln w="12700">
            <a:solidFill>
              <a:srgbClr val="EB5A1B"/>
            </a:solidFill>
            <a:prstDash val="solid"/>
          </a:ln>
        </p:spPr>
      </p:sp>
      <p:sp>
        <p:nvSpPr>
          <p:cNvPr id="32" name="Text 27"/>
          <p:cNvSpPr txBox="1"/>
          <p:nvPr/>
        </p:nvSpPr>
        <p:spPr>
          <a:xfrm>
            <a:off x="960120" y="5120640"/>
            <a:ext cx="10241280" cy="777240"/>
          </a:xfrm>
          <a:prstGeom prst="rect">
            <a:avLst/>
          </a:prstGeom>
          <a:noFill/>
          <a:ln/>
        </p:spPr>
        <p:txBody>
          <a:bodyPr wrap="square" lIns="0" tIns="0" rIns="0" bIns="0" rtlCol="0" anchor="ctr"/>
          <a:lstStyle/>
          <a:p>
            <a:pPr algn="ctr" indent="0" marL="0">
              <a:buNone/>
            </a:pPr>
            <a:r>
              <a:rPr lang="en-US" sz="1100" spc="300" kern="0" dirty="0">
                <a:solidFill>
                  <a:srgbClr val="111111"/>
                </a:solidFill>
                <a:latin typeface="Poppins SemiBold" pitchFamily="34" charset="0"/>
                <a:ea typeface="Poppins SemiBold" pitchFamily="34" charset="-122"/>
                <a:cs typeface="Poppins SemiBold" pitchFamily="34" charset="-120"/>
              </a:rPr>
              <a:t>FUNDAMENT  </a:t>
            </a:r>
            <a:pPr algn="ctr" indent="0" marL="0">
              <a:buNone/>
            </a:pPr>
            <a:r>
              <a:rPr lang="en-US" sz="1300" dirty="0">
                <a:solidFill>
                  <a:srgbClr val="FFFFFF"/>
                </a:solidFill>
                <a:latin typeface="Poppins SemiBold" pitchFamily="34" charset="0"/>
                <a:ea typeface="Poppins SemiBold" pitchFamily="34" charset="-122"/>
                <a:cs typeface="Poppins SemiBold" pitchFamily="34" charset="-120"/>
              </a:rPr>
              <a:t>Planung → Einbau → 24h-Leitstelle → Wachdienst · Familienunternehmen · diskret, echt, nahbar</a:t>
            </a:r>
            <a:endParaRPr lang="en-US" sz="1300" dirty="0"/>
          </a:p>
        </p:txBody>
      </p:sp>
      <p:pic>
        <p:nvPicPr>
          <p:cNvPr id="33" name="Image 3" descr="/home/user/Marlene/poleschak-social-media/assets/logo-transparent.png">    </p:cNvPr>
          <p:cNvPicPr>
            <a:picLocks noChangeAspect="1"/>
          </p:cNvPicPr>
          <p:nvPr/>
        </p:nvPicPr>
        <p:blipFill>
          <a:blip r:embed="rId4"/>
          <a:stretch>
            <a:fillRect/>
          </a:stretch>
        </p:blipFill>
        <p:spPr>
          <a:xfrm>
            <a:off x="685800" y="6291072"/>
            <a:ext cx="643680" cy="329184"/>
          </a:xfrm>
          <a:prstGeom prst="rect">
            <a:avLst/>
          </a:prstGeom>
        </p:spPr>
      </p:pic>
      <p:sp>
        <p:nvSpPr>
          <p:cNvPr id="34" name="Text 28"/>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DER WEG</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Vom Fremden zum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Kunden oder Kollegen.</a:t>
            </a:r>
            <a:endParaRPr lang="en-US" sz="3400" dirty="0"/>
          </a:p>
        </p:txBody>
      </p:sp>
      <p:sp>
        <p:nvSpPr>
          <p:cNvPr id="5" name="Shape 3"/>
          <p:cNvSpPr/>
          <p:nvPr/>
        </p:nvSpPr>
        <p:spPr>
          <a:xfrm>
            <a:off x="685800" y="2011680"/>
            <a:ext cx="2468880" cy="3108960"/>
          </a:xfrm>
          <a:prstGeom prst="roundRect">
            <a:avLst>
              <a:gd name="adj" fmla="val 4444"/>
            </a:avLst>
          </a:prstGeom>
          <a:solidFill>
            <a:srgbClr val="222222"/>
          </a:solidFill>
          <a:ln w="12700">
            <a:solidFill>
              <a:srgbClr val="222222"/>
            </a:solidFill>
            <a:prstDash val="solid"/>
          </a:ln>
        </p:spPr>
      </p:sp>
      <p:sp>
        <p:nvSpPr>
          <p:cNvPr id="6" name="Shape 4"/>
          <p:cNvSpPr/>
          <p:nvPr/>
        </p:nvSpPr>
        <p:spPr>
          <a:xfrm>
            <a:off x="960120" y="2286000"/>
            <a:ext cx="594360" cy="59436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MagnifyingGlass-w.png">    </p:cNvPr>
          <p:cNvPicPr>
            <a:picLocks noChangeAspect="1"/>
          </p:cNvPicPr>
          <p:nvPr/>
        </p:nvPicPr>
        <p:blipFill>
          <a:blip r:embed="rId1"/>
          <a:stretch>
            <a:fillRect/>
          </a:stretch>
        </p:blipFill>
        <p:spPr>
          <a:xfrm>
            <a:off x="1114654" y="2440534"/>
            <a:ext cx="285293" cy="285293"/>
          </a:xfrm>
          <a:prstGeom prst="rect">
            <a:avLst/>
          </a:prstGeom>
        </p:spPr>
      </p:pic>
      <p:sp>
        <p:nvSpPr>
          <p:cNvPr id="8" name="Text 5"/>
          <p:cNvSpPr txBox="1"/>
          <p:nvPr/>
        </p:nvSpPr>
        <p:spPr>
          <a:xfrm>
            <a:off x="960120" y="3108960"/>
            <a:ext cx="2011680" cy="457200"/>
          </a:xfrm>
          <a:prstGeom prst="rect">
            <a:avLst/>
          </a:prstGeom>
          <a:noFill/>
          <a:ln/>
        </p:spPr>
        <p:txBody>
          <a:bodyPr wrap="square" lIns="0" tIns="0" rIns="0" bIns="0" rtlCol="0" anchor="t"/>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1 · Sehen</a:t>
            </a:r>
            <a:endParaRPr lang="en-US" sz="2000" dirty="0"/>
          </a:p>
        </p:txBody>
      </p:sp>
      <p:sp>
        <p:nvSpPr>
          <p:cNvPr id="9" name="Text 6"/>
          <p:cNvSpPr txBox="1"/>
          <p:nvPr/>
        </p:nvSpPr>
        <p:spPr>
          <a:xfrm>
            <a:off x="960120" y="3657600"/>
            <a:ext cx="2011680" cy="128016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Echte Einblicke fallen auf: „Die sind ja nachts für uns wach.“</a:t>
            </a:r>
            <a:endParaRPr lang="en-US" sz="1300" dirty="0"/>
          </a:p>
        </p:txBody>
      </p:sp>
      <p:sp>
        <p:nvSpPr>
          <p:cNvPr id="10" name="Text 7"/>
          <p:cNvSpPr txBox="1"/>
          <p:nvPr/>
        </p:nvSpPr>
        <p:spPr>
          <a:xfrm>
            <a:off x="3154680" y="3291840"/>
            <a:ext cx="274320" cy="457200"/>
          </a:xfrm>
          <a:prstGeom prst="rect">
            <a:avLst/>
          </a:prstGeom>
          <a:noFill/>
          <a:ln/>
        </p:spPr>
        <p:txBody>
          <a:bodyPr wrap="square" lIns="0" tIns="0" rIns="0" bIns="0" rtlCol="0" anchor="ctr"/>
          <a:lstStyle/>
          <a:p>
            <a:pPr algn="ctr" indent="0" marL="0">
              <a:buNone/>
            </a:pPr>
            <a:r>
              <a:rPr lang="en-US" sz="2200" dirty="0">
                <a:solidFill>
                  <a:srgbClr val="EB5A1B"/>
                </a:solidFill>
                <a:latin typeface="Poppins ExtraBold" pitchFamily="34" charset="0"/>
                <a:ea typeface="Poppins ExtraBold" pitchFamily="34" charset="-122"/>
                <a:cs typeface="Poppins ExtraBold" pitchFamily="34" charset="-120"/>
              </a:rPr>
              <a:t>→</a:t>
            </a:r>
            <a:endParaRPr lang="en-US" sz="2200" dirty="0"/>
          </a:p>
        </p:txBody>
      </p:sp>
      <p:sp>
        <p:nvSpPr>
          <p:cNvPr id="11" name="Shape 8"/>
          <p:cNvSpPr/>
          <p:nvPr/>
        </p:nvSpPr>
        <p:spPr>
          <a:xfrm>
            <a:off x="3429000" y="2011680"/>
            <a:ext cx="2468880" cy="3108960"/>
          </a:xfrm>
          <a:prstGeom prst="roundRect">
            <a:avLst>
              <a:gd name="adj" fmla="val 4444"/>
            </a:avLst>
          </a:prstGeom>
          <a:solidFill>
            <a:srgbClr val="222222"/>
          </a:solidFill>
          <a:ln w="12700">
            <a:solidFill>
              <a:srgbClr val="222222"/>
            </a:solidFill>
            <a:prstDash val="solid"/>
          </a:ln>
        </p:spPr>
      </p:sp>
      <p:sp>
        <p:nvSpPr>
          <p:cNvPr id="12" name="Shape 9"/>
          <p:cNvSpPr/>
          <p:nvPr/>
        </p:nvSpPr>
        <p:spPr>
          <a:xfrm>
            <a:off x="3703320" y="2286000"/>
            <a:ext cx="594360" cy="594360"/>
          </a:xfrm>
          <a:prstGeom prst="ellipse">
            <a:avLst/>
          </a:prstGeom>
          <a:solidFill>
            <a:srgbClr val="EB5A1B"/>
          </a:solidFill>
          <a:ln w="12700">
            <a:solidFill>
              <a:srgbClr val="EB5A1B"/>
            </a:solidFill>
            <a:prstDash val="solid"/>
          </a:ln>
        </p:spPr>
      </p:sp>
      <p:pic>
        <p:nvPicPr>
          <p:cNvPr id="13" name="Image 1" descr="/tmp/claude-0/-home-user-Marlene/67342075-d45e-5dfd-8246-b97e829a8c42/scratchpad/deck/img/FaHandshake-w.png">    </p:cNvPr>
          <p:cNvPicPr>
            <a:picLocks noChangeAspect="1"/>
          </p:cNvPicPr>
          <p:nvPr/>
        </p:nvPicPr>
        <p:blipFill>
          <a:blip r:embed="rId2"/>
          <a:stretch>
            <a:fillRect/>
          </a:stretch>
        </p:blipFill>
        <p:spPr>
          <a:xfrm>
            <a:off x="3857854" y="2440534"/>
            <a:ext cx="285293" cy="285293"/>
          </a:xfrm>
          <a:prstGeom prst="rect">
            <a:avLst/>
          </a:prstGeom>
        </p:spPr>
      </p:pic>
      <p:sp>
        <p:nvSpPr>
          <p:cNvPr id="14" name="Text 10"/>
          <p:cNvSpPr txBox="1"/>
          <p:nvPr/>
        </p:nvSpPr>
        <p:spPr>
          <a:xfrm>
            <a:off x="3703320" y="3108960"/>
            <a:ext cx="2011680" cy="457200"/>
          </a:xfrm>
          <a:prstGeom prst="rect">
            <a:avLst/>
          </a:prstGeom>
          <a:noFill/>
          <a:ln/>
        </p:spPr>
        <p:txBody>
          <a:bodyPr wrap="square" lIns="0" tIns="0" rIns="0" bIns="0" rtlCol="0" anchor="t"/>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2 · Vertrauen</a:t>
            </a:r>
            <a:endParaRPr lang="en-US" sz="2000" dirty="0"/>
          </a:p>
        </p:txBody>
      </p:sp>
      <p:sp>
        <p:nvSpPr>
          <p:cNvPr id="15" name="Text 11"/>
          <p:cNvSpPr txBox="1"/>
          <p:nvPr/>
        </p:nvSpPr>
        <p:spPr>
          <a:xfrm>
            <a:off x="3703320" y="3657600"/>
            <a:ext cx="2011680" cy="128016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Gesichter, Wissen und Haltung: „Die kennen sich aus.“</a:t>
            </a:r>
            <a:endParaRPr lang="en-US" sz="1300" dirty="0"/>
          </a:p>
        </p:txBody>
      </p:sp>
      <p:sp>
        <p:nvSpPr>
          <p:cNvPr id="16" name="Text 12"/>
          <p:cNvSpPr txBox="1"/>
          <p:nvPr/>
        </p:nvSpPr>
        <p:spPr>
          <a:xfrm>
            <a:off x="5897880" y="3291840"/>
            <a:ext cx="274320" cy="457200"/>
          </a:xfrm>
          <a:prstGeom prst="rect">
            <a:avLst/>
          </a:prstGeom>
          <a:noFill/>
          <a:ln/>
        </p:spPr>
        <p:txBody>
          <a:bodyPr wrap="square" lIns="0" tIns="0" rIns="0" bIns="0" rtlCol="0" anchor="ctr"/>
          <a:lstStyle/>
          <a:p>
            <a:pPr algn="ctr" indent="0" marL="0">
              <a:buNone/>
            </a:pPr>
            <a:r>
              <a:rPr lang="en-US" sz="2200" dirty="0">
                <a:solidFill>
                  <a:srgbClr val="EB5A1B"/>
                </a:solidFill>
                <a:latin typeface="Poppins ExtraBold" pitchFamily="34" charset="0"/>
                <a:ea typeface="Poppins ExtraBold" pitchFamily="34" charset="-122"/>
                <a:cs typeface="Poppins ExtraBold" pitchFamily="34" charset="-120"/>
              </a:rPr>
              <a:t>→</a:t>
            </a:r>
            <a:endParaRPr lang="en-US" sz="2200" dirty="0"/>
          </a:p>
        </p:txBody>
      </p:sp>
      <p:sp>
        <p:nvSpPr>
          <p:cNvPr id="17" name="Shape 13"/>
          <p:cNvSpPr/>
          <p:nvPr/>
        </p:nvSpPr>
        <p:spPr>
          <a:xfrm>
            <a:off x="6172200" y="2011680"/>
            <a:ext cx="2468880" cy="3108960"/>
          </a:xfrm>
          <a:prstGeom prst="roundRect">
            <a:avLst>
              <a:gd name="adj" fmla="val 4444"/>
            </a:avLst>
          </a:prstGeom>
          <a:solidFill>
            <a:srgbClr val="222222"/>
          </a:solidFill>
          <a:ln w="12700">
            <a:solidFill>
              <a:srgbClr val="222222"/>
            </a:solidFill>
            <a:prstDash val="solid"/>
          </a:ln>
        </p:spPr>
      </p:sp>
      <p:sp>
        <p:nvSpPr>
          <p:cNvPr id="18" name="Shape 14"/>
          <p:cNvSpPr/>
          <p:nvPr/>
        </p:nvSpPr>
        <p:spPr>
          <a:xfrm>
            <a:off x="6446520" y="2286000"/>
            <a:ext cx="594360" cy="594360"/>
          </a:xfrm>
          <a:prstGeom prst="ellipse">
            <a:avLst/>
          </a:prstGeom>
          <a:solidFill>
            <a:srgbClr val="EB5A1B"/>
          </a:solidFill>
          <a:ln w="12700">
            <a:solidFill>
              <a:srgbClr val="EB5A1B"/>
            </a:solidFill>
            <a:prstDash val="solid"/>
          </a:ln>
        </p:spPr>
      </p:sp>
      <p:pic>
        <p:nvPicPr>
          <p:cNvPr id="19" name="Image 2" descr="/tmp/claude-0/-home-user-Marlene/67342075-d45e-5dfd-8246-b97e829a8c42/scratchpad/deck/img/FaWhatsapp-w.png">    </p:cNvPr>
          <p:cNvPicPr>
            <a:picLocks noChangeAspect="1"/>
          </p:cNvPicPr>
          <p:nvPr/>
        </p:nvPicPr>
        <p:blipFill>
          <a:blip r:embed="rId3"/>
          <a:stretch>
            <a:fillRect/>
          </a:stretch>
        </p:blipFill>
        <p:spPr>
          <a:xfrm>
            <a:off x="6601054" y="2440534"/>
            <a:ext cx="285293" cy="285293"/>
          </a:xfrm>
          <a:prstGeom prst="rect">
            <a:avLst/>
          </a:prstGeom>
        </p:spPr>
      </p:pic>
      <p:sp>
        <p:nvSpPr>
          <p:cNvPr id="20" name="Text 15"/>
          <p:cNvSpPr txBox="1"/>
          <p:nvPr/>
        </p:nvSpPr>
        <p:spPr>
          <a:xfrm>
            <a:off x="6446520" y="3108960"/>
            <a:ext cx="2011680" cy="457200"/>
          </a:xfrm>
          <a:prstGeom prst="rect">
            <a:avLst/>
          </a:prstGeom>
          <a:noFill/>
          <a:ln/>
        </p:spPr>
        <p:txBody>
          <a:bodyPr wrap="square" lIns="0" tIns="0" rIns="0" bIns="0" rtlCol="0" anchor="t"/>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3 · Kontakt</a:t>
            </a:r>
            <a:endParaRPr lang="en-US" sz="2000" dirty="0"/>
          </a:p>
        </p:txBody>
      </p:sp>
      <p:sp>
        <p:nvSpPr>
          <p:cNvPr id="21" name="Text 16"/>
          <p:cNvSpPr txBox="1"/>
          <p:nvPr/>
        </p:nvSpPr>
        <p:spPr>
          <a:xfrm>
            <a:off x="6446520" y="3657600"/>
            <a:ext cx="2011680" cy="128016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Eine Nachricht genügt: Beratung, Praktikum, Bewerbung.</a:t>
            </a:r>
            <a:endParaRPr lang="en-US" sz="1300" dirty="0"/>
          </a:p>
        </p:txBody>
      </p:sp>
      <p:sp>
        <p:nvSpPr>
          <p:cNvPr id="22" name="Text 17"/>
          <p:cNvSpPr txBox="1"/>
          <p:nvPr/>
        </p:nvSpPr>
        <p:spPr>
          <a:xfrm>
            <a:off x="8641080" y="3291840"/>
            <a:ext cx="274320" cy="457200"/>
          </a:xfrm>
          <a:prstGeom prst="rect">
            <a:avLst/>
          </a:prstGeom>
          <a:noFill/>
          <a:ln/>
        </p:spPr>
        <p:txBody>
          <a:bodyPr wrap="square" lIns="0" tIns="0" rIns="0" bIns="0" rtlCol="0" anchor="ctr"/>
          <a:lstStyle/>
          <a:p>
            <a:pPr algn="ctr" indent="0" marL="0">
              <a:buNone/>
            </a:pPr>
            <a:r>
              <a:rPr lang="en-US" sz="2200" dirty="0">
                <a:solidFill>
                  <a:srgbClr val="EB5A1B"/>
                </a:solidFill>
                <a:latin typeface="Poppins ExtraBold" pitchFamily="34" charset="0"/>
                <a:ea typeface="Poppins ExtraBold" pitchFamily="34" charset="-122"/>
                <a:cs typeface="Poppins ExtraBold" pitchFamily="34" charset="-120"/>
              </a:rPr>
              <a:t>→</a:t>
            </a:r>
            <a:endParaRPr lang="en-US" sz="2200" dirty="0"/>
          </a:p>
        </p:txBody>
      </p:sp>
      <p:sp>
        <p:nvSpPr>
          <p:cNvPr id="23" name="Shape 18"/>
          <p:cNvSpPr/>
          <p:nvPr/>
        </p:nvSpPr>
        <p:spPr>
          <a:xfrm>
            <a:off x="8915400" y="2011680"/>
            <a:ext cx="2468880" cy="3108960"/>
          </a:xfrm>
          <a:prstGeom prst="roundRect">
            <a:avLst>
              <a:gd name="adj" fmla="val 4444"/>
            </a:avLst>
          </a:prstGeom>
          <a:solidFill>
            <a:srgbClr val="EB5A1B"/>
          </a:solidFill>
          <a:ln w="12700">
            <a:solidFill>
              <a:srgbClr val="EB5A1B"/>
            </a:solidFill>
            <a:prstDash val="solid"/>
          </a:ln>
        </p:spPr>
      </p:sp>
      <p:sp>
        <p:nvSpPr>
          <p:cNvPr id="24" name="Shape 19"/>
          <p:cNvSpPr/>
          <p:nvPr/>
        </p:nvSpPr>
        <p:spPr>
          <a:xfrm>
            <a:off x="9189720" y="2286000"/>
            <a:ext cx="594360" cy="594360"/>
          </a:xfrm>
          <a:prstGeom prst="ellipse">
            <a:avLst/>
          </a:prstGeom>
          <a:solidFill>
            <a:srgbClr val="111111"/>
          </a:solidFill>
          <a:ln w="12700">
            <a:solidFill>
              <a:srgbClr val="111111"/>
            </a:solidFill>
            <a:prstDash val="solid"/>
          </a:ln>
        </p:spPr>
      </p:sp>
      <p:pic>
        <p:nvPicPr>
          <p:cNvPr id="25" name="Image 3" descr="/tmp/claude-0/-home-user-Marlene/67342075-d45e-5dfd-8246-b97e829a8c42/scratchpad/deck/img/FaHeart-w.png">    </p:cNvPr>
          <p:cNvPicPr>
            <a:picLocks noChangeAspect="1"/>
          </p:cNvPicPr>
          <p:nvPr/>
        </p:nvPicPr>
        <p:blipFill>
          <a:blip r:embed="rId4"/>
          <a:stretch>
            <a:fillRect/>
          </a:stretch>
        </p:blipFill>
        <p:spPr>
          <a:xfrm>
            <a:off x="9344254" y="2440534"/>
            <a:ext cx="285293" cy="285293"/>
          </a:xfrm>
          <a:prstGeom prst="rect">
            <a:avLst/>
          </a:prstGeom>
        </p:spPr>
      </p:pic>
      <p:sp>
        <p:nvSpPr>
          <p:cNvPr id="26" name="Text 20"/>
          <p:cNvSpPr txBox="1"/>
          <p:nvPr/>
        </p:nvSpPr>
        <p:spPr>
          <a:xfrm>
            <a:off x="9189720" y="3108960"/>
            <a:ext cx="2011680" cy="457200"/>
          </a:xfrm>
          <a:prstGeom prst="rect">
            <a:avLst/>
          </a:prstGeom>
          <a:noFill/>
          <a:ln/>
        </p:spPr>
        <p:txBody>
          <a:bodyPr wrap="square" lIns="0" tIns="0" rIns="0" bIns="0" rtlCol="0" anchor="t"/>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4 · Bindung</a:t>
            </a:r>
            <a:endParaRPr lang="en-US" sz="2000" dirty="0"/>
          </a:p>
        </p:txBody>
      </p:sp>
      <p:sp>
        <p:nvSpPr>
          <p:cNvPr id="27" name="Text 21"/>
          <p:cNvSpPr txBox="1"/>
          <p:nvPr/>
        </p:nvSpPr>
        <p:spPr>
          <a:xfrm>
            <a:off x="9189720" y="3657600"/>
            <a:ext cx="2011680" cy="1280160"/>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Kunden empfehlen uns, Mitarbeitende zeigen stolz, wo sie arbeiten.</a:t>
            </a:r>
            <a:endParaRPr lang="en-US" sz="1300" dirty="0"/>
          </a:p>
        </p:txBody>
      </p:sp>
      <p:sp>
        <p:nvSpPr>
          <p:cNvPr id="28" name="Text 22"/>
          <p:cNvSpPr txBox="1"/>
          <p:nvPr/>
        </p:nvSpPr>
        <p:spPr>
          <a:xfrm>
            <a:off x="685800" y="5440680"/>
            <a:ext cx="10789920" cy="365760"/>
          </a:xfrm>
          <a:prstGeom prst="rect">
            <a:avLst/>
          </a:prstGeom>
          <a:noFill/>
          <a:ln/>
        </p:spPr>
        <p:txBody>
          <a:bodyPr wrap="square" lIns="0" tIns="0" rIns="0" bIns="0" rtlCol="0" anchor="t"/>
          <a:lstStyle/>
          <a:p>
            <a:pPr indent="0" marL="0">
              <a:buNone/>
            </a:pPr>
            <a:r>
              <a:rPr lang="en-US" sz="1500" dirty="0">
                <a:solidFill>
                  <a:srgbClr val="B4B5BB"/>
                </a:solidFill>
                <a:latin typeface="Poppins" pitchFamily="34" charset="0"/>
                <a:ea typeface="Poppins" pitchFamily="34" charset="-122"/>
                <a:cs typeface="Poppins" pitchFamily="34" charset="-120"/>
              </a:rPr>
              <a:t>Social Media ist kein Selbstzweck, sondern der Anfang einer Beziehung.</a:t>
            </a:r>
            <a:endParaRPr lang="en-US" sz="1500" dirty="0"/>
          </a:p>
        </p:txBody>
      </p:sp>
      <p:pic>
        <p:nvPicPr>
          <p:cNvPr id="29" name="Image 4" descr="/home/user/Marlene/poleschak-social-media/assets/logo-negativ.png">    </p:cNvPr>
          <p:cNvPicPr>
            <a:picLocks noChangeAspect="1"/>
          </p:cNvPicPr>
          <p:nvPr/>
        </p:nvPicPr>
        <p:blipFill>
          <a:blip r:embed="rId5"/>
          <a:stretch>
            <a:fillRect/>
          </a:stretch>
        </p:blipFill>
        <p:spPr>
          <a:xfrm>
            <a:off x="685800" y="6291072"/>
            <a:ext cx="643680" cy="329184"/>
          </a:xfrm>
          <a:prstGeom prst="rect">
            <a:avLst/>
          </a:prstGeom>
        </p:spPr>
      </p:pic>
      <p:sp>
        <p:nvSpPr>
          <p:cNvPr id="30" name="Text 23"/>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ZIELGRUPPEN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Drei Menschen, für die wir posten.</a:t>
            </a:r>
            <a:endParaRPr lang="en-US" sz="3400" dirty="0"/>
          </a:p>
        </p:txBody>
      </p:sp>
      <p:sp>
        <p:nvSpPr>
          <p:cNvPr id="5" name="Shape 3"/>
          <p:cNvSpPr/>
          <p:nvPr/>
        </p:nvSpPr>
        <p:spPr>
          <a:xfrm>
            <a:off x="685800" y="1920240"/>
            <a:ext cx="3383280" cy="3931920"/>
          </a:xfrm>
          <a:prstGeom prst="roundRect">
            <a:avLst>
              <a:gd name="adj" fmla="val 3243"/>
            </a:avLst>
          </a:prstGeom>
          <a:solidFill>
            <a:srgbClr val="F4F4F4"/>
          </a:solidFill>
          <a:ln w="12700">
            <a:solidFill>
              <a:srgbClr val="F4F4F4"/>
            </a:solidFill>
            <a:prstDash val="solid"/>
          </a:ln>
        </p:spPr>
      </p:sp>
      <p:sp>
        <p:nvSpPr>
          <p:cNvPr id="6" name="Shape 4"/>
          <p:cNvSpPr/>
          <p:nvPr/>
        </p:nvSpPr>
        <p:spPr>
          <a:xfrm>
            <a:off x="960120" y="2194560"/>
            <a:ext cx="640080" cy="64008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House-w.png">    </p:cNvPr>
          <p:cNvPicPr>
            <a:picLocks noChangeAspect="1"/>
          </p:cNvPicPr>
          <p:nvPr/>
        </p:nvPicPr>
        <p:blipFill>
          <a:blip r:embed="rId1"/>
          <a:stretch>
            <a:fillRect/>
          </a:stretch>
        </p:blipFill>
        <p:spPr>
          <a:xfrm>
            <a:off x="1126541" y="2360981"/>
            <a:ext cx="307238" cy="307238"/>
          </a:xfrm>
          <a:prstGeom prst="rect">
            <a:avLst/>
          </a:prstGeom>
        </p:spPr>
      </p:pic>
      <p:sp>
        <p:nvSpPr>
          <p:cNvPr id="8" name="Text 5"/>
          <p:cNvSpPr txBox="1"/>
          <p:nvPr/>
        </p:nvSpPr>
        <p:spPr>
          <a:xfrm>
            <a:off x="960120" y="3017520"/>
            <a:ext cx="2834640" cy="411480"/>
          </a:xfrm>
          <a:prstGeom prst="rect">
            <a:avLst/>
          </a:prstGeom>
          <a:noFill/>
          <a:ln/>
        </p:spPr>
        <p:txBody>
          <a:bodyPr wrap="square" lIns="0" tIns="0" rIns="0" bIns="0" rtlCol="0" anchor="t"/>
          <a:lstStyle/>
          <a:p>
            <a:pPr indent="0" marL="0">
              <a:buNone/>
            </a:pPr>
            <a:r>
              <a:rPr lang="en-US" sz="1800" dirty="0">
                <a:solidFill>
                  <a:srgbClr val="111111"/>
                </a:solidFill>
                <a:latin typeface="Poppins ExtraBold" pitchFamily="34" charset="0"/>
                <a:ea typeface="Poppins ExtraBold" pitchFamily="34" charset="-122"/>
                <a:cs typeface="Poppins ExtraBold" pitchFamily="34" charset="-120"/>
              </a:rPr>
              <a:t>Familie Huber</a:t>
            </a:r>
            <a:endParaRPr lang="en-US" sz="1800" dirty="0"/>
          </a:p>
        </p:txBody>
      </p:sp>
      <p:sp>
        <p:nvSpPr>
          <p:cNvPr id="9" name="Text 6"/>
          <p:cNvSpPr txBox="1"/>
          <p:nvPr/>
        </p:nvSpPr>
        <p:spPr>
          <a:xfrm>
            <a:off x="960120" y="3474720"/>
            <a:ext cx="2834640" cy="68580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Eigenheim in der Region, 35–65</a:t>
            </a:r>
            <a:endParaRPr lang="en-US" sz="1300" dirty="0"/>
          </a:p>
        </p:txBody>
      </p:sp>
      <p:sp>
        <p:nvSpPr>
          <p:cNvPr id="10" name="Text 7"/>
          <p:cNvSpPr txBox="1"/>
          <p:nvPr/>
        </p:nvSpPr>
        <p:spPr>
          <a:xfrm>
            <a:off x="960120" y="4206240"/>
            <a:ext cx="2834640" cy="73152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Auslöser: Einbruch in der Nachbarschaft, dunkle Jahreszeit, Urlaub</a:t>
            </a:r>
            <a:endParaRPr lang="en-US" sz="1300" dirty="0"/>
          </a:p>
        </p:txBody>
      </p:sp>
      <p:sp>
        <p:nvSpPr>
          <p:cNvPr id="11" name="Shape 8"/>
          <p:cNvSpPr/>
          <p:nvPr/>
        </p:nvSpPr>
        <p:spPr>
          <a:xfrm>
            <a:off x="960120" y="5120640"/>
            <a:ext cx="2834640" cy="457200"/>
          </a:xfrm>
          <a:prstGeom prst="roundRect">
            <a:avLst>
              <a:gd name="adj" fmla="val 24000"/>
            </a:avLst>
          </a:prstGeom>
          <a:solidFill>
            <a:srgbClr val="111111"/>
          </a:solidFill>
          <a:ln w="12700">
            <a:solidFill>
              <a:srgbClr val="111111"/>
            </a:solidFill>
            <a:prstDash val="solid"/>
          </a:ln>
        </p:spPr>
      </p:sp>
      <p:sp>
        <p:nvSpPr>
          <p:cNvPr id="12" name="Text 9"/>
          <p:cNvSpPr txBox="1"/>
          <p:nvPr/>
        </p:nvSpPr>
        <p:spPr>
          <a:xfrm>
            <a:off x="960120" y="5120640"/>
            <a:ext cx="283464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 Kostenlose Sicherheitsberatung</a:t>
            </a:r>
            <a:endParaRPr lang="en-US" sz="1200" dirty="0"/>
          </a:p>
        </p:txBody>
      </p:sp>
      <p:sp>
        <p:nvSpPr>
          <p:cNvPr id="13" name="Shape 10"/>
          <p:cNvSpPr/>
          <p:nvPr/>
        </p:nvSpPr>
        <p:spPr>
          <a:xfrm>
            <a:off x="4343400" y="1920240"/>
            <a:ext cx="3383280" cy="3931920"/>
          </a:xfrm>
          <a:prstGeom prst="roundRect">
            <a:avLst>
              <a:gd name="adj" fmla="val 3243"/>
            </a:avLst>
          </a:prstGeom>
          <a:solidFill>
            <a:srgbClr val="F4F4F4"/>
          </a:solidFill>
          <a:ln w="12700">
            <a:solidFill>
              <a:srgbClr val="F4F4F4"/>
            </a:solidFill>
            <a:prstDash val="solid"/>
          </a:ln>
        </p:spPr>
      </p:sp>
      <p:sp>
        <p:nvSpPr>
          <p:cNvPr id="14" name="Shape 11"/>
          <p:cNvSpPr/>
          <p:nvPr/>
        </p:nvSpPr>
        <p:spPr>
          <a:xfrm>
            <a:off x="4617720" y="2194560"/>
            <a:ext cx="640080" cy="640080"/>
          </a:xfrm>
          <a:prstGeom prst="ellipse">
            <a:avLst/>
          </a:prstGeom>
          <a:solidFill>
            <a:srgbClr val="EB5A1B"/>
          </a:solidFill>
          <a:ln w="12700">
            <a:solidFill>
              <a:srgbClr val="EB5A1B"/>
            </a:solidFill>
            <a:prstDash val="solid"/>
          </a:ln>
        </p:spPr>
      </p:sp>
      <p:pic>
        <p:nvPicPr>
          <p:cNvPr id="15" name="Image 1" descr="/tmp/claude-0/-home-user-Marlene/67342075-d45e-5dfd-8246-b97e829a8c42/scratchpad/deck/img/FaUserGraduate-w.png">    </p:cNvPr>
          <p:cNvPicPr>
            <a:picLocks noChangeAspect="1"/>
          </p:cNvPicPr>
          <p:nvPr/>
        </p:nvPicPr>
        <p:blipFill>
          <a:blip r:embed="rId2"/>
          <a:stretch>
            <a:fillRect/>
          </a:stretch>
        </p:blipFill>
        <p:spPr>
          <a:xfrm>
            <a:off x="4784141" y="2360981"/>
            <a:ext cx="307238" cy="307238"/>
          </a:xfrm>
          <a:prstGeom prst="rect">
            <a:avLst/>
          </a:prstGeom>
        </p:spPr>
      </p:pic>
      <p:sp>
        <p:nvSpPr>
          <p:cNvPr id="16" name="Text 12"/>
          <p:cNvSpPr txBox="1"/>
          <p:nvPr/>
        </p:nvSpPr>
        <p:spPr>
          <a:xfrm>
            <a:off x="4617720" y="3017520"/>
            <a:ext cx="2834640" cy="411480"/>
          </a:xfrm>
          <a:prstGeom prst="rect">
            <a:avLst/>
          </a:prstGeom>
          <a:noFill/>
          <a:ln/>
        </p:spPr>
        <p:txBody>
          <a:bodyPr wrap="square" lIns="0" tIns="0" rIns="0" bIns="0" rtlCol="0" anchor="t"/>
          <a:lstStyle/>
          <a:p>
            <a:pPr indent="0" marL="0">
              <a:buNone/>
            </a:pPr>
            <a:r>
              <a:rPr lang="en-US" sz="1800" dirty="0">
                <a:solidFill>
                  <a:srgbClr val="111111"/>
                </a:solidFill>
                <a:latin typeface="Poppins ExtraBold" pitchFamily="34" charset="0"/>
                <a:ea typeface="Poppins ExtraBold" pitchFamily="34" charset="-122"/>
                <a:cs typeface="Poppins ExtraBold" pitchFamily="34" charset="-120"/>
              </a:rPr>
              <a:t>Leon, 16 (+ Mama)</a:t>
            </a:r>
            <a:endParaRPr lang="en-US" sz="1800" dirty="0"/>
          </a:p>
        </p:txBody>
      </p:sp>
      <p:sp>
        <p:nvSpPr>
          <p:cNvPr id="17" name="Text 13"/>
          <p:cNvSpPr txBox="1"/>
          <p:nvPr/>
        </p:nvSpPr>
        <p:spPr>
          <a:xfrm>
            <a:off x="4617720" y="3474720"/>
            <a:ext cx="2834640" cy="68580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Schüler, technikbegeistert, auf Reels und TikTok</a:t>
            </a:r>
            <a:endParaRPr lang="en-US" sz="1300" dirty="0"/>
          </a:p>
        </p:txBody>
      </p:sp>
      <p:sp>
        <p:nvSpPr>
          <p:cNvPr id="18" name="Text 14"/>
          <p:cNvSpPr txBox="1"/>
          <p:nvPr/>
        </p:nvSpPr>
        <p:spPr>
          <a:xfrm>
            <a:off x="4617720" y="4206240"/>
            <a:ext cx="2834640" cy="73152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Frage: „Sind die Leute nett? Was verdiene ich?“</a:t>
            </a:r>
            <a:endParaRPr lang="en-US" sz="1300" dirty="0"/>
          </a:p>
        </p:txBody>
      </p:sp>
      <p:sp>
        <p:nvSpPr>
          <p:cNvPr id="19" name="Shape 15"/>
          <p:cNvSpPr/>
          <p:nvPr/>
        </p:nvSpPr>
        <p:spPr>
          <a:xfrm>
            <a:off x="4617720" y="5120640"/>
            <a:ext cx="2834640" cy="457200"/>
          </a:xfrm>
          <a:prstGeom prst="roundRect">
            <a:avLst>
              <a:gd name="adj" fmla="val 24000"/>
            </a:avLst>
          </a:prstGeom>
          <a:solidFill>
            <a:srgbClr val="111111"/>
          </a:solidFill>
          <a:ln w="12700">
            <a:solidFill>
              <a:srgbClr val="111111"/>
            </a:solidFill>
            <a:prstDash val="solid"/>
          </a:ln>
        </p:spPr>
      </p:sp>
      <p:sp>
        <p:nvSpPr>
          <p:cNvPr id="20" name="Text 16"/>
          <p:cNvSpPr txBox="1"/>
          <p:nvPr/>
        </p:nvSpPr>
        <p:spPr>
          <a:xfrm>
            <a:off x="4617720" y="5120640"/>
            <a:ext cx="283464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 Praktikum per WhatsApp</a:t>
            </a:r>
            <a:endParaRPr lang="en-US" sz="1200" dirty="0"/>
          </a:p>
        </p:txBody>
      </p:sp>
      <p:sp>
        <p:nvSpPr>
          <p:cNvPr id="21" name="Shape 17"/>
          <p:cNvSpPr/>
          <p:nvPr/>
        </p:nvSpPr>
        <p:spPr>
          <a:xfrm>
            <a:off x="8001000" y="1920240"/>
            <a:ext cx="3383280" cy="3931920"/>
          </a:xfrm>
          <a:prstGeom prst="roundRect">
            <a:avLst>
              <a:gd name="adj" fmla="val 3243"/>
            </a:avLst>
          </a:prstGeom>
          <a:solidFill>
            <a:srgbClr val="F4F4F4"/>
          </a:solidFill>
          <a:ln w="12700">
            <a:solidFill>
              <a:srgbClr val="F4F4F4"/>
            </a:solidFill>
            <a:prstDash val="solid"/>
          </a:ln>
        </p:spPr>
      </p:sp>
      <p:sp>
        <p:nvSpPr>
          <p:cNvPr id="22" name="Shape 18"/>
          <p:cNvSpPr/>
          <p:nvPr/>
        </p:nvSpPr>
        <p:spPr>
          <a:xfrm>
            <a:off x="8275320" y="2194560"/>
            <a:ext cx="640080" cy="640080"/>
          </a:xfrm>
          <a:prstGeom prst="ellipse">
            <a:avLst/>
          </a:prstGeom>
          <a:solidFill>
            <a:srgbClr val="EB5A1B"/>
          </a:solidFill>
          <a:ln w="12700">
            <a:solidFill>
              <a:srgbClr val="EB5A1B"/>
            </a:solidFill>
            <a:prstDash val="solid"/>
          </a:ln>
        </p:spPr>
      </p:sp>
      <p:pic>
        <p:nvPicPr>
          <p:cNvPr id="23" name="Image 2" descr="/tmp/claude-0/-home-user-Marlene/67342075-d45e-5dfd-8246-b97e829a8c42/scratchpad/deck/img/FaUserTie-w.png">    </p:cNvPr>
          <p:cNvPicPr>
            <a:picLocks noChangeAspect="1"/>
          </p:cNvPicPr>
          <p:nvPr/>
        </p:nvPicPr>
        <p:blipFill>
          <a:blip r:embed="rId3"/>
          <a:stretch>
            <a:fillRect/>
          </a:stretch>
        </p:blipFill>
        <p:spPr>
          <a:xfrm>
            <a:off x="8441741" y="2360981"/>
            <a:ext cx="307238" cy="307238"/>
          </a:xfrm>
          <a:prstGeom prst="rect">
            <a:avLst/>
          </a:prstGeom>
        </p:spPr>
      </p:pic>
      <p:sp>
        <p:nvSpPr>
          <p:cNvPr id="24" name="Text 19"/>
          <p:cNvSpPr txBox="1"/>
          <p:nvPr/>
        </p:nvSpPr>
        <p:spPr>
          <a:xfrm>
            <a:off x="8275320" y="3017520"/>
            <a:ext cx="2834640" cy="411480"/>
          </a:xfrm>
          <a:prstGeom prst="rect">
            <a:avLst/>
          </a:prstGeom>
          <a:noFill/>
          <a:ln/>
        </p:spPr>
        <p:txBody>
          <a:bodyPr wrap="square" lIns="0" tIns="0" rIns="0" bIns="0" rtlCol="0" anchor="t"/>
          <a:lstStyle/>
          <a:p>
            <a:pPr indent="0" marL="0">
              <a:buNone/>
            </a:pPr>
            <a:r>
              <a:rPr lang="en-US" sz="1800" dirty="0">
                <a:solidFill>
                  <a:srgbClr val="111111"/>
                </a:solidFill>
                <a:latin typeface="Poppins ExtraBold" pitchFamily="34" charset="0"/>
                <a:ea typeface="Poppins ExtraBold" pitchFamily="34" charset="-122"/>
                <a:cs typeface="Poppins ExtraBold" pitchFamily="34" charset="-120"/>
              </a:rPr>
              <a:t>Markus &amp; Sabrina</a:t>
            </a:r>
            <a:endParaRPr lang="en-US" sz="1800" dirty="0"/>
          </a:p>
        </p:txBody>
      </p:sp>
      <p:sp>
        <p:nvSpPr>
          <p:cNvPr id="25" name="Text 20"/>
          <p:cNvSpPr txBox="1"/>
          <p:nvPr/>
        </p:nvSpPr>
        <p:spPr>
          <a:xfrm>
            <a:off x="8275320" y="3474720"/>
            <a:ext cx="2834640" cy="68580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Elektroniker bzw. Quereinsteigerin (Leitstelle, Sicherheitsdienst)</a:t>
            </a:r>
            <a:endParaRPr lang="en-US" sz="1300" dirty="0"/>
          </a:p>
        </p:txBody>
      </p:sp>
      <p:sp>
        <p:nvSpPr>
          <p:cNvPr id="26" name="Text 21"/>
          <p:cNvSpPr txBox="1"/>
          <p:nvPr/>
        </p:nvSpPr>
        <p:spPr>
          <a:xfrm>
            <a:off x="8275320" y="4206240"/>
            <a:ext cx="2834640" cy="73152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Suchen Abwechslung, Sicherheit, Wertschätzung</a:t>
            </a:r>
            <a:endParaRPr lang="en-US" sz="1300" dirty="0"/>
          </a:p>
        </p:txBody>
      </p:sp>
      <p:sp>
        <p:nvSpPr>
          <p:cNvPr id="27" name="Shape 22"/>
          <p:cNvSpPr/>
          <p:nvPr/>
        </p:nvSpPr>
        <p:spPr>
          <a:xfrm>
            <a:off x="8275320" y="5120640"/>
            <a:ext cx="2834640" cy="457200"/>
          </a:xfrm>
          <a:prstGeom prst="roundRect">
            <a:avLst>
              <a:gd name="adj" fmla="val 24000"/>
            </a:avLst>
          </a:prstGeom>
          <a:solidFill>
            <a:srgbClr val="111111"/>
          </a:solidFill>
          <a:ln w="12700">
            <a:solidFill>
              <a:srgbClr val="111111"/>
            </a:solidFill>
            <a:prstDash val="solid"/>
          </a:ln>
        </p:spPr>
      </p:sp>
      <p:sp>
        <p:nvSpPr>
          <p:cNvPr id="28" name="Text 23"/>
          <p:cNvSpPr txBox="1"/>
          <p:nvPr/>
        </p:nvSpPr>
        <p:spPr>
          <a:xfrm>
            <a:off x="8275320" y="5120640"/>
            <a:ext cx="283464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 Bewerbung in 60 Sekunden</a:t>
            </a:r>
            <a:endParaRPr lang="en-US" sz="1200" dirty="0"/>
          </a:p>
        </p:txBody>
      </p:sp>
      <p:sp>
        <p:nvSpPr>
          <p:cNvPr id="29" name="Text 24"/>
          <p:cNvSpPr txBox="1"/>
          <p:nvPr/>
        </p:nvSpPr>
        <p:spPr>
          <a:xfrm>
            <a:off x="685800" y="5943600"/>
            <a:ext cx="10789920" cy="27432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Dazu Marke und Region für alle. Gewerbekunden erreichen wir später über LinkedIn (Stufe 2).</a:t>
            </a:r>
            <a:endParaRPr lang="en-US" sz="1100" dirty="0"/>
          </a:p>
        </p:txBody>
      </p:sp>
      <p:pic>
        <p:nvPicPr>
          <p:cNvPr id="30" name="Image 3" descr="/home/user/Marlene/poleschak-social-media/assets/logo-transparent.png">    </p:cNvPr>
          <p:cNvPicPr>
            <a:picLocks noChangeAspect="1"/>
          </p:cNvPicPr>
          <p:nvPr/>
        </p:nvPicPr>
        <p:blipFill>
          <a:blip r:embed="rId4"/>
          <a:stretch>
            <a:fillRect/>
          </a:stretch>
        </p:blipFill>
        <p:spPr>
          <a:xfrm>
            <a:off x="685800" y="6291072"/>
            <a:ext cx="643680" cy="329184"/>
          </a:xfrm>
          <a:prstGeom prst="rect">
            <a:avLst/>
          </a:prstGeom>
        </p:spPr>
      </p:pic>
      <p:sp>
        <p:nvSpPr>
          <p:cNvPr id="31" name="Text 25"/>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MARKEN-KIT</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Das Logo bleibt.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Die Regeln sind neu.</a:t>
            </a:r>
            <a:endParaRPr lang="en-US" sz="3400" dirty="0"/>
          </a:p>
        </p:txBody>
      </p:sp>
      <p:sp>
        <p:nvSpPr>
          <p:cNvPr id="5" name="Shape 3"/>
          <p:cNvSpPr/>
          <p:nvPr/>
        </p:nvSpPr>
        <p:spPr>
          <a:xfrm>
            <a:off x="685800" y="1874520"/>
            <a:ext cx="1600200" cy="1600200"/>
          </a:xfrm>
          <a:prstGeom prst="roundRect">
            <a:avLst>
              <a:gd name="adj" fmla="val 5714"/>
            </a:avLst>
          </a:prstGeom>
          <a:solidFill>
            <a:srgbClr val="EB5A1B"/>
          </a:solidFill>
          <a:ln w="12700">
            <a:solidFill>
              <a:srgbClr val="EB5A1B"/>
            </a:solidFill>
            <a:prstDash val="solid"/>
          </a:ln>
        </p:spPr>
      </p:sp>
      <p:sp>
        <p:nvSpPr>
          <p:cNvPr id="6" name="Text 4"/>
          <p:cNvSpPr txBox="1"/>
          <p:nvPr/>
        </p:nvSpPr>
        <p:spPr>
          <a:xfrm>
            <a:off x="822960" y="2788920"/>
            <a:ext cx="1371600" cy="274320"/>
          </a:xfrm>
          <a:prstGeom prst="rect">
            <a:avLst/>
          </a:prstGeom>
          <a:noFill/>
          <a:ln/>
        </p:spPr>
        <p:txBody>
          <a:bodyPr wrap="square" lIns="0" tIns="0" rIns="0" bIns="0" rtlCol="0" anchor="t"/>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Signal-Orange</a:t>
            </a:r>
            <a:endParaRPr lang="en-US" sz="1200" dirty="0"/>
          </a:p>
        </p:txBody>
      </p:sp>
      <p:sp>
        <p:nvSpPr>
          <p:cNvPr id="7" name="Text 5"/>
          <p:cNvSpPr txBox="1"/>
          <p:nvPr/>
        </p:nvSpPr>
        <p:spPr>
          <a:xfrm>
            <a:off x="822960" y="3063240"/>
            <a:ext cx="1371600" cy="274320"/>
          </a:xfrm>
          <a:prstGeom prst="rect">
            <a:avLst/>
          </a:prstGeom>
          <a:noFill/>
          <a:ln/>
        </p:spPr>
        <p:txBody>
          <a:bodyPr wrap="square" lIns="0" tIns="0" rIns="0" bIns="0" rtlCol="0" anchor="t"/>
          <a:lstStyle/>
          <a:p>
            <a:pPr indent="0" marL="0">
              <a:buNone/>
            </a:pPr>
            <a:r>
              <a:rPr lang="en-US" sz="1100" dirty="0">
                <a:solidFill>
                  <a:srgbClr val="FFFFFF"/>
                </a:solidFill>
                <a:latin typeface="Poppins" pitchFamily="34" charset="0"/>
                <a:ea typeface="Poppins" pitchFamily="34" charset="-122"/>
                <a:cs typeface="Poppins" pitchFamily="34" charset="-120"/>
              </a:rPr>
              <a:t>#EB5A1B</a:t>
            </a:r>
            <a:endParaRPr lang="en-US" sz="1100" dirty="0"/>
          </a:p>
        </p:txBody>
      </p:sp>
      <p:sp>
        <p:nvSpPr>
          <p:cNvPr id="8" name="Shape 6"/>
          <p:cNvSpPr/>
          <p:nvPr/>
        </p:nvSpPr>
        <p:spPr>
          <a:xfrm>
            <a:off x="2468880" y="1874520"/>
            <a:ext cx="1600200" cy="1600200"/>
          </a:xfrm>
          <a:prstGeom prst="roundRect">
            <a:avLst>
              <a:gd name="adj" fmla="val 5714"/>
            </a:avLst>
          </a:prstGeom>
          <a:solidFill>
            <a:srgbClr val="111111"/>
          </a:solidFill>
          <a:ln w="12700">
            <a:solidFill>
              <a:srgbClr val="111111"/>
            </a:solidFill>
            <a:prstDash val="solid"/>
          </a:ln>
        </p:spPr>
      </p:sp>
      <p:sp>
        <p:nvSpPr>
          <p:cNvPr id="9" name="Text 7"/>
          <p:cNvSpPr txBox="1"/>
          <p:nvPr/>
        </p:nvSpPr>
        <p:spPr>
          <a:xfrm>
            <a:off x="2606040" y="2788920"/>
            <a:ext cx="1371600" cy="274320"/>
          </a:xfrm>
          <a:prstGeom prst="rect">
            <a:avLst/>
          </a:prstGeom>
          <a:noFill/>
          <a:ln/>
        </p:spPr>
        <p:txBody>
          <a:bodyPr wrap="square" lIns="0" tIns="0" rIns="0" bIns="0" rtlCol="0" anchor="t"/>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Nacht</a:t>
            </a:r>
            <a:endParaRPr lang="en-US" sz="1200" dirty="0"/>
          </a:p>
        </p:txBody>
      </p:sp>
      <p:sp>
        <p:nvSpPr>
          <p:cNvPr id="10" name="Text 8"/>
          <p:cNvSpPr txBox="1"/>
          <p:nvPr/>
        </p:nvSpPr>
        <p:spPr>
          <a:xfrm>
            <a:off x="2606040" y="3063240"/>
            <a:ext cx="1371600" cy="274320"/>
          </a:xfrm>
          <a:prstGeom prst="rect">
            <a:avLst/>
          </a:prstGeom>
          <a:noFill/>
          <a:ln/>
        </p:spPr>
        <p:txBody>
          <a:bodyPr wrap="square" lIns="0" tIns="0" rIns="0" bIns="0" rtlCol="0" anchor="t"/>
          <a:lstStyle/>
          <a:p>
            <a:pPr indent="0" marL="0">
              <a:buNone/>
            </a:pPr>
            <a:r>
              <a:rPr lang="en-US" sz="1100" dirty="0">
                <a:solidFill>
                  <a:srgbClr val="FFFFFF"/>
                </a:solidFill>
                <a:latin typeface="Poppins" pitchFamily="34" charset="0"/>
                <a:ea typeface="Poppins" pitchFamily="34" charset="-122"/>
                <a:cs typeface="Poppins" pitchFamily="34" charset="-120"/>
              </a:rPr>
              <a:t>#111111</a:t>
            </a:r>
            <a:endParaRPr lang="en-US" sz="1100" dirty="0"/>
          </a:p>
        </p:txBody>
      </p:sp>
      <p:sp>
        <p:nvSpPr>
          <p:cNvPr id="11" name="Shape 9"/>
          <p:cNvSpPr/>
          <p:nvPr/>
        </p:nvSpPr>
        <p:spPr>
          <a:xfrm>
            <a:off x="4251960" y="1874520"/>
            <a:ext cx="1600200" cy="1600200"/>
          </a:xfrm>
          <a:prstGeom prst="roundRect">
            <a:avLst>
              <a:gd name="adj" fmla="val 5714"/>
            </a:avLst>
          </a:prstGeom>
          <a:solidFill>
            <a:srgbClr val="222222"/>
          </a:solidFill>
          <a:ln w="12700">
            <a:solidFill>
              <a:srgbClr val="222222"/>
            </a:solidFill>
            <a:prstDash val="solid"/>
          </a:ln>
        </p:spPr>
      </p:sp>
      <p:sp>
        <p:nvSpPr>
          <p:cNvPr id="12" name="Text 10"/>
          <p:cNvSpPr txBox="1"/>
          <p:nvPr/>
        </p:nvSpPr>
        <p:spPr>
          <a:xfrm>
            <a:off x="4389120" y="2788920"/>
            <a:ext cx="1371600" cy="274320"/>
          </a:xfrm>
          <a:prstGeom prst="rect">
            <a:avLst/>
          </a:prstGeom>
          <a:noFill/>
          <a:ln/>
        </p:spPr>
        <p:txBody>
          <a:bodyPr wrap="square" lIns="0" tIns="0" rIns="0" bIns="0" rtlCol="0" anchor="t"/>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Anthrazit</a:t>
            </a:r>
            <a:endParaRPr lang="en-US" sz="1200" dirty="0"/>
          </a:p>
        </p:txBody>
      </p:sp>
      <p:sp>
        <p:nvSpPr>
          <p:cNvPr id="13" name="Text 11"/>
          <p:cNvSpPr txBox="1"/>
          <p:nvPr/>
        </p:nvSpPr>
        <p:spPr>
          <a:xfrm>
            <a:off x="4389120" y="3063240"/>
            <a:ext cx="1371600" cy="274320"/>
          </a:xfrm>
          <a:prstGeom prst="rect">
            <a:avLst/>
          </a:prstGeom>
          <a:noFill/>
          <a:ln/>
        </p:spPr>
        <p:txBody>
          <a:bodyPr wrap="square" lIns="0" tIns="0" rIns="0" bIns="0" rtlCol="0" anchor="t"/>
          <a:lstStyle/>
          <a:p>
            <a:pPr indent="0" marL="0">
              <a:buNone/>
            </a:pPr>
            <a:r>
              <a:rPr lang="en-US" sz="1100" dirty="0">
                <a:solidFill>
                  <a:srgbClr val="FFFFFF"/>
                </a:solidFill>
                <a:latin typeface="Poppins" pitchFamily="34" charset="0"/>
                <a:ea typeface="Poppins" pitchFamily="34" charset="-122"/>
                <a:cs typeface="Poppins" pitchFamily="34" charset="-120"/>
              </a:rPr>
              <a:t>#222222</a:t>
            </a:r>
            <a:endParaRPr lang="en-US" sz="1100" dirty="0"/>
          </a:p>
        </p:txBody>
      </p:sp>
      <p:sp>
        <p:nvSpPr>
          <p:cNvPr id="14" name="Shape 12"/>
          <p:cNvSpPr/>
          <p:nvPr/>
        </p:nvSpPr>
        <p:spPr>
          <a:xfrm>
            <a:off x="6035040" y="1874520"/>
            <a:ext cx="1600200" cy="1600200"/>
          </a:xfrm>
          <a:prstGeom prst="roundRect">
            <a:avLst>
              <a:gd name="adj" fmla="val 5714"/>
            </a:avLst>
          </a:prstGeom>
          <a:solidFill>
            <a:srgbClr val="F4F4F4"/>
          </a:solidFill>
          <a:ln w="12700">
            <a:solidFill>
              <a:srgbClr val="DDDDDD"/>
            </a:solidFill>
            <a:prstDash val="solid"/>
          </a:ln>
        </p:spPr>
      </p:sp>
      <p:sp>
        <p:nvSpPr>
          <p:cNvPr id="15" name="Text 13"/>
          <p:cNvSpPr txBox="1"/>
          <p:nvPr/>
        </p:nvSpPr>
        <p:spPr>
          <a:xfrm>
            <a:off x="6172200" y="2788920"/>
            <a:ext cx="1371600" cy="274320"/>
          </a:xfrm>
          <a:prstGeom prst="rect">
            <a:avLst/>
          </a:prstGeom>
          <a:noFill/>
          <a:ln/>
        </p:spPr>
        <p:txBody>
          <a:bodyPr wrap="square" lIns="0" tIns="0" rIns="0" bIns="0" rtlCol="0" anchor="t"/>
          <a:lstStyle/>
          <a:p>
            <a:pPr indent="0" marL="0">
              <a:buNone/>
            </a:pPr>
            <a:r>
              <a:rPr lang="en-US" sz="1200" dirty="0">
                <a:solidFill>
                  <a:srgbClr val="111111"/>
                </a:solidFill>
                <a:latin typeface="Poppins SemiBold" pitchFamily="34" charset="0"/>
                <a:ea typeface="Poppins SemiBold" pitchFamily="34" charset="-122"/>
                <a:cs typeface="Poppins SemiBold" pitchFamily="34" charset="-120"/>
              </a:rPr>
              <a:t>Hellgrau</a:t>
            </a:r>
            <a:endParaRPr lang="en-US" sz="1200" dirty="0"/>
          </a:p>
        </p:txBody>
      </p:sp>
      <p:sp>
        <p:nvSpPr>
          <p:cNvPr id="16" name="Text 14"/>
          <p:cNvSpPr txBox="1"/>
          <p:nvPr/>
        </p:nvSpPr>
        <p:spPr>
          <a:xfrm>
            <a:off x="6172200" y="3063240"/>
            <a:ext cx="1371600" cy="274320"/>
          </a:xfrm>
          <a:prstGeom prst="rect">
            <a:avLst/>
          </a:prstGeom>
          <a:noFill/>
          <a:ln/>
        </p:spPr>
        <p:txBody>
          <a:bodyPr wrap="square" lIns="0" tIns="0" rIns="0" bIns="0" rtlCol="0" anchor="t"/>
          <a:lstStyle/>
          <a:p>
            <a:pPr indent="0" marL="0">
              <a:buNone/>
            </a:pPr>
            <a:r>
              <a:rPr lang="en-US" sz="1100" dirty="0">
                <a:solidFill>
                  <a:srgbClr val="111111"/>
                </a:solidFill>
                <a:latin typeface="Poppins" pitchFamily="34" charset="0"/>
                <a:ea typeface="Poppins" pitchFamily="34" charset="-122"/>
                <a:cs typeface="Poppins" pitchFamily="34" charset="-120"/>
              </a:rPr>
              <a:t>#F4F4F4</a:t>
            </a:r>
            <a:endParaRPr lang="en-US" sz="1100" dirty="0"/>
          </a:p>
        </p:txBody>
      </p:sp>
      <p:sp>
        <p:nvSpPr>
          <p:cNvPr id="17" name="Text 15"/>
          <p:cNvSpPr txBox="1"/>
          <p:nvPr/>
        </p:nvSpPr>
        <p:spPr>
          <a:xfrm>
            <a:off x="685800" y="3611880"/>
            <a:ext cx="6949440" cy="32004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Viel Nacht und Weiß, Orange nur als Signal: Es markiert das Wichtigste, nie alles.</a:t>
            </a:r>
            <a:endParaRPr lang="en-US" sz="1300" dirty="0"/>
          </a:p>
        </p:txBody>
      </p:sp>
      <p:sp>
        <p:nvSpPr>
          <p:cNvPr id="18" name="Text 16"/>
          <p:cNvSpPr txBox="1"/>
          <p:nvPr/>
        </p:nvSpPr>
        <p:spPr>
          <a:xfrm>
            <a:off x="685800" y="4160520"/>
            <a:ext cx="3657600" cy="731520"/>
          </a:xfrm>
          <a:prstGeom prst="rect">
            <a:avLst/>
          </a:prstGeom>
          <a:noFill/>
          <a:ln/>
        </p:spPr>
        <p:txBody>
          <a:bodyPr wrap="square" lIns="0" tIns="0" rIns="0" bIns="0" rtlCol="0" anchor="t"/>
          <a:lstStyle/>
          <a:p>
            <a:pPr indent="0" marL="0">
              <a:buNone/>
            </a:pPr>
            <a:r>
              <a:rPr lang="en-US" sz="4400" dirty="0">
                <a:solidFill>
                  <a:srgbClr val="111111"/>
                </a:solidFill>
                <a:latin typeface="Poppins ExtraBold" pitchFamily="34" charset="0"/>
                <a:ea typeface="Poppins ExtraBold" pitchFamily="34" charset="-122"/>
                <a:cs typeface="Poppins ExtraBold" pitchFamily="34" charset="-120"/>
              </a:rPr>
              <a:t>Poppins</a:t>
            </a:r>
            <a:endParaRPr lang="en-US" sz="4400" dirty="0"/>
          </a:p>
        </p:txBody>
      </p:sp>
      <p:sp>
        <p:nvSpPr>
          <p:cNvPr id="19" name="Text 17"/>
          <p:cNvSpPr txBox="1"/>
          <p:nvPr/>
        </p:nvSpPr>
        <p:spPr>
          <a:xfrm>
            <a:off x="685800" y="4937760"/>
            <a:ext cx="6766560" cy="64008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ExtraBold für Headlines · SemiBold für Sublines · Regular für Text · Light für Kicker. Klar, modern, gut lesbar.</a:t>
            </a:r>
            <a:endParaRPr lang="en-US" sz="1300" dirty="0"/>
          </a:p>
        </p:txBody>
      </p:sp>
      <p:sp>
        <p:nvSpPr>
          <p:cNvPr id="20" name="Shape 18"/>
          <p:cNvSpPr/>
          <p:nvPr/>
        </p:nvSpPr>
        <p:spPr>
          <a:xfrm>
            <a:off x="8092440" y="1874520"/>
            <a:ext cx="3429000" cy="3840480"/>
          </a:xfrm>
          <a:prstGeom prst="roundRect">
            <a:avLst>
              <a:gd name="adj" fmla="val 3200"/>
            </a:avLst>
          </a:prstGeom>
          <a:solidFill>
            <a:srgbClr val="F4F4F4"/>
          </a:solidFill>
          <a:ln w="12700">
            <a:solidFill>
              <a:srgbClr val="F4F4F4"/>
            </a:solidFill>
            <a:prstDash val="solid"/>
          </a:ln>
        </p:spPr>
      </p:sp>
      <p:pic>
        <p:nvPicPr>
          <p:cNvPr id="21" name="Image 0" descr="/home/user/Marlene/poleschak-social-media/assets/profilbild-weiss.png">    </p:cNvPr>
          <p:cNvPicPr>
            <a:picLocks noChangeAspect="1"/>
          </p:cNvPicPr>
          <p:nvPr/>
        </p:nvPicPr>
        <p:blipFill>
          <a:blip r:embed="rId1"/>
          <a:stretch>
            <a:fillRect/>
          </a:stretch>
        </p:blipFill>
        <p:spPr>
          <a:xfrm>
            <a:off x="8887968" y="2148840"/>
            <a:ext cx="1828800" cy="1828800"/>
          </a:xfrm>
          <a:prstGeom prst="rect">
            <a:avLst/>
          </a:prstGeom>
        </p:spPr>
      </p:pic>
      <p:sp>
        <p:nvSpPr>
          <p:cNvPr id="22" name="Text 19"/>
          <p:cNvSpPr txBox="1"/>
          <p:nvPr/>
        </p:nvSpPr>
        <p:spPr>
          <a:xfrm>
            <a:off x="8321040" y="4114800"/>
            <a:ext cx="3017520" cy="365760"/>
          </a:xfrm>
          <a:prstGeom prst="rect">
            <a:avLst/>
          </a:prstGeom>
          <a:noFill/>
          <a:ln/>
        </p:spPr>
        <p:txBody>
          <a:bodyPr wrap="square" lIns="0" tIns="0" rIns="0" bIns="0" rtlCol="0" anchor="t"/>
          <a:lstStyle/>
          <a:p>
            <a:pPr algn="ctr" indent="0" marL="0">
              <a:buNone/>
            </a:pPr>
            <a:r>
              <a:rPr lang="en-US" sz="1500" dirty="0">
                <a:solidFill>
                  <a:srgbClr val="111111"/>
                </a:solidFill>
                <a:latin typeface="Poppins SemiBold" pitchFamily="34" charset="0"/>
                <a:ea typeface="Poppins SemiBold" pitchFamily="34" charset="-122"/>
                <a:cs typeface="Poppins SemiBold" pitchFamily="34" charset="-120"/>
              </a:rPr>
              <a:t>Profilbild: das Signal</a:t>
            </a:r>
            <a:endParaRPr lang="en-US" sz="1500" dirty="0"/>
          </a:p>
        </p:txBody>
      </p:sp>
      <p:sp>
        <p:nvSpPr>
          <p:cNvPr id="23" name="Text 20"/>
          <p:cNvSpPr txBox="1"/>
          <p:nvPr/>
        </p:nvSpPr>
        <p:spPr>
          <a:xfrm>
            <a:off x="8321040" y="4480560"/>
            <a:ext cx="3017520" cy="822960"/>
          </a:xfrm>
          <a:prstGeom prst="rect">
            <a:avLst/>
          </a:prstGeom>
          <a:noFill/>
          <a:ln/>
        </p:spPr>
        <p:txBody>
          <a:bodyPr wrap="square" lIns="0" tIns="0" rIns="0" bIns="0" rtlCol="0" anchor="t"/>
          <a:lstStyle/>
          <a:p>
            <a:pPr algn="ctr" indent="0" marL="0">
              <a:buNone/>
            </a:pPr>
            <a:r>
              <a:rPr lang="en-US" sz="1200" dirty="0">
                <a:solidFill>
                  <a:srgbClr val="545559"/>
                </a:solidFill>
                <a:latin typeface="Poppins" pitchFamily="34" charset="0"/>
                <a:ea typeface="Poppins" pitchFamily="34" charset="-122"/>
                <a:cs typeface="Poppins" pitchFamily="34" charset="-120"/>
              </a:rPr>
              <a:t>Der Schriftzug ist im kleinen Kreis nicht lesbar, das Signal schon. Wiedererkennbar auf einen Blick.</a:t>
            </a:r>
            <a:endParaRPr lang="en-US" sz="1200" dirty="0"/>
          </a:p>
        </p:txBody>
      </p:sp>
      <p:pic>
        <p:nvPicPr>
          <p:cNvPr id="24" name="Image 1" descr="/home/user/Marlene/poleschak-social-media/assets/logo-transparent.png">    </p:cNvPr>
          <p:cNvPicPr>
            <a:picLocks noChangeAspect="1"/>
          </p:cNvPicPr>
          <p:nvPr/>
        </p:nvPicPr>
        <p:blipFill>
          <a:blip r:embed="rId2"/>
          <a:stretch>
            <a:fillRect/>
          </a:stretch>
        </p:blipFill>
        <p:spPr>
          <a:xfrm>
            <a:off x="685800" y="6291072"/>
            <a:ext cx="643680" cy="329184"/>
          </a:xfrm>
          <a:prstGeom prst="rect">
            <a:avLst/>
          </a:prstGeom>
        </p:spPr>
      </p:pic>
      <p:sp>
        <p:nvSpPr>
          <p:cNvPr id="25" name="Text 21"/>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9EA"/>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DREI VORLAGEN-WELTEN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Drei Welten.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Eine DNA.</a:t>
            </a:r>
            <a:endParaRPr lang="en-US" sz="3400" dirty="0"/>
          </a:p>
        </p:txBody>
      </p:sp>
      <p:pic>
        <p:nvPicPr>
          <p:cNvPr id="5" name="Image 0" descr="/home/user/Marlene/poleschak-social-media/vorlagen/export/karussell-schwachstellen-4.png">    </p:cNvPr>
          <p:cNvPicPr>
            <a:picLocks noChangeAspect="1"/>
          </p:cNvPicPr>
          <p:nvPr/>
        </p:nvPicPr>
        <p:blipFill>
          <a:blip r:embed="rId1"/>
          <a:stretch>
            <a:fillRect/>
          </a:stretch>
        </p:blipFill>
        <p:spPr>
          <a:xfrm>
            <a:off x="868680" y="1783080"/>
            <a:ext cx="2852928" cy="3566160"/>
          </a:xfrm>
          <a:prstGeom prst="rect">
            <a:avLst/>
          </a:prstGeom>
          <a:effectLst>
            <a:outerShdw sx="100000" sy="100000" kx="0" ky="0" algn="bl" rotWithShape="0" blurRad="101600" dist="38100" dir="5400000">
              <a:srgbClr val="000000">
                <a:alpha val="25000"/>
              </a:srgbClr>
            </a:outerShdw>
          </a:effectLst>
        </p:spPr>
      </p:pic>
      <p:sp>
        <p:nvSpPr>
          <p:cNvPr id="6" name="Text 3"/>
          <p:cNvSpPr txBox="1"/>
          <p:nvPr/>
        </p:nvSpPr>
        <p:spPr>
          <a:xfrm>
            <a:off x="868680" y="5440680"/>
            <a:ext cx="2926080" cy="365760"/>
          </a:xfrm>
          <a:prstGeom prst="rect">
            <a:avLst/>
          </a:prstGeom>
          <a:noFill/>
          <a:ln/>
        </p:spPr>
        <p:txBody>
          <a:bodyPr wrap="square" lIns="0" tIns="0" rIns="0" bIns="0" rtlCol="0" anchor="t"/>
          <a:lstStyle/>
          <a:p>
            <a:pPr indent="0" marL="0">
              <a:buNone/>
            </a:pPr>
            <a:r>
              <a:rPr lang="en-US" sz="1700" dirty="0">
                <a:solidFill>
                  <a:srgbClr val="111111"/>
                </a:solidFill>
                <a:latin typeface="Poppins ExtraBold" pitchFamily="34" charset="0"/>
                <a:ea typeface="Poppins ExtraBold" pitchFamily="34" charset="-122"/>
                <a:cs typeface="Poppins ExtraBold" pitchFamily="34" charset="-120"/>
              </a:rPr>
              <a:t>Nachtschicht</a:t>
            </a:r>
            <a:endParaRPr lang="en-US" sz="1700" dirty="0"/>
          </a:p>
        </p:txBody>
      </p:sp>
      <p:sp>
        <p:nvSpPr>
          <p:cNvPr id="7" name="Text 4"/>
          <p:cNvSpPr txBox="1"/>
          <p:nvPr/>
        </p:nvSpPr>
        <p:spPr>
          <a:xfrm>
            <a:off x="868680" y="5806440"/>
            <a:ext cx="2926080" cy="2743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Kunden · Leitstelle · Einsätze</a:t>
            </a:r>
            <a:endParaRPr lang="en-US" sz="1200" dirty="0"/>
          </a:p>
        </p:txBody>
      </p:sp>
      <p:pic>
        <p:nvPicPr>
          <p:cNvPr id="8" name="Image 1" descr="/home/user/Marlene/poleschak-social-media/vorlagen/export/karussell-schwachstellen-1.png">    </p:cNvPr>
          <p:cNvPicPr>
            <a:picLocks noChangeAspect="1"/>
          </p:cNvPicPr>
          <p:nvPr/>
        </p:nvPicPr>
        <p:blipFill>
          <a:blip r:embed="rId2"/>
          <a:stretch>
            <a:fillRect/>
          </a:stretch>
        </p:blipFill>
        <p:spPr>
          <a:xfrm>
            <a:off x="4526280" y="1783080"/>
            <a:ext cx="2852928" cy="3566160"/>
          </a:xfrm>
          <a:prstGeom prst="rect">
            <a:avLst/>
          </a:prstGeom>
          <a:effectLst>
            <a:outerShdw sx="100000" sy="100000" kx="0" ky="0" algn="bl" rotWithShape="0" blurRad="101600" dist="38100" dir="5400000">
              <a:srgbClr val="000000">
                <a:alpha val="25000"/>
              </a:srgbClr>
            </a:outerShdw>
          </a:effectLst>
        </p:spPr>
      </p:pic>
      <p:sp>
        <p:nvSpPr>
          <p:cNvPr id="9" name="Text 5"/>
          <p:cNvSpPr txBox="1"/>
          <p:nvPr/>
        </p:nvSpPr>
        <p:spPr>
          <a:xfrm>
            <a:off x="4526280" y="5440680"/>
            <a:ext cx="2926080" cy="365760"/>
          </a:xfrm>
          <a:prstGeom prst="rect">
            <a:avLst/>
          </a:prstGeom>
          <a:noFill/>
          <a:ln/>
        </p:spPr>
        <p:txBody>
          <a:bodyPr wrap="square" lIns="0" tIns="0" rIns="0" bIns="0" rtlCol="0" anchor="t"/>
          <a:lstStyle/>
          <a:p>
            <a:pPr indent="0" marL="0">
              <a:buNone/>
            </a:pPr>
            <a:r>
              <a:rPr lang="en-US" sz="1700" dirty="0">
                <a:solidFill>
                  <a:srgbClr val="111111"/>
                </a:solidFill>
                <a:latin typeface="Poppins ExtraBold" pitchFamily="34" charset="0"/>
                <a:ea typeface="Poppins ExtraBold" pitchFamily="34" charset="-122"/>
                <a:cs typeface="Poppins ExtraBold" pitchFamily="34" charset="-120"/>
              </a:rPr>
              <a:t>Wissen</a:t>
            </a:r>
            <a:endParaRPr lang="en-US" sz="1700" dirty="0"/>
          </a:p>
        </p:txBody>
      </p:sp>
      <p:sp>
        <p:nvSpPr>
          <p:cNvPr id="10" name="Text 6"/>
          <p:cNvSpPr txBox="1"/>
          <p:nvPr/>
        </p:nvSpPr>
        <p:spPr>
          <a:xfrm>
            <a:off x="4526280" y="5806440"/>
            <a:ext cx="2926080" cy="2743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Tipps · Mythen · Förderung</a:t>
            </a:r>
            <a:endParaRPr lang="en-US" sz="1200" dirty="0"/>
          </a:p>
        </p:txBody>
      </p:sp>
      <p:pic>
        <p:nvPicPr>
          <p:cNvPr id="11" name="Image 2" descr="/home/user/Marlene/poleschak-social-media/vorlagen/export/post-karriere-praktikum.png">    </p:cNvPr>
          <p:cNvPicPr>
            <a:picLocks noChangeAspect="1"/>
          </p:cNvPicPr>
          <p:nvPr/>
        </p:nvPicPr>
        <p:blipFill>
          <a:blip r:embed="rId3"/>
          <a:stretch>
            <a:fillRect/>
          </a:stretch>
        </p:blipFill>
        <p:spPr>
          <a:xfrm>
            <a:off x="8183880" y="1783080"/>
            <a:ext cx="2852928" cy="3566160"/>
          </a:xfrm>
          <a:prstGeom prst="rect">
            <a:avLst/>
          </a:prstGeom>
          <a:effectLst>
            <a:outerShdw sx="100000" sy="100000" kx="0" ky="0" algn="bl" rotWithShape="0" blurRad="101600" dist="38100" dir="5400000">
              <a:srgbClr val="000000">
                <a:alpha val="25000"/>
              </a:srgbClr>
            </a:outerShdw>
          </a:effectLst>
        </p:spPr>
      </p:pic>
      <p:sp>
        <p:nvSpPr>
          <p:cNvPr id="12" name="Text 7"/>
          <p:cNvSpPr txBox="1"/>
          <p:nvPr/>
        </p:nvSpPr>
        <p:spPr>
          <a:xfrm>
            <a:off x="8183880" y="5440680"/>
            <a:ext cx="2926080" cy="365760"/>
          </a:xfrm>
          <a:prstGeom prst="rect">
            <a:avLst/>
          </a:prstGeom>
          <a:noFill/>
          <a:ln/>
        </p:spPr>
        <p:txBody>
          <a:bodyPr wrap="square" lIns="0" tIns="0" rIns="0" bIns="0" rtlCol="0" anchor="t"/>
          <a:lstStyle/>
          <a:p>
            <a:pPr indent="0" marL="0">
              <a:buNone/>
            </a:pPr>
            <a:r>
              <a:rPr lang="en-US" sz="1700" dirty="0">
                <a:solidFill>
                  <a:srgbClr val="111111"/>
                </a:solidFill>
                <a:latin typeface="Poppins ExtraBold" pitchFamily="34" charset="0"/>
                <a:ea typeface="Poppins ExtraBold" pitchFamily="34" charset="-122"/>
                <a:cs typeface="Poppins ExtraBold" pitchFamily="34" charset="-120"/>
              </a:rPr>
              <a:t>Karriere</a:t>
            </a:r>
            <a:endParaRPr lang="en-US" sz="1700" dirty="0"/>
          </a:p>
        </p:txBody>
      </p:sp>
      <p:sp>
        <p:nvSpPr>
          <p:cNvPr id="13" name="Text 8"/>
          <p:cNvSpPr txBox="1"/>
          <p:nvPr/>
        </p:nvSpPr>
        <p:spPr>
          <a:xfrm>
            <a:off x="8183880" y="5806440"/>
            <a:ext cx="2926080" cy="2743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Azubis · Fachkräfte · Team</a:t>
            </a:r>
            <a:endParaRPr lang="en-US" sz="1200" dirty="0"/>
          </a:p>
        </p:txBody>
      </p:sp>
      <p:pic>
        <p:nvPicPr>
          <p:cNvPr id="14" name="Image 3" descr="/home/user/Marlene/poleschak-social-media/assets/logo-transparent.png">    </p:cNvPr>
          <p:cNvPicPr>
            <a:picLocks noChangeAspect="1"/>
          </p:cNvPicPr>
          <p:nvPr/>
        </p:nvPicPr>
        <p:blipFill>
          <a:blip r:embed="rId4"/>
          <a:stretch>
            <a:fillRect/>
          </a:stretch>
        </p:blipFill>
        <p:spPr>
          <a:xfrm>
            <a:off x="685800" y="6291072"/>
            <a:ext cx="643680" cy="329184"/>
          </a:xfrm>
          <a:prstGeom prst="rect">
            <a:avLst/>
          </a:prstGeom>
        </p:spPr>
      </p:pic>
      <p:sp>
        <p:nvSpPr>
          <p:cNvPr id="15" name="Text 9"/>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PROFIL-RELAUNCH</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Der erste Eindruck in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3 Sekunden.</a:t>
            </a:r>
            <a:endParaRPr lang="en-US" sz="3400" dirty="0"/>
          </a:p>
        </p:txBody>
      </p:sp>
      <p:pic>
        <p:nvPicPr>
          <p:cNvPr id="5" name="Image 0" descr="/tmp/claude-0/-home-user-Marlene/67342075-d45e-5dfd-8246-b97e829a8c42/scratchpad/deck/img/ig-mockup.png">    </p:cNvPr>
          <p:cNvPicPr>
            <a:picLocks noChangeAspect="1"/>
          </p:cNvPicPr>
          <p:nvPr/>
        </p:nvPicPr>
        <p:blipFill>
          <a:blip r:embed="rId1"/>
          <a:stretch>
            <a:fillRect/>
          </a:stretch>
        </p:blipFill>
        <p:spPr>
          <a:xfrm>
            <a:off x="685800" y="1783080"/>
            <a:ext cx="4229463" cy="4297680"/>
          </a:xfrm>
          <a:prstGeom prst="rect">
            <a:avLst/>
          </a:prstGeom>
        </p:spPr>
      </p:pic>
      <p:sp>
        <p:nvSpPr>
          <p:cNvPr id="6" name="Shape 3"/>
          <p:cNvSpPr/>
          <p:nvPr/>
        </p:nvSpPr>
        <p:spPr>
          <a:xfrm>
            <a:off x="5463903" y="1828800"/>
            <a:ext cx="502920" cy="502920"/>
          </a:xfrm>
          <a:prstGeom prst="ellipse">
            <a:avLst/>
          </a:prstGeom>
          <a:solidFill>
            <a:srgbClr val="EB5A1B"/>
          </a:solidFill>
          <a:ln w="12700">
            <a:solidFill>
              <a:srgbClr val="EB5A1B"/>
            </a:solidFill>
            <a:prstDash val="solid"/>
          </a:ln>
        </p:spPr>
      </p:sp>
      <p:pic>
        <p:nvPicPr>
          <p:cNvPr id="7" name="Image 1" descr="/tmp/claude-0/-home-user-Marlene/67342075-d45e-5dfd-8246-b97e829a8c42/scratchpad/deck/img/FaBolt-w.png">    </p:cNvPr>
          <p:cNvPicPr>
            <a:picLocks noChangeAspect="1"/>
          </p:cNvPicPr>
          <p:nvPr/>
        </p:nvPicPr>
        <p:blipFill>
          <a:blip r:embed="rId2"/>
          <a:stretch>
            <a:fillRect/>
          </a:stretch>
        </p:blipFill>
        <p:spPr>
          <a:xfrm>
            <a:off x="5594662" y="1959559"/>
            <a:ext cx="241402" cy="241402"/>
          </a:xfrm>
          <a:prstGeom prst="rect">
            <a:avLst/>
          </a:prstGeom>
        </p:spPr>
      </p:pic>
      <p:sp>
        <p:nvSpPr>
          <p:cNvPr id="8" name="Text 4"/>
          <p:cNvSpPr txBox="1"/>
          <p:nvPr/>
        </p:nvSpPr>
        <p:spPr>
          <a:xfrm>
            <a:off x="6149703" y="1810512"/>
            <a:ext cx="4754880" cy="32004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Profilbild: das Signal</a:t>
            </a:r>
            <a:endParaRPr lang="en-US" sz="1500" dirty="0"/>
          </a:p>
        </p:txBody>
      </p:sp>
      <p:sp>
        <p:nvSpPr>
          <p:cNvPr id="9" name="Text 5"/>
          <p:cNvSpPr txBox="1"/>
          <p:nvPr/>
        </p:nvSpPr>
        <p:spPr>
          <a:xfrm>
            <a:off x="6149703" y="2121408"/>
            <a:ext cx="4754880" cy="3200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wiedererkennbar im Feed und in Stories</a:t>
            </a:r>
            <a:endParaRPr lang="en-US" sz="1200" dirty="0"/>
          </a:p>
        </p:txBody>
      </p:sp>
      <p:sp>
        <p:nvSpPr>
          <p:cNvPr id="10" name="Shape 6"/>
          <p:cNvSpPr/>
          <p:nvPr/>
        </p:nvSpPr>
        <p:spPr>
          <a:xfrm>
            <a:off x="5463903" y="2651760"/>
            <a:ext cx="502920" cy="502920"/>
          </a:xfrm>
          <a:prstGeom prst="ellipse">
            <a:avLst/>
          </a:prstGeom>
          <a:solidFill>
            <a:srgbClr val="EB5A1B"/>
          </a:solidFill>
          <a:ln w="12700">
            <a:solidFill>
              <a:srgbClr val="EB5A1B"/>
            </a:solidFill>
            <a:prstDash val="solid"/>
          </a:ln>
        </p:spPr>
      </p:sp>
      <p:pic>
        <p:nvPicPr>
          <p:cNvPr id="11" name="Image 2" descr="/tmp/claude-0/-home-user-Marlene/67342075-d45e-5dfd-8246-b97e829a8c42/scratchpad/deck/img/FaListCheck-w.png">    </p:cNvPr>
          <p:cNvPicPr>
            <a:picLocks noChangeAspect="1"/>
          </p:cNvPicPr>
          <p:nvPr/>
        </p:nvPicPr>
        <p:blipFill>
          <a:blip r:embed="rId3"/>
          <a:stretch>
            <a:fillRect/>
          </a:stretch>
        </p:blipFill>
        <p:spPr>
          <a:xfrm>
            <a:off x="5594662" y="2782519"/>
            <a:ext cx="241402" cy="241402"/>
          </a:xfrm>
          <a:prstGeom prst="rect">
            <a:avLst/>
          </a:prstGeom>
        </p:spPr>
      </p:pic>
      <p:sp>
        <p:nvSpPr>
          <p:cNvPr id="12" name="Text 7"/>
          <p:cNvSpPr txBox="1"/>
          <p:nvPr/>
        </p:nvSpPr>
        <p:spPr>
          <a:xfrm>
            <a:off x="6149703" y="2633472"/>
            <a:ext cx="4754880" cy="32004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Bio in 4 Zeilen</a:t>
            </a:r>
            <a:endParaRPr lang="en-US" sz="1500" dirty="0"/>
          </a:p>
        </p:txBody>
      </p:sp>
      <p:sp>
        <p:nvSpPr>
          <p:cNvPr id="13" name="Text 8"/>
          <p:cNvSpPr txBox="1"/>
          <p:nvPr/>
        </p:nvSpPr>
        <p:spPr>
          <a:xfrm>
            <a:off x="6149703" y="2944368"/>
            <a:ext cx="4754880" cy="3200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Versprechen · Leistungen · seit 1975 &amp; Region · Handlung</a:t>
            </a:r>
            <a:endParaRPr lang="en-US" sz="1200" dirty="0"/>
          </a:p>
        </p:txBody>
      </p:sp>
      <p:sp>
        <p:nvSpPr>
          <p:cNvPr id="14" name="Shape 9"/>
          <p:cNvSpPr/>
          <p:nvPr/>
        </p:nvSpPr>
        <p:spPr>
          <a:xfrm>
            <a:off x="5463903" y="3474720"/>
            <a:ext cx="502920" cy="502920"/>
          </a:xfrm>
          <a:prstGeom prst="ellipse">
            <a:avLst/>
          </a:prstGeom>
          <a:solidFill>
            <a:srgbClr val="EB5A1B"/>
          </a:solidFill>
          <a:ln w="12700">
            <a:solidFill>
              <a:srgbClr val="EB5A1B"/>
            </a:solidFill>
            <a:prstDash val="solid"/>
          </a:ln>
        </p:spPr>
      </p:sp>
      <p:pic>
        <p:nvPicPr>
          <p:cNvPr id="15" name="Image 3" descr="/tmp/claude-0/-home-user-Marlene/67342075-d45e-5dfd-8246-b97e829a8c42/scratchpad/deck/img/FaStar-w.png">    </p:cNvPr>
          <p:cNvPicPr>
            <a:picLocks noChangeAspect="1"/>
          </p:cNvPicPr>
          <p:nvPr/>
        </p:nvPicPr>
        <p:blipFill>
          <a:blip r:embed="rId4"/>
          <a:stretch>
            <a:fillRect/>
          </a:stretch>
        </p:blipFill>
        <p:spPr>
          <a:xfrm>
            <a:off x="5594662" y="3605479"/>
            <a:ext cx="241402" cy="241402"/>
          </a:xfrm>
          <a:prstGeom prst="rect">
            <a:avLst/>
          </a:prstGeom>
        </p:spPr>
      </p:pic>
      <p:sp>
        <p:nvSpPr>
          <p:cNvPr id="16" name="Text 10"/>
          <p:cNvSpPr txBox="1"/>
          <p:nvPr/>
        </p:nvSpPr>
        <p:spPr>
          <a:xfrm>
            <a:off x="6149703" y="3456432"/>
            <a:ext cx="4754880" cy="32004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Highlights</a:t>
            </a:r>
            <a:endParaRPr lang="en-US" sz="1500" dirty="0"/>
          </a:p>
        </p:txBody>
      </p:sp>
      <p:sp>
        <p:nvSpPr>
          <p:cNvPr id="17" name="Text 11"/>
          <p:cNvSpPr txBox="1"/>
          <p:nvPr/>
        </p:nvSpPr>
        <p:spPr>
          <a:xfrm>
            <a:off x="6149703" y="3767328"/>
            <a:ext cx="4754880" cy="3200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Über uns · Leitstelle · Karriere · Tipps · Kunden</a:t>
            </a:r>
            <a:endParaRPr lang="en-US" sz="1200" dirty="0"/>
          </a:p>
        </p:txBody>
      </p:sp>
      <p:sp>
        <p:nvSpPr>
          <p:cNvPr id="18" name="Shape 12"/>
          <p:cNvSpPr/>
          <p:nvPr/>
        </p:nvSpPr>
        <p:spPr>
          <a:xfrm>
            <a:off x="5463903" y="4297680"/>
            <a:ext cx="502920" cy="502920"/>
          </a:xfrm>
          <a:prstGeom prst="ellipse">
            <a:avLst/>
          </a:prstGeom>
          <a:solidFill>
            <a:srgbClr val="EB5A1B"/>
          </a:solidFill>
          <a:ln w="12700">
            <a:solidFill>
              <a:srgbClr val="EB5A1B"/>
            </a:solidFill>
            <a:prstDash val="solid"/>
          </a:ln>
        </p:spPr>
      </p:sp>
      <p:pic>
        <p:nvPicPr>
          <p:cNvPr id="19" name="Image 4" descr="/tmp/claude-0/-home-user-Marlene/67342075-d45e-5dfd-8246-b97e829a8c42/scratchpad/deck/img/FaWhatsapp-w.png">    </p:cNvPr>
          <p:cNvPicPr>
            <a:picLocks noChangeAspect="1"/>
          </p:cNvPicPr>
          <p:nvPr/>
        </p:nvPicPr>
        <p:blipFill>
          <a:blip r:embed="rId5"/>
          <a:stretch>
            <a:fillRect/>
          </a:stretch>
        </p:blipFill>
        <p:spPr>
          <a:xfrm>
            <a:off x="5594662" y="4428439"/>
            <a:ext cx="241402" cy="241402"/>
          </a:xfrm>
          <a:prstGeom prst="rect">
            <a:avLst/>
          </a:prstGeom>
        </p:spPr>
      </p:pic>
      <p:sp>
        <p:nvSpPr>
          <p:cNvPr id="20" name="Text 13"/>
          <p:cNvSpPr txBox="1"/>
          <p:nvPr/>
        </p:nvSpPr>
        <p:spPr>
          <a:xfrm>
            <a:off x="6149703" y="4279392"/>
            <a:ext cx="4754880" cy="32004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WhatsApp als Haupt-Button</a:t>
            </a:r>
            <a:endParaRPr lang="en-US" sz="1500" dirty="0"/>
          </a:p>
        </p:txBody>
      </p:sp>
      <p:sp>
        <p:nvSpPr>
          <p:cNvPr id="21" name="Text 14"/>
          <p:cNvSpPr txBox="1"/>
          <p:nvPr/>
        </p:nvSpPr>
        <p:spPr>
          <a:xfrm>
            <a:off x="6149703" y="4590288"/>
            <a:ext cx="4754880" cy="3200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niedrigste Hürde für Kunden und Azubis</a:t>
            </a:r>
            <a:endParaRPr lang="en-US" sz="1200" dirty="0"/>
          </a:p>
        </p:txBody>
      </p:sp>
      <p:sp>
        <p:nvSpPr>
          <p:cNvPr id="22" name="Shape 15"/>
          <p:cNvSpPr/>
          <p:nvPr/>
        </p:nvSpPr>
        <p:spPr>
          <a:xfrm>
            <a:off x="5463903" y="5120640"/>
            <a:ext cx="502920" cy="502920"/>
          </a:xfrm>
          <a:prstGeom prst="ellipse">
            <a:avLst/>
          </a:prstGeom>
          <a:solidFill>
            <a:srgbClr val="EB5A1B"/>
          </a:solidFill>
          <a:ln w="12700">
            <a:solidFill>
              <a:srgbClr val="EB5A1B"/>
            </a:solidFill>
            <a:prstDash val="solid"/>
          </a:ln>
        </p:spPr>
      </p:sp>
      <p:pic>
        <p:nvPicPr>
          <p:cNvPr id="23" name="Image 5" descr="/tmp/claude-0/-home-user-Marlene/67342075-d45e-5dfd-8246-b97e829a8c42/scratchpad/deck/img/FaLock-w.png">    </p:cNvPr>
          <p:cNvPicPr>
            <a:picLocks noChangeAspect="1"/>
          </p:cNvPicPr>
          <p:nvPr/>
        </p:nvPicPr>
        <p:blipFill>
          <a:blip r:embed="rId6"/>
          <a:stretch>
            <a:fillRect/>
          </a:stretch>
        </p:blipFill>
        <p:spPr>
          <a:xfrm>
            <a:off x="5594662" y="5251399"/>
            <a:ext cx="241402" cy="241402"/>
          </a:xfrm>
          <a:prstGeom prst="rect">
            <a:avLst/>
          </a:prstGeom>
        </p:spPr>
      </p:pic>
      <p:sp>
        <p:nvSpPr>
          <p:cNvPr id="24" name="Text 16"/>
          <p:cNvSpPr txBox="1"/>
          <p:nvPr/>
        </p:nvSpPr>
        <p:spPr>
          <a:xfrm>
            <a:off x="6149703" y="5102352"/>
            <a:ext cx="4754880" cy="320040"/>
          </a:xfrm>
          <a:prstGeom prst="rect">
            <a:avLst/>
          </a:prstGeom>
          <a:noFill/>
          <a:ln/>
        </p:spPr>
        <p:txBody>
          <a:bodyPr wrap="square" lIns="0" tIns="0" rIns="0" bIns="0" rtlCol="0" anchor="t"/>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Kein Notrufkanal</a:t>
            </a:r>
            <a:endParaRPr lang="en-US" sz="1500" dirty="0"/>
          </a:p>
        </p:txBody>
      </p:sp>
      <p:sp>
        <p:nvSpPr>
          <p:cNvPr id="25" name="Text 17"/>
          <p:cNvSpPr txBox="1"/>
          <p:nvPr/>
        </p:nvSpPr>
        <p:spPr>
          <a:xfrm>
            <a:off x="6149703" y="5413248"/>
            <a:ext cx="4754880" cy="3200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automatische Antwort verweist auf 110 und die Leitstelle</a:t>
            </a:r>
            <a:endParaRPr lang="en-US" sz="1200" dirty="0"/>
          </a:p>
        </p:txBody>
      </p:sp>
      <p:pic>
        <p:nvPicPr>
          <p:cNvPr id="26" name="Image 6" descr="/home/user/Marlene/poleschak-social-media/assets/logo-negativ.png">    </p:cNvPr>
          <p:cNvPicPr>
            <a:picLocks noChangeAspect="1"/>
          </p:cNvPicPr>
          <p:nvPr/>
        </p:nvPicPr>
        <p:blipFill>
          <a:blip r:embed="rId7"/>
          <a:stretch>
            <a:fillRect/>
          </a:stretch>
        </p:blipFill>
        <p:spPr>
          <a:xfrm>
            <a:off x="685800" y="6291072"/>
            <a:ext cx="643680" cy="329184"/>
          </a:xfrm>
          <a:prstGeom prst="rect">
            <a:avLst/>
          </a:prstGeom>
        </p:spPr>
      </p:pic>
      <p:sp>
        <p:nvSpPr>
          <p:cNvPr id="27" name="Text 18"/>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STRATEGIE</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Fünf Content-Säulen.</a:t>
            </a:r>
            <a:endParaRPr lang="en-US" sz="3400" dirty="0"/>
          </a:p>
        </p:txBody>
      </p:sp>
      <p:sp>
        <p:nvSpPr>
          <p:cNvPr id="5" name="Shape 3"/>
          <p:cNvSpPr/>
          <p:nvPr/>
        </p:nvSpPr>
        <p:spPr>
          <a:xfrm>
            <a:off x="685800" y="1920240"/>
            <a:ext cx="2011680" cy="3291840"/>
          </a:xfrm>
          <a:prstGeom prst="roundRect">
            <a:avLst>
              <a:gd name="adj" fmla="val 5455"/>
            </a:avLst>
          </a:prstGeom>
          <a:solidFill>
            <a:srgbClr val="111111"/>
          </a:solidFill>
          <a:ln w="12700">
            <a:solidFill>
              <a:srgbClr val="111111"/>
            </a:solidFill>
            <a:prstDash val="solid"/>
          </a:ln>
        </p:spPr>
      </p:sp>
      <p:sp>
        <p:nvSpPr>
          <p:cNvPr id="6" name="Shape 4"/>
          <p:cNvSpPr/>
          <p:nvPr/>
        </p:nvSpPr>
        <p:spPr>
          <a:xfrm>
            <a:off x="960120" y="2194560"/>
            <a:ext cx="594360" cy="59436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Headset-w.png">    </p:cNvPr>
          <p:cNvPicPr>
            <a:picLocks noChangeAspect="1"/>
          </p:cNvPicPr>
          <p:nvPr/>
        </p:nvPicPr>
        <p:blipFill>
          <a:blip r:embed="rId1"/>
          <a:stretch>
            <a:fillRect/>
          </a:stretch>
        </p:blipFill>
        <p:spPr>
          <a:xfrm>
            <a:off x="1114654" y="2349094"/>
            <a:ext cx="285293" cy="285293"/>
          </a:xfrm>
          <a:prstGeom prst="rect">
            <a:avLst/>
          </a:prstGeom>
        </p:spPr>
      </p:pic>
      <p:sp>
        <p:nvSpPr>
          <p:cNvPr id="8" name="Text 5"/>
          <p:cNvSpPr txBox="1"/>
          <p:nvPr/>
        </p:nvSpPr>
        <p:spPr>
          <a:xfrm>
            <a:off x="960120" y="3017520"/>
            <a:ext cx="1600200" cy="731520"/>
          </a:xfrm>
          <a:prstGeom prst="rect">
            <a:avLst/>
          </a:prstGeom>
          <a:noFill/>
          <a:ln/>
        </p:spPr>
        <p:txBody>
          <a:bodyPr wrap="square" lIns="0" tIns="0" rIns="0" bIns="0" rtlCol="0" anchor="t"/>
          <a:lstStyle/>
          <a:p>
            <a:pPr indent="0" marL="0">
              <a:buNone/>
            </a:pPr>
            <a:r>
              <a:rPr lang="en-US" sz="1500" dirty="0">
                <a:solidFill>
                  <a:srgbClr val="FFFFFF"/>
                </a:solidFill>
                <a:latin typeface="Poppins ExtraBold" pitchFamily="34" charset="0"/>
                <a:ea typeface="Poppins ExtraBold" pitchFamily="34" charset="-122"/>
                <a:cs typeface="Poppins ExtraBold" pitchFamily="34" charset="-120"/>
              </a:rPr>
              <a:t>Aus der Leitstelle</a:t>
            </a:r>
            <a:endParaRPr lang="en-US" sz="1500" dirty="0"/>
          </a:p>
        </p:txBody>
      </p:sp>
      <p:sp>
        <p:nvSpPr>
          <p:cNvPr id="9" name="Text 6"/>
          <p:cNvSpPr txBox="1"/>
          <p:nvPr/>
        </p:nvSpPr>
        <p:spPr>
          <a:xfrm>
            <a:off x="960120" y="3794760"/>
            <a:ext cx="1600200" cy="11887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Nachtschicht, Alarmablauf, unser Versprechen</a:t>
            </a:r>
            <a:endParaRPr lang="en-US" sz="1200" dirty="0"/>
          </a:p>
        </p:txBody>
      </p:sp>
      <p:sp>
        <p:nvSpPr>
          <p:cNvPr id="10" name="Shape 7"/>
          <p:cNvSpPr/>
          <p:nvPr/>
        </p:nvSpPr>
        <p:spPr>
          <a:xfrm>
            <a:off x="2880360" y="1920240"/>
            <a:ext cx="2011680" cy="3291840"/>
          </a:xfrm>
          <a:prstGeom prst="roundRect">
            <a:avLst>
              <a:gd name="adj" fmla="val 5455"/>
            </a:avLst>
          </a:prstGeom>
          <a:solidFill>
            <a:srgbClr val="F4F4F4"/>
          </a:solidFill>
          <a:ln w="12700">
            <a:solidFill>
              <a:srgbClr val="F4F4F4"/>
            </a:solidFill>
            <a:prstDash val="solid"/>
          </a:ln>
        </p:spPr>
      </p:sp>
      <p:sp>
        <p:nvSpPr>
          <p:cNvPr id="11" name="Shape 8"/>
          <p:cNvSpPr/>
          <p:nvPr/>
        </p:nvSpPr>
        <p:spPr>
          <a:xfrm>
            <a:off x="3154680" y="2194560"/>
            <a:ext cx="594360" cy="594360"/>
          </a:xfrm>
          <a:prstGeom prst="ellipse">
            <a:avLst/>
          </a:prstGeom>
          <a:solidFill>
            <a:srgbClr val="EB5A1B"/>
          </a:solidFill>
          <a:ln w="12700">
            <a:solidFill>
              <a:srgbClr val="EB5A1B"/>
            </a:solidFill>
            <a:prstDash val="solid"/>
          </a:ln>
        </p:spPr>
      </p:sp>
      <p:pic>
        <p:nvPicPr>
          <p:cNvPr id="12" name="Image 1" descr="/tmp/claude-0/-home-user-Marlene/67342075-d45e-5dfd-8246-b97e829a8c42/scratchpad/deck/img/FaLightbulb-w.png">    </p:cNvPr>
          <p:cNvPicPr>
            <a:picLocks noChangeAspect="1"/>
          </p:cNvPicPr>
          <p:nvPr/>
        </p:nvPicPr>
        <p:blipFill>
          <a:blip r:embed="rId2"/>
          <a:stretch>
            <a:fillRect/>
          </a:stretch>
        </p:blipFill>
        <p:spPr>
          <a:xfrm>
            <a:off x="3309214" y="2349094"/>
            <a:ext cx="285293" cy="285293"/>
          </a:xfrm>
          <a:prstGeom prst="rect">
            <a:avLst/>
          </a:prstGeom>
        </p:spPr>
      </p:pic>
      <p:sp>
        <p:nvSpPr>
          <p:cNvPr id="13" name="Text 9"/>
          <p:cNvSpPr txBox="1"/>
          <p:nvPr/>
        </p:nvSpPr>
        <p:spPr>
          <a:xfrm>
            <a:off x="3154680" y="3017520"/>
            <a:ext cx="1600200" cy="731520"/>
          </a:xfrm>
          <a:prstGeom prst="rect">
            <a:avLst/>
          </a:prstGeom>
          <a:noFill/>
          <a:ln/>
        </p:spPr>
        <p:txBody>
          <a:bodyPr wrap="square" lIns="0" tIns="0" rIns="0" bIns="0" rtlCol="0" anchor="t"/>
          <a:lstStyle/>
          <a:p>
            <a:pPr indent="0" marL="0">
              <a:buNone/>
            </a:pPr>
            <a:r>
              <a:rPr lang="en-US" sz="1500" dirty="0">
                <a:solidFill>
                  <a:srgbClr val="111111"/>
                </a:solidFill>
                <a:latin typeface="Poppins ExtraBold" pitchFamily="34" charset="0"/>
                <a:ea typeface="Poppins ExtraBold" pitchFamily="34" charset="-122"/>
                <a:cs typeface="Poppins ExtraBold" pitchFamily="34" charset="-120"/>
              </a:rPr>
              <a:t>Sicher wissen</a:t>
            </a:r>
            <a:endParaRPr lang="en-US" sz="1500" dirty="0"/>
          </a:p>
        </p:txBody>
      </p:sp>
      <p:sp>
        <p:nvSpPr>
          <p:cNvPr id="14" name="Text 10"/>
          <p:cNvSpPr txBox="1"/>
          <p:nvPr/>
        </p:nvSpPr>
        <p:spPr>
          <a:xfrm>
            <a:off x="3154680" y="3794760"/>
            <a:ext cx="1600200" cy="11887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Tipps, Mythen und Förderung, ruhig erklärt</a:t>
            </a:r>
            <a:endParaRPr lang="en-US" sz="1200" dirty="0"/>
          </a:p>
        </p:txBody>
      </p:sp>
      <p:sp>
        <p:nvSpPr>
          <p:cNvPr id="15" name="Shape 11"/>
          <p:cNvSpPr/>
          <p:nvPr/>
        </p:nvSpPr>
        <p:spPr>
          <a:xfrm>
            <a:off x="5074920" y="1920240"/>
            <a:ext cx="2011680" cy="3291840"/>
          </a:xfrm>
          <a:prstGeom prst="roundRect">
            <a:avLst>
              <a:gd name="adj" fmla="val 5455"/>
            </a:avLst>
          </a:prstGeom>
          <a:solidFill>
            <a:srgbClr val="F4F4F4"/>
          </a:solidFill>
          <a:ln w="12700">
            <a:solidFill>
              <a:srgbClr val="F4F4F4"/>
            </a:solidFill>
            <a:prstDash val="solid"/>
          </a:ln>
        </p:spPr>
      </p:sp>
      <p:sp>
        <p:nvSpPr>
          <p:cNvPr id="16" name="Shape 12"/>
          <p:cNvSpPr/>
          <p:nvPr/>
        </p:nvSpPr>
        <p:spPr>
          <a:xfrm>
            <a:off x="5349240" y="2194560"/>
            <a:ext cx="594360" cy="594360"/>
          </a:xfrm>
          <a:prstGeom prst="ellipse">
            <a:avLst/>
          </a:prstGeom>
          <a:solidFill>
            <a:srgbClr val="EB5A1B"/>
          </a:solidFill>
          <a:ln w="12700">
            <a:solidFill>
              <a:srgbClr val="EB5A1B"/>
            </a:solidFill>
            <a:prstDash val="solid"/>
          </a:ln>
        </p:spPr>
      </p:sp>
      <p:pic>
        <p:nvPicPr>
          <p:cNvPr id="17" name="Image 2" descr="/tmp/claude-0/-home-user-Marlene/67342075-d45e-5dfd-8246-b97e829a8c42/scratchpad/deck/img/FaUserGraduate-w.png">    </p:cNvPr>
          <p:cNvPicPr>
            <a:picLocks noChangeAspect="1"/>
          </p:cNvPicPr>
          <p:nvPr/>
        </p:nvPicPr>
        <p:blipFill>
          <a:blip r:embed="rId3"/>
          <a:stretch>
            <a:fillRect/>
          </a:stretch>
        </p:blipFill>
        <p:spPr>
          <a:xfrm>
            <a:off x="5503774" y="2349094"/>
            <a:ext cx="285293" cy="285293"/>
          </a:xfrm>
          <a:prstGeom prst="rect">
            <a:avLst/>
          </a:prstGeom>
        </p:spPr>
      </p:pic>
      <p:sp>
        <p:nvSpPr>
          <p:cNvPr id="18" name="Text 13"/>
          <p:cNvSpPr txBox="1"/>
          <p:nvPr/>
        </p:nvSpPr>
        <p:spPr>
          <a:xfrm>
            <a:off x="5349240" y="3017520"/>
            <a:ext cx="1600200" cy="731520"/>
          </a:xfrm>
          <a:prstGeom prst="rect">
            <a:avLst/>
          </a:prstGeom>
          <a:noFill/>
          <a:ln/>
        </p:spPr>
        <p:txBody>
          <a:bodyPr wrap="square" lIns="0" tIns="0" rIns="0" bIns="0" rtlCol="0" anchor="t"/>
          <a:lstStyle/>
          <a:p>
            <a:pPr indent="0" marL="0">
              <a:buNone/>
            </a:pPr>
            <a:r>
              <a:rPr lang="en-US" sz="1500" dirty="0">
                <a:solidFill>
                  <a:srgbClr val="111111"/>
                </a:solidFill>
                <a:latin typeface="Poppins ExtraBold" pitchFamily="34" charset="0"/>
                <a:ea typeface="Poppins ExtraBold" pitchFamily="34" charset="-122"/>
                <a:cs typeface="Poppins ExtraBold" pitchFamily="34" charset="-120"/>
              </a:rPr>
              <a:t>Mach Alarm. Beruflich.</a:t>
            </a:r>
            <a:endParaRPr lang="en-US" sz="1500" dirty="0"/>
          </a:p>
        </p:txBody>
      </p:sp>
      <p:sp>
        <p:nvSpPr>
          <p:cNvPr id="19" name="Text 14"/>
          <p:cNvSpPr txBox="1"/>
          <p:nvPr/>
        </p:nvSpPr>
        <p:spPr>
          <a:xfrm>
            <a:off x="5349240" y="3794760"/>
            <a:ext cx="1600200" cy="11887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Ausbildung, Jobs und der Alltag im Team</a:t>
            </a:r>
            <a:endParaRPr lang="en-US" sz="1200" dirty="0"/>
          </a:p>
        </p:txBody>
      </p:sp>
      <p:sp>
        <p:nvSpPr>
          <p:cNvPr id="20" name="Shape 15"/>
          <p:cNvSpPr/>
          <p:nvPr/>
        </p:nvSpPr>
        <p:spPr>
          <a:xfrm>
            <a:off x="7269480" y="1920240"/>
            <a:ext cx="2011680" cy="3291840"/>
          </a:xfrm>
          <a:prstGeom prst="roundRect">
            <a:avLst>
              <a:gd name="adj" fmla="val 5455"/>
            </a:avLst>
          </a:prstGeom>
          <a:solidFill>
            <a:srgbClr val="F4F4F4"/>
          </a:solidFill>
          <a:ln w="12700">
            <a:solidFill>
              <a:srgbClr val="F4F4F4"/>
            </a:solidFill>
            <a:prstDash val="solid"/>
          </a:ln>
        </p:spPr>
      </p:sp>
      <p:sp>
        <p:nvSpPr>
          <p:cNvPr id="21" name="Shape 16"/>
          <p:cNvSpPr/>
          <p:nvPr/>
        </p:nvSpPr>
        <p:spPr>
          <a:xfrm>
            <a:off x="7543800" y="2194560"/>
            <a:ext cx="594360" cy="594360"/>
          </a:xfrm>
          <a:prstGeom prst="ellipse">
            <a:avLst/>
          </a:prstGeom>
          <a:solidFill>
            <a:srgbClr val="EB5A1B"/>
          </a:solidFill>
          <a:ln w="12700">
            <a:solidFill>
              <a:srgbClr val="EB5A1B"/>
            </a:solidFill>
            <a:prstDash val="solid"/>
          </a:ln>
        </p:spPr>
      </p:sp>
      <p:pic>
        <p:nvPicPr>
          <p:cNvPr id="22" name="Image 3" descr="/tmp/claude-0/-home-user-Marlene/67342075-d45e-5dfd-8246-b97e829a8c42/scratchpad/deck/img/FaPeopleGroup-w.png">    </p:cNvPr>
          <p:cNvPicPr>
            <a:picLocks noChangeAspect="1"/>
          </p:cNvPicPr>
          <p:nvPr/>
        </p:nvPicPr>
        <p:blipFill>
          <a:blip r:embed="rId4"/>
          <a:stretch>
            <a:fillRect/>
          </a:stretch>
        </p:blipFill>
        <p:spPr>
          <a:xfrm>
            <a:off x="7698334" y="2349094"/>
            <a:ext cx="285293" cy="285293"/>
          </a:xfrm>
          <a:prstGeom prst="rect">
            <a:avLst/>
          </a:prstGeom>
        </p:spPr>
      </p:pic>
      <p:sp>
        <p:nvSpPr>
          <p:cNvPr id="23" name="Text 17"/>
          <p:cNvSpPr txBox="1"/>
          <p:nvPr/>
        </p:nvSpPr>
        <p:spPr>
          <a:xfrm>
            <a:off x="7543800" y="3017520"/>
            <a:ext cx="1600200" cy="731520"/>
          </a:xfrm>
          <a:prstGeom prst="rect">
            <a:avLst/>
          </a:prstGeom>
          <a:noFill/>
          <a:ln/>
        </p:spPr>
        <p:txBody>
          <a:bodyPr wrap="square" lIns="0" tIns="0" rIns="0" bIns="0" rtlCol="0" anchor="t"/>
          <a:lstStyle/>
          <a:p>
            <a:pPr indent="0" marL="0">
              <a:buNone/>
            </a:pPr>
            <a:r>
              <a:rPr lang="en-US" sz="1500" dirty="0">
                <a:solidFill>
                  <a:srgbClr val="111111"/>
                </a:solidFill>
                <a:latin typeface="Poppins ExtraBold" pitchFamily="34" charset="0"/>
                <a:ea typeface="Poppins ExtraBold" pitchFamily="34" charset="-122"/>
                <a:cs typeface="Poppins ExtraBold" pitchFamily="34" charset="-120"/>
              </a:rPr>
              <a:t>Familie Poleschak</a:t>
            </a:r>
            <a:endParaRPr lang="en-US" sz="1500" dirty="0"/>
          </a:p>
        </p:txBody>
      </p:sp>
      <p:sp>
        <p:nvSpPr>
          <p:cNvPr id="24" name="Text 18"/>
          <p:cNvSpPr txBox="1"/>
          <p:nvPr/>
        </p:nvSpPr>
        <p:spPr>
          <a:xfrm>
            <a:off x="7543800" y="3794760"/>
            <a:ext cx="1600200" cy="11887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Menschen, Geschichte und Region</a:t>
            </a:r>
            <a:endParaRPr lang="en-US" sz="1200" dirty="0"/>
          </a:p>
        </p:txBody>
      </p:sp>
      <p:sp>
        <p:nvSpPr>
          <p:cNvPr id="25" name="Shape 19"/>
          <p:cNvSpPr/>
          <p:nvPr/>
        </p:nvSpPr>
        <p:spPr>
          <a:xfrm>
            <a:off x="9464040" y="1920240"/>
            <a:ext cx="2011680" cy="3291840"/>
          </a:xfrm>
          <a:prstGeom prst="roundRect">
            <a:avLst>
              <a:gd name="adj" fmla="val 5455"/>
            </a:avLst>
          </a:prstGeom>
          <a:solidFill>
            <a:srgbClr val="F4F4F4"/>
          </a:solidFill>
          <a:ln w="12700">
            <a:solidFill>
              <a:srgbClr val="F4F4F4"/>
            </a:solidFill>
            <a:prstDash val="solid"/>
          </a:ln>
        </p:spPr>
      </p:sp>
      <p:sp>
        <p:nvSpPr>
          <p:cNvPr id="26" name="Shape 20"/>
          <p:cNvSpPr/>
          <p:nvPr/>
        </p:nvSpPr>
        <p:spPr>
          <a:xfrm>
            <a:off x="9738360" y="2194560"/>
            <a:ext cx="594360" cy="594360"/>
          </a:xfrm>
          <a:prstGeom prst="ellipse">
            <a:avLst/>
          </a:prstGeom>
          <a:solidFill>
            <a:srgbClr val="EB5A1B"/>
          </a:solidFill>
          <a:ln w="12700">
            <a:solidFill>
              <a:srgbClr val="EB5A1B"/>
            </a:solidFill>
            <a:prstDash val="solid"/>
          </a:ln>
        </p:spPr>
      </p:sp>
      <p:pic>
        <p:nvPicPr>
          <p:cNvPr id="27" name="Image 4" descr="/tmp/claude-0/-home-user-Marlene/67342075-d45e-5dfd-8246-b97e829a8c42/scratchpad/deck/img/FaStar-w.png">    </p:cNvPr>
          <p:cNvPicPr>
            <a:picLocks noChangeAspect="1"/>
          </p:cNvPicPr>
          <p:nvPr/>
        </p:nvPicPr>
        <p:blipFill>
          <a:blip r:embed="rId5"/>
          <a:stretch>
            <a:fillRect/>
          </a:stretch>
        </p:blipFill>
        <p:spPr>
          <a:xfrm>
            <a:off x="9892894" y="2349094"/>
            <a:ext cx="285293" cy="285293"/>
          </a:xfrm>
          <a:prstGeom prst="rect">
            <a:avLst/>
          </a:prstGeom>
        </p:spPr>
      </p:pic>
      <p:sp>
        <p:nvSpPr>
          <p:cNvPr id="28" name="Text 21"/>
          <p:cNvSpPr txBox="1"/>
          <p:nvPr/>
        </p:nvSpPr>
        <p:spPr>
          <a:xfrm>
            <a:off x="9738360" y="3017520"/>
            <a:ext cx="1600200" cy="731520"/>
          </a:xfrm>
          <a:prstGeom prst="rect">
            <a:avLst/>
          </a:prstGeom>
          <a:noFill/>
          <a:ln/>
        </p:spPr>
        <p:txBody>
          <a:bodyPr wrap="square" lIns="0" tIns="0" rIns="0" bIns="0" rtlCol="0" anchor="t"/>
          <a:lstStyle/>
          <a:p>
            <a:pPr indent="0" marL="0">
              <a:buNone/>
            </a:pPr>
            <a:r>
              <a:rPr lang="en-US" sz="1500" dirty="0">
                <a:solidFill>
                  <a:srgbClr val="111111"/>
                </a:solidFill>
                <a:latin typeface="Poppins ExtraBold" pitchFamily="34" charset="0"/>
                <a:ea typeface="Poppins ExtraBold" pitchFamily="34" charset="-122"/>
                <a:cs typeface="Poppins ExtraBold" pitchFamily="34" charset="-120"/>
              </a:rPr>
              <a:t>Vertrauen</a:t>
            </a:r>
            <a:endParaRPr lang="en-US" sz="1500" dirty="0"/>
          </a:p>
        </p:txBody>
      </p:sp>
      <p:sp>
        <p:nvSpPr>
          <p:cNvPr id="29" name="Text 22"/>
          <p:cNvSpPr txBox="1"/>
          <p:nvPr/>
        </p:nvSpPr>
        <p:spPr>
          <a:xfrm>
            <a:off x="9738360" y="3794760"/>
            <a:ext cx="1600200" cy="11887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Qualität, Auszeichnungen, Stimmen unserer Kunden</a:t>
            </a:r>
            <a:endParaRPr lang="en-US" sz="1200" dirty="0"/>
          </a:p>
        </p:txBody>
      </p:sp>
      <p:sp>
        <p:nvSpPr>
          <p:cNvPr id="30" name="Text 23"/>
          <p:cNvSpPr txBox="1"/>
          <p:nvPr/>
        </p:nvSpPr>
        <p:spPr>
          <a:xfrm>
            <a:off x="685800" y="5486400"/>
            <a:ext cx="10789920" cy="365760"/>
          </a:xfrm>
          <a:prstGeom prst="rect">
            <a:avLst/>
          </a:prstGeom>
          <a:noFill/>
          <a:ln/>
        </p:spPr>
        <p:txBody>
          <a:bodyPr wrap="square" lIns="0" tIns="0" rIns="0" bIns="0" rtlCol="0" anchor="t"/>
          <a:lstStyle/>
          <a:p>
            <a:pPr indent="0" marL="0">
              <a:buNone/>
            </a:pPr>
            <a:r>
              <a:rPr lang="en-US" sz="1400" dirty="0">
                <a:solidFill>
                  <a:srgbClr val="222222"/>
                </a:solidFill>
                <a:latin typeface="Poppins" pitchFamily="34" charset="0"/>
                <a:ea typeface="Poppins" pitchFamily="34" charset="-122"/>
                <a:cs typeface="Poppins" pitchFamily="34" charset="-120"/>
              </a:rPr>
              <a:t>Die Leitstelle ist die kleinste Säule, aber die wichtigste: Sie macht uns unverwechselbar.</a:t>
            </a:r>
            <a:endParaRPr lang="en-US" sz="1400" dirty="0"/>
          </a:p>
        </p:txBody>
      </p:sp>
      <p:pic>
        <p:nvPicPr>
          <p:cNvPr id="31" name="Image 5" descr="/home/user/Marlene/poleschak-social-media/assets/logo-transparent.png">    </p:cNvPr>
          <p:cNvPicPr>
            <a:picLocks noChangeAspect="1"/>
          </p:cNvPicPr>
          <p:nvPr/>
        </p:nvPicPr>
        <p:blipFill>
          <a:blip r:embed="rId6"/>
          <a:stretch>
            <a:fillRect/>
          </a:stretch>
        </p:blipFill>
        <p:spPr>
          <a:xfrm>
            <a:off x="685800" y="6291072"/>
            <a:ext cx="643680" cy="329184"/>
          </a:xfrm>
          <a:prstGeom prst="rect">
            <a:avLst/>
          </a:prstGeom>
        </p:spPr>
      </p:pic>
      <p:sp>
        <p:nvSpPr>
          <p:cNvPr id="32" name="Text 24"/>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FORMATE &amp; RHYTHMUS</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Regelmäßig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statt zufällig.</a:t>
            </a:r>
            <a:endParaRPr lang="en-US" sz="3400" dirty="0"/>
          </a:p>
        </p:txBody>
      </p:sp>
      <p:sp>
        <p:nvSpPr>
          <p:cNvPr id="5" name="Shape 3"/>
          <p:cNvSpPr/>
          <p:nvPr/>
        </p:nvSpPr>
        <p:spPr>
          <a:xfrm>
            <a:off x="685800" y="1828800"/>
            <a:ext cx="2514600" cy="1280160"/>
          </a:xfrm>
          <a:prstGeom prst="roundRect">
            <a:avLst>
              <a:gd name="adj" fmla="val 8571"/>
            </a:avLst>
          </a:prstGeom>
          <a:solidFill>
            <a:srgbClr val="111111"/>
          </a:solidFill>
          <a:ln w="12700">
            <a:solidFill>
              <a:srgbClr val="111111"/>
            </a:solidFill>
            <a:prstDash val="solid"/>
          </a:ln>
        </p:spPr>
      </p:sp>
      <p:sp>
        <p:nvSpPr>
          <p:cNvPr id="6" name="Text 4"/>
          <p:cNvSpPr txBox="1"/>
          <p:nvPr/>
        </p:nvSpPr>
        <p:spPr>
          <a:xfrm>
            <a:off x="960120" y="2011680"/>
            <a:ext cx="2103120" cy="411480"/>
          </a:xfrm>
          <a:prstGeom prst="rect">
            <a:avLst/>
          </a:prstGeom>
          <a:noFill/>
          <a:ln/>
        </p:spPr>
        <p:txBody>
          <a:bodyPr wrap="square" lIns="0" tIns="0" rIns="0" bIns="0" rtlCol="0" anchor="t"/>
          <a:lstStyle/>
          <a:p>
            <a:pPr indent="0" marL="0">
              <a:buNone/>
            </a:pPr>
            <a:r>
              <a:rPr lang="en-US" sz="2000" dirty="0">
                <a:solidFill>
                  <a:srgbClr val="EB5A1B"/>
                </a:solidFill>
                <a:latin typeface="Poppins ExtraBold" pitchFamily="34" charset="0"/>
                <a:ea typeface="Poppins ExtraBold" pitchFamily="34" charset="-122"/>
                <a:cs typeface="Poppins ExtraBold" pitchFamily="34" charset="-120"/>
              </a:rPr>
              <a:t>Reels</a:t>
            </a:r>
            <a:endParaRPr lang="en-US" sz="2000" dirty="0"/>
          </a:p>
        </p:txBody>
      </p:sp>
      <p:sp>
        <p:nvSpPr>
          <p:cNvPr id="7" name="Text 5"/>
          <p:cNvSpPr txBox="1"/>
          <p:nvPr/>
        </p:nvSpPr>
        <p:spPr>
          <a:xfrm>
            <a:off x="960120" y="2468880"/>
            <a:ext cx="2103120" cy="45720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neue Menschen erreichen</a:t>
            </a:r>
            <a:endParaRPr lang="en-US" sz="1300" dirty="0"/>
          </a:p>
        </p:txBody>
      </p:sp>
      <p:sp>
        <p:nvSpPr>
          <p:cNvPr id="8" name="Shape 6"/>
          <p:cNvSpPr/>
          <p:nvPr/>
        </p:nvSpPr>
        <p:spPr>
          <a:xfrm>
            <a:off x="3383280" y="1828800"/>
            <a:ext cx="2514600" cy="1280160"/>
          </a:xfrm>
          <a:prstGeom prst="roundRect">
            <a:avLst>
              <a:gd name="adj" fmla="val 8571"/>
            </a:avLst>
          </a:prstGeom>
          <a:solidFill>
            <a:srgbClr val="F4F4F4"/>
          </a:solidFill>
          <a:ln w="12700">
            <a:solidFill>
              <a:srgbClr val="F4F4F4"/>
            </a:solidFill>
            <a:prstDash val="solid"/>
          </a:ln>
        </p:spPr>
      </p:sp>
      <p:sp>
        <p:nvSpPr>
          <p:cNvPr id="9" name="Text 7"/>
          <p:cNvSpPr txBox="1"/>
          <p:nvPr/>
        </p:nvSpPr>
        <p:spPr>
          <a:xfrm>
            <a:off x="3657600" y="2011680"/>
            <a:ext cx="2103120" cy="411480"/>
          </a:xfrm>
          <a:prstGeom prst="rect">
            <a:avLst/>
          </a:prstGeom>
          <a:noFill/>
          <a:ln/>
        </p:spPr>
        <p:txBody>
          <a:bodyPr wrap="square" lIns="0" tIns="0" rIns="0" bIns="0" rtlCol="0" anchor="t"/>
          <a:lstStyle/>
          <a:p>
            <a:pPr indent="0" marL="0">
              <a:buNone/>
            </a:pPr>
            <a:r>
              <a:rPr lang="en-US" sz="2000" dirty="0">
                <a:solidFill>
                  <a:srgbClr val="111111"/>
                </a:solidFill>
                <a:latin typeface="Poppins ExtraBold" pitchFamily="34" charset="0"/>
                <a:ea typeface="Poppins ExtraBold" pitchFamily="34" charset="-122"/>
                <a:cs typeface="Poppins ExtraBold" pitchFamily="34" charset="-120"/>
              </a:rPr>
              <a:t>Karussells</a:t>
            </a:r>
            <a:endParaRPr lang="en-US" sz="2000" dirty="0"/>
          </a:p>
        </p:txBody>
      </p:sp>
      <p:sp>
        <p:nvSpPr>
          <p:cNvPr id="10" name="Text 8"/>
          <p:cNvSpPr txBox="1"/>
          <p:nvPr/>
        </p:nvSpPr>
        <p:spPr>
          <a:xfrm>
            <a:off x="3657600" y="2468880"/>
            <a:ext cx="2103120" cy="45720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Wissen zum Speichern</a:t>
            </a:r>
            <a:endParaRPr lang="en-US" sz="1300" dirty="0"/>
          </a:p>
        </p:txBody>
      </p:sp>
      <p:sp>
        <p:nvSpPr>
          <p:cNvPr id="11" name="Shape 9"/>
          <p:cNvSpPr/>
          <p:nvPr/>
        </p:nvSpPr>
        <p:spPr>
          <a:xfrm>
            <a:off x="6080760" y="1828800"/>
            <a:ext cx="2514600" cy="1280160"/>
          </a:xfrm>
          <a:prstGeom prst="roundRect">
            <a:avLst>
              <a:gd name="adj" fmla="val 8571"/>
            </a:avLst>
          </a:prstGeom>
          <a:solidFill>
            <a:srgbClr val="F4F4F4"/>
          </a:solidFill>
          <a:ln w="12700">
            <a:solidFill>
              <a:srgbClr val="F4F4F4"/>
            </a:solidFill>
            <a:prstDash val="solid"/>
          </a:ln>
        </p:spPr>
      </p:sp>
      <p:sp>
        <p:nvSpPr>
          <p:cNvPr id="12" name="Text 10"/>
          <p:cNvSpPr txBox="1"/>
          <p:nvPr/>
        </p:nvSpPr>
        <p:spPr>
          <a:xfrm>
            <a:off x="6355080" y="2011680"/>
            <a:ext cx="2103120" cy="411480"/>
          </a:xfrm>
          <a:prstGeom prst="rect">
            <a:avLst/>
          </a:prstGeom>
          <a:noFill/>
          <a:ln/>
        </p:spPr>
        <p:txBody>
          <a:bodyPr wrap="square" lIns="0" tIns="0" rIns="0" bIns="0" rtlCol="0" anchor="t"/>
          <a:lstStyle/>
          <a:p>
            <a:pPr indent="0" marL="0">
              <a:buNone/>
            </a:pPr>
            <a:r>
              <a:rPr lang="en-US" sz="2000" dirty="0">
                <a:solidFill>
                  <a:srgbClr val="111111"/>
                </a:solidFill>
                <a:latin typeface="Poppins ExtraBold" pitchFamily="34" charset="0"/>
                <a:ea typeface="Poppins ExtraBold" pitchFamily="34" charset="-122"/>
                <a:cs typeface="Poppins ExtraBold" pitchFamily="34" charset="-120"/>
              </a:rPr>
              <a:t>Bild-Posts</a:t>
            </a:r>
            <a:endParaRPr lang="en-US" sz="2000" dirty="0"/>
          </a:p>
        </p:txBody>
      </p:sp>
      <p:sp>
        <p:nvSpPr>
          <p:cNvPr id="13" name="Text 11"/>
          <p:cNvSpPr txBox="1"/>
          <p:nvPr/>
        </p:nvSpPr>
        <p:spPr>
          <a:xfrm>
            <a:off x="6355080" y="2468880"/>
            <a:ext cx="2103120" cy="45720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Gesichter und Vertrauen</a:t>
            </a:r>
            <a:endParaRPr lang="en-US" sz="1300" dirty="0"/>
          </a:p>
        </p:txBody>
      </p:sp>
      <p:sp>
        <p:nvSpPr>
          <p:cNvPr id="14" name="Shape 12"/>
          <p:cNvSpPr/>
          <p:nvPr/>
        </p:nvSpPr>
        <p:spPr>
          <a:xfrm>
            <a:off x="8778240" y="1828800"/>
            <a:ext cx="2514600" cy="1280160"/>
          </a:xfrm>
          <a:prstGeom prst="roundRect">
            <a:avLst>
              <a:gd name="adj" fmla="val 8571"/>
            </a:avLst>
          </a:prstGeom>
          <a:solidFill>
            <a:srgbClr val="F4F4F4"/>
          </a:solidFill>
          <a:ln w="12700">
            <a:solidFill>
              <a:srgbClr val="F4F4F4"/>
            </a:solidFill>
            <a:prstDash val="solid"/>
          </a:ln>
        </p:spPr>
      </p:sp>
      <p:sp>
        <p:nvSpPr>
          <p:cNvPr id="15" name="Text 13"/>
          <p:cNvSpPr txBox="1"/>
          <p:nvPr/>
        </p:nvSpPr>
        <p:spPr>
          <a:xfrm>
            <a:off x="9052560" y="2011680"/>
            <a:ext cx="2103120" cy="411480"/>
          </a:xfrm>
          <a:prstGeom prst="rect">
            <a:avLst/>
          </a:prstGeom>
          <a:noFill/>
          <a:ln/>
        </p:spPr>
        <p:txBody>
          <a:bodyPr wrap="square" lIns="0" tIns="0" rIns="0" bIns="0" rtlCol="0" anchor="t"/>
          <a:lstStyle/>
          <a:p>
            <a:pPr indent="0" marL="0">
              <a:buNone/>
            </a:pPr>
            <a:r>
              <a:rPr lang="en-US" sz="2000" dirty="0">
                <a:solidFill>
                  <a:srgbClr val="111111"/>
                </a:solidFill>
                <a:latin typeface="Poppins ExtraBold" pitchFamily="34" charset="0"/>
                <a:ea typeface="Poppins ExtraBold" pitchFamily="34" charset="-122"/>
                <a:cs typeface="Poppins ExtraBold" pitchFamily="34" charset="-120"/>
              </a:rPr>
              <a:t>Stories</a:t>
            </a:r>
            <a:endParaRPr lang="en-US" sz="2000" dirty="0"/>
          </a:p>
        </p:txBody>
      </p:sp>
      <p:sp>
        <p:nvSpPr>
          <p:cNvPr id="16" name="Text 14"/>
          <p:cNvSpPr txBox="1"/>
          <p:nvPr/>
        </p:nvSpPr>
        <p:spPr>
          <a:xfrm>
            <a:off x="9052560" y="2468880"/>
            <a:ext cx="2103120" cy="457200"/>
          </a:xfrm>
          <a:prstGeom prst="rect">
            <a:avLst/>
          </a:prstGeom>
          <a:noFill/>
          <a:ln/>
        </p:spPr>
        <p:txBody>
          <a:bodyPr wrap="square" lIns="0" tIns="0" rIns="0" bIns="0" rtlCol="0" anchor="t"/>
          <a:lstStyle/>
          <a:p>
            <a:pPr indent="0" marL="0">
              <a:buNone/>
            </a:pPr>
            <a:r>
              <a:rPr lang="en-US" sz="1300" dirty="0">
                <a:solidFill>
                  <a:srgbClr val="545559"/>
                </a:solidFill>
                <a:latin typeface="Poppins" pitchFamily="34" charset="0"/>
                <a:ea typeface="Poppins" pitchFamily="34" charset="-122"/>
                <a:cs typeface="Poppins" pitchFamily="34" charset="-120"/>
              </a:rPr>
              <a:t>Nähe und Austausch</a:t>
            </a:r>
            <a:endParaRPr lang="en-US" sz="1300" dirty="0"/>
          </a:p>
        </p:txBody>
      </p:sp>
      <p:sp>
        <p:nvSpPr>
          <p:cNvPr id="17" name="Shape 15"/>
          <p:cNvSpPr/>
          <p:nvPr/>
        </p:nvSpPr>
        <p:spPr>
          <a:xfrm>
            <a:off x="685800" y="3429000"/>
            <a:ext cx="1417320" cy="1325880"/>
          </a:xfrm>
          <a:prstGeom prst="roundRect">
            <a:avLst>
              <a:gd name="adj" fmla="val 8276"/>
            </a:avLst>
          </a:prstGeom>
          <a:solidFill>
            <a:srgbClr val="F4F4F4"/>
          </a:solidFill>
          <a:ln w="12700">
            <a:solidFill>
              <a:srgbClr val="F4F4F4"/>
            </a:solidFill>
            <a:prstDash val="solid"/>
          </a:ln>
        </p:spPr>
      </p:sp>
      <p:sp>
        <p:nvSpPr>
          <p:cNvPr id="18" name="Text 16"/>
          <p:cNvSpPr txBox="1"/>
          <p:nvPr/>
        </p:nvSpPr>
        <p:spPr>
          <a:xfrm>
            <a:off x="685800" y="3566160"/>
            <a:ext cx="1417320" cy="411480"/>
          </a:xfrm>
          <a:prstGeom prst="rect">
            <a:avLst/>
          </a:prstGeom>
          <a:noFill/>
          <a:ln/>
        </p:spPr>
        <p:txBody>
          <a:bodyPr wrap="square" lIns="0" tIns="0" rIns="0" bIns="0" rtlCol="0" anchor="t"/>
          <a:lstStyle/>
          <a:p>
            <a:pPr algn="ctr" indent="0" marL="0">
              <a:buNone/>
            </a:pPr>
            <a:r>
              <a:rPr lang="en-US" sz="2000" dirty="0">
                <a:solidFill>
                  <a:srgbClr val="111111"/>
                </a:solidFill>
                <a:latin typeface="Poppins ExtraBold" pitchFamily="34" charset="0"/>
                <a:ea typeface="Poppins ExtraBold" pitchFamily="34" charset="-122"/>
                <a:cs typeface="Poppins ExtraBold" pitchFamily="34" charset="-120"/>
              </a:rPr>
              <a:t>Mo</a:t>
            </a:r>
            <a:endParaRPr lang="en-US" sz="2000" dirty="0"/>
          </a:p>
        </p:txBody>
      </p:sp>
      <p:sp>
        <p:nvSpPr>
          <p:cNvPr id="19" name="Text 17"/>
          <p:cNvSpPr txBox="1"/>
          <p:nvPr/>
        </p:nvSpPr>
        <p:spPr>
          <a:xfrm>
            <a:off x="685800" y="4160520"/>
            <a:ext cx="1417320" cy="320040"/>
          </a:xfrm>
          <a:prstGeom prst="rect">
            <a:avLst/>
          </a:prstGeom>
          <a:noFill/>
          <a:ln/>
        </p:spPr>
        <p:txBody>
          <a:bodyPr wrap="square" lIns="0" tIns="0" rIns="0" bIns="0" rtlCol="0" anchor="t"/>
          <a:lstStyle/>
          <a:p>
            <a:pPr algn="ctr" indent="0" marL="0">
              <a:buNone/>
            </a:pPr>
            <a:r>
              <a:rPr lang="en-US" sz="1200" dirty="0">
                <a:solidFill>
                  <a:srgbClr val="545559"/>
                </a:solidFill>
                <a:latin typeface="Poppins SemiBold" pitchFamily="34" charset="0"/>
                <a:ea typeface="Poppins SemiBold" pitchFamily="34" charset="-122"/>
                <a:cs typeface="Poppins SemiBold" pitchFamily="34" charset="-120"/>
              </a:rPr>
              <a:t>Story</a:t>
            </a:r>
            <a:endParaRPr lang="en-US" sz="1200" dirty="0"/>
          </a:p>
        </p:txBody>
      </p:sp>
      <p:sp>
        <p:nvSpPr>
          <p:cNvPr id="20" name="Shape 18"/>
          <p:cNvSpPr/>
          <p:nvPr/>
        </p:nvSpPr>
        <p:spPr>
          <a:xfrm>
            <a:off x="2240280" y="3429000"/>
            <a:ext cx="1417320" cy="1325880"/>
          </a:xfrm>
          <a:prstGeom prst="roundRect">
            <a:avLst>
              <a:gd name="adj" fmla="val 8276"/>
            </a:avLst>
          </a:prstGeom>
          <a:solidFill>
            <a:srgbClr val="111111"/>
          </a:solidFill>
          <a:ln w="12700">
            <a:solidFill>
              <a:srgbClr val="111111"/>
            </a:solidFill>
            <a:prstDash val="solid"/>
          </a:ln>
        </p:spPr>
      </p:sp>
      <p:sp>
        <p:nvSpPr>
          <p:cNvPr id="21" name="Text 19"/>
          <p:cNvSpPr txBox="1"/>
          <p:nvPr/>
        </p:nvSpPr>
        <p:spPr>
          <a:xfrm>
            <a:off x="2240280" y="3566160"/>
            <a:ext cx="1417320" cy="411480"/>
          </a:xfrm>
          <a:prstGeom prst="rect">
            <a:avLst/>
          </a:prstGeom>
          <a:noFill/>
          <a:ln/>
        </p:spPr>
        <p:txBody>
          <a:bodyPr wrap="square" lIns="0" tIns="0" rIns="0" bIns="0" rtlCol="0" anchor="t"/>
          <a:lstStyle/>
          <a:p>
            <a:pPr algn="ctr" indent="0" marL="0">
              <a:buNone/>
            </a:pPr>
            <a:r>
              <a:rPr lang="en-US" sz="2000" dirty="0">
                <a:solidFill>
                  <a:srgbClr val="FFFFFF"/>
                </a:solidFill>
                <a:latin typeface="Poppins ExtraBold" pitchFamily="34" charset="0"/>
                <a:ea typeface="Poppins ExtraBold" pitchFamily="34" charset="-122"/>
                <a:cs typeface="Poppins ExtraBold" pitchFamily="34" charset="-120"/>
              </a:rPr>
              <a:t>Di</a:t>
            </a:r>
            <a:endParaRPr lang="en-US" sz="2000" dirty="0"/>
          </a:p>
        </p:txBody>
      </p:sp>
      <p:sp>
        <p:nvSpPr>
          <p:cNvPr id="22" name="Text 20"/>
          <p:cNvSpPr txBox="1"/>
          <p:nvPr/>
        </p:nvSpPr>
        <p:spPr>
          <a:xfrm>
            <a:off x="2240280" y="4160520"/>
            <a:ext cx="1417320" cy="320040"/>
          </a:xfrm>
          <a:prstGeom prst="rect">
            <a:avLst/>
          </a:prstGeom>
          <a:noFill/>
          <a:ln/>
        </p:spPr>
        <p:txBody>
          <a:bodyPr wrap="square" lIns="0" tIns="0" rIns="0" bIns="0" rtlCol="0" anchor="t"/>
          <a:lstStyle/>
          <a:p>
            <a:pPr algn="ctr" indent="0" marL="0">
              <a:buNone/>
            </a:pPr>
            <a:r>
              <a:rPr lang="en-US" sz="1200" dirty="0">
                <a:solidFill>
                  <a:srgbClr val="EB5A1B"/>
                </a:solidFill>
                <a:latin typeface="Poppins SemiBold" pitchFamily="34" charset="0"/>
                <a:ea typeface="Poppins SemiBold" pitchFamily="34" charset="-122"/>
                <a:cs typeface="Poppins SemiBold" pitchFamily="34" charset="-120"/>
              </a:rPr>
              <a:t>Reel</a:t>
            </a:r>
            <a:endParaRPr lang="en-US" sz="1200" dirty="0"/>
          </a:p>
        </p:txBody>
      </p:sp>
      <p:sp>
        <p:nvSpPr>
          <p:cNvPr id="23" name="Shape 21"/>
          <p:cNvSpPr/>
          <p:nvPr/>
        </p:nvSpPr>
        <p:spPr>
          <a:xfrm>
            <a:off x="3794760" y="3429000"/>
            <a:ext cx="1417320" cy="1325880"/>
          </a:xfrm>
          <a:prstGeom prst="roundRect">
            <a:avLst>
              <a:gd name="adj" fmla="val 8276"/>
            </a:avLst>
          </a:prstGeom>
          <a:solidFill>
            <a:srgbClr val="F4F4F4"/>
          </a:solidFill>
          <a:ln w="12700">
            <a:solidFill>
              <a:srgbClr val="F4F4F4"/>
            </a:solidFill>
            <a:prstDash val="solid"/>
          </a:ln>
        </p:spPr>
      </p:sp>
      <p:sp>
        <p:nvSpPr>
          <p:cNvPr id="24" name="Text 22"/>
          <p:cNvSpPr txBox="1"/>
          <p:nvPr/>
        </p:nvSpPr>
        <p:spPr>
          <a:xfrm>
            <a:off x="3794760" y="3566160"/>
            <a:ext cx="1417320" cy="411480"/>
          </a:xfrm>
          <a:prstGeom prst="rect">
            <a:avLst/>
          </a:prstGeom>
          <a:noFill/>
          <a:ln/>
        </p:spPr>
        <p:txBody>
          <a:bodyPr wrap="square" lIns="0" tIns="0" rIns="0" bIns="0" rtlCol="0" anchor="t"/>
          <a:lstStyle/>
          <a:p>
            <a:pPr algn="ctr" indent="0" marL="0">
              <a:buNone/>
            </a:pPr>
            <a:r>
              <a:rPr lang="en-US" sz="2000" dirty="0">
                <a:solidFill>
                  <a:srgbClr val="111111"/>
                </a:solidFill>
                <a:latin typeface="Poppins ExtraBold" pitchFamily="34" charset="0"/>
                <a:ea typeface="Poppins ExtraBold" pitchFamily="34" charset="-122"/>
                <a:cs typeface="Poppins ExtraBold" pitchFamily="34" charset="-120"/>
              </a:rPr>
              <a:t>Mi</a:t>
            </a:r>
            <a:endParaRPr lang="en-US" sz="2000" dirty="0"/>
          </a:p>
        </p:txBody>
      </p:sp>
      <p:sp>
        <p:nvSpPr>
          <p:cNvPr id="25" name="Text 23"/>
          <p:cNvSpPr txBox="1"/>
          <p:nvPr/>
        </p:nvSpPr>
        <p:spPr>
          <a:xfrm>
            <a:off x="3794760" y="4160520"/>
            <a:ext cx="1417320" cy="320040"/>
          </a:xfrm>
          <a:prstGeom prst="rect">
            <a:avLst/>
          </a:prstGeom>
          <a:noFill/>
          <a:ln/>
        </p:spPr>
        <p:txBody>
          <a:bodyPr wrap="square" lIns="0" tIns="0" rIns="0" bIns="0" rtlCol="0" anchor="t"/>
          <a:lstStyle/>
          <a:p>
            <a:pPr algn="ctr" indent="0" marL="0">
              <a:buNone/>
            </a:pPr>
            <a:r>
              <a:rPr lang="en-US" sz="1200" dirty="0">
                <a:solidFill>
                  <a:srgbClr val="545559"/>
                </a:solidFill>
                <a:latin typeface="Poppins SemiBold" pitchFamily="34" charset="0"/>
                <a:ea typeface="Poppins SemiBold" pitchFamily="34" charset="-122"/>
                <a:cs typeface="Poppins SemiBold" pitchFamily="34" charset="-120"/>
              </a:rPr>
              <a:t>Story</a:t>
            </a:r>
            <a:endParaRPr lang="en-US" sz="1200" dirty="0"/>
          </a:p>
        </p:txBody>
      </p:sp>
      <p:sp>
        <p:nvSpPr>
          <p:cNvPr id="26" name="Shape 24"/>
          <p:cNvSpPr/>
          <p:nvPr/>
        </p:nvSpPr>
        <p:spPr>
          <a:xfrm>
            <a:off x="5349240" y="3429000"/>
            <a:ext cx="1417320" cy="1325880"/>
          </a:xfrm>
          <a:prstGeom prst="roundRect">
            <a:avLst>
              <a:gd name="adj" fmla="val 8276"/>
            </a:avLst>
          </a:prstGeom>
          <a:solidFill>
            <a:srgbClr val="111111"/>
          </a:solidFill>
          <a:ln w="12700">
            <a:solidFill>
              <a:srgbClr val="111111"/>
            </a:solidFill>
            <a:prstDash val="solid"/>
          </a:ln>
        </p:spPr>
      </p:sp>
      <p:sp>
        <p:nvSpPr>
          <p:cNvPr id="27" name="Text 25"/>
          <p:cNvSpPr txBox="1"/>
          <p:nvPr/>
        </p:nvSpPr>
        <p:spPr>
          <a:xfrm>
            <a:off x="5349240" y="3566160"/>
            <a:ext cx="1417320" cy="411480"/>
          </a:xfrm>
          <a:prstGeom prst="rect">
            <a:avLst/>
          </a:prstGeom>
          <a:noFill/>
          <a:ln/>
        </p:spPr>
        <p:txBody>
          <a:bodyPr wrap="square" lIns="0" tIns="0" rIns="0" bIns="0" rtlCol="0" anchor="t"/>
          <a:lstStyle/>
          <a:p>
            <a:pPr algn="ctr" indent="0" marL="0">
              <a:buNone/>
            </a:pPr>
            <a:r>
              <a:rPr lang="en-US" sz="2000" dirty="0">
                <a:solidFill>
                  <a:srgbClr val="FFFFFF"/>
                </a:solidFill>
                <a:latin typeface="Poppins ExtraBold" pitchFamily="34" charset="0"/>
                <a:ea typeface="Poppins ExtraBold" pitchFamily="34" charset="-122"/>
                <a:cs typeface="Poppins ExtraBold" pitchFamily="34" charset="-120"/>
              </a:rPr>
              <a:t>Do</a:t>
            </a:r>
            <a:endParaRPr lang="en-US" sz="2000" dirty="0"/>
          </a:p>
        </p:txBody>
      </p:sp>
      <p:sp>
        <p:nvSpPr>
          <p:cNvPr id="28" name="Text 26"/>
          <p:cNvSpPr txBox="1"/>
          <p:nvPr/>
        </p:nvSpPr>
        <p:spPr>
          <a:xfrm>
            <a:off x="5349240" y="4160520"/>
            <a:ext cx="1417320" cy="320040"/>
          </a:xfrm>
          <a:prstGeom prst="rect">
            <a:avLst/>
          </a:prstGeom>
          <a:noFill/>
          <a:ln/>
        </p:spPr>
        <p:txBody>
          <a:bodyPr wrap="square" lIns="0" tIns="0" rIns="0" bIns="0" rtlCol="0" anchor="t"/>
          <a:lstStyle/>
          <a:p>
            <a:pPr algn="ctr" indent="0" marL="0">
              <a:buNone/>
            </a:pPr>
            <a:r>
              <a:rPr lang="en-US" sz="1200" dirty="0">
                <a:solidFill>
                  <a:srgbClr val="EB5A1B"/>
                </a:solidFill>
                <a:latin typeface="Poppins SemiBold" pitchFamily="34" charset="0"/>
                <a:ea typeface="Poppins SemiBold" pitchFamily="34" charset="-122"/>
                <a:cs typeface="Poppins SemiBold" pitchFamily="34" charset="-120"/>
              </a:rPr>
              <a:t>Karussell</a:t>
            </a:r>
            <a:endParaRPr lang="en-US" sz="1200" dirty="0"/>
          </a:p>
        </p:txBody>
      </p:sp>
      <p:sp>
        <p:nvSpPr>
          <p:cNvPr id="29" name="Shape 27"/>
          <p:cNvSpPr/>
          <p:nvPr/>
        </p:nvSpPr>
        <p:spPr>
          <a:xfrm>
            <a:off x="6903720" y="3429000"/>
            <a:ext cx="1417320" cy="1325880"/>
          </a:xfrm>
          <a:prstGeom prst="roundRect">
            <a:avLst>
              <a:gd name="adj" fmla="val 8276"/>
            </a:avLst>
          </a:prstGeom>
          <a:solidFill>
            <a:srgbClr val="F4F4F4"/>
          </a:solidFill>
          <a:ln w="12700">
            <a:solidFill>
              <a:srgbClr val="F4F4F4"/>
            </a:solidFill>
            <a:prstDash val="solid"/>
          </a:ln>
        </p:spPr>
      </p:sp>
      <p:sp>
        <p:nvSpPr>
          <p:cNvPr id="30" name="Text 28"/>
          <p:cNvSpPr txBox="1"/>
          <p:nvPr/>
        </p:nvSpPr>
        <p:spPr>
          <a:xfrm>
            <a:off x="6903720" y="3566160"/>
            <a:ext cx="1417320" cy="411480"/>
          </a:xfrm>
          <a:prstGeom prst="rect">
            <a:avLst/>
          </a:prstGeom>
          <a:noFill/>
          <a:ln/>
        </p:spPr>
        <p:txBody>
          <a:bodyPr wrap="square" lIns="0" tIns="0" rIns="0" bIns="0" rtlCol="0" anchor="t"/>
          <a:lstStyle/>
          <a:p>
            <a:pPr algn="ctr" indent="0" marL="0">
              <a:buNone/>
            </a:pPr>
            <a:r>
              <a:rPr lang="en-US" sz="2000" dirty="0">
                <a:solidFill>
                  <a:srgbClr val="111111"/>
                </a:solidFill>
                <a:latin typeface="Poppins ExtraBold" pitchFamily="34" charset="0"/>
                <a:ea typeface="Poppins ExtraBold" pitchFamily="34" charset="-122"/>
                <a:cs typeface="Poppins ExtraBold" pitchFamily="34" charset="-120"/>
              </a:rPr>
              <a:t>Fr</a:t>
            </a:r>
            <a:endParaRPr lang="en-US" sz="2000" dirty="0"/>
          </a:p>
        </p:txBody>
      </p:sp>
      <p:sp>
        <p:nvSpPr>
          <p:cNvPr id="31" name="Text 29"/>
          <p:cNvSpPr txBox="1"/>
          <p:nvPr/>
        </p:nvSpPr>
        <p:spPr>
          <a:xfrm>
            <a:off x="6903720" y="4160520"/>
            <a:ext cx="1417320" cy="320040"/>
          </a:xfrm>
          <a:prstGeom prst="rect">
            <a:avLst/>
          </a:prstGeom>
          <a:noFill/>
          <a:ln/>
        </p:spPr>
        <p:txBody>
          <a:bodyPr wrap="square" lIns="0" tIns="0" rIns="0" bIns="0" rtlCol="0" anchor="t"/>
          <a:lstStyle/>
          <a:p>
            <a:pPr algn="ctr" indent="0" marL="0">
              <a:buNone/>
            </a:pPr>
            <a:r>
              <a:rPr lang="en-US" sz="1200" dirty="0">
                <a:solidFill>
                  <a:srgbClr val="545559"/>
                </a:solidFill>
                <a:latin typeface="Poppins SemiBold" pitchFamily="34" charset="0"/>
                <a:ea typeface="Poppins SemiBold" pitchFamily="34" charset="-122"/>
                <a:cs typeface="Poppins SemiBold" pitchFamily="34" charset="-120"/>
              </a:rPr>
              <a:t>Story</a:t>
            </a:r>
            <a:endParaRPr lang="en-US" sz="1200" dirty="0"/>
          </a:p>
        </p:txBody>
      </p:sp>
      <p:sp>
        <p:nvSpPr>
          <p:cNvPr id="32" name="Shape 30"/>
          <p:cNvSpPr/>
          <p:nvPr/>
        </p:nvSpPr>
        <p:spPr>
          <a:xfrm>
            <a:off x="8458200" y="3429000"/>
            <a:ext cx="1417320" cy="1325880"/>
          </a:xfrm>
          <a:prstGeom prst="roundRect">
            <a:avLst>
              <a:gd name="adj" fmla="val 8276"/>
            </a:avLst>
          </a:prstGeom>
          <a:solidFill>
            <a:srgbClr val="FAFAFA"/>
          </a:solidFill>
          <a:ln w="12700">
            <a:solidFill>
              <a:srgbClr val="FAFAFA"/>
            </a:solidFill>
            <a:prstDash val="solid"/>
          </a:ln>
        </p:spPr>
      </p:sp>
      <p:sp>
        <p:nvSpPr>
          <p:cNvPr id="33" name="Text 31"/>
          <p:cNvSpPr txBox="1"/>
          <p:nvPr/>
        </p:nvSpPr>
        <p:spPr>
          <a:xfrm>
            <a:off x="8458200" y="3566160"/>
            <a:ext cx="1417320" cy="411480"/>
          </a:xfrm>
          <a:prstGeom prst="rect">
            <a:avLst/>
          </a:prstGeom>
          <a:noFill/>
          <a:ln/>
        </p:spPr>
        <p:txBody>
          <a:bodyPr wrap="square" lIns="0" tIns="0" rIns="0" bIns="0" rtlCol="0" anchor="t"/>
          <a:lstStyle/>
          <a:p>
            <a:pPr algn="ctr" indent="0" marL="0">
              <a:buNone/>
            </a:pPr>
            <a:r>
              <a:rPr lang="en-US" sz="2000" dirty="0">
                <a:solidFill>
                  <a:srgbClr val="111111"/>
                </a:solidFill>
                <a:latin typeface="Poppins ExtraBold" pitchFamily="34" charset="0"/>
                <a:ea typeface="Poppins ExtraBold" pitchFamily="34" charset="-122"/>
                <a:cs typeface="Poppins ExtraBold" pitchFamily="34" charset="-120"/>
              </a:rPr>
              <a:t>Sa</a:t>
            </a:r>
            <a:endParaRPr lang="en-US" sz="2000" dirty="0"/>
          </a:p>
        </p:txBody>
      </p:sp>
      <p:sp>
        <p:nvSpPr>
          <p:cNvPr id="34" name="Shape 32"/>
          <p:cNvSpPr/>
          <p:nvPr/>
        </p:nvSpPr>
        <p:spPr>
          <a:xfrm>
            <a:off x="10012680" y="3429000"/>
            <a:ext cx="1417320" cy="1325880"/>
          </a:xfrm>
          <a:prstGeom prst="roundRect">
            <a:avLst>
              <a:gd name="adj" fmla="val 8276"/>
            </a:avLst>
          </a:prstGeom>
          <a:solidFill>
            <a:srgbClr val="111111"/>
          </a:solidFill>
          <a:ln w="12700">
            <a:solidFill>
              <a:srgbClr val="111111"/>
            </a:solidFill>
            <a:prstDash val="solid"/>
          </a:ln>
        </p:spPr>
      </p:sp>
      <p:sp>
        <p:nvSpPr>
          <p:cNvPr id="35" name="Text 33"/>
          <p:cNvSpPr txBox="1"/>
          <p:nvPr/>
        </p:nvSpPr>
        <p:spPr>
          <a:xfrm>
            <a:off x="10012680" y="3566160"/>
            <a:ext cx="1417320" cy="411480"/>
          </a:xfrm>
          <a:prstGeom prst="rect">
            <a:avLst/>
          </a:prstGeom>
          <a:noFill/>
          <a:ln/>
        </p:spPr>
        <p:txBody>
          <a:bodyPr wrap="square" lIns="0" tIns="0" rIns="0" bIns="0" rtlCol="0" anchor="t"/>
          <a:lstStyle/>
          <a:p>
            <a:pPr algn="ctr" indent="0" marL="0">
              <a:buNone/>
            </a:pPr>
            <a:r>
              <a:rPr lang="en-US" sz="2000" dirty="0">
                <a:solidFill>
                  <a:srgbClr val="FFFFFF"/>
                </a:solidFill>
                <a:latin typeface="Poppins ExtraBold" pitchFamily="34" charset="0"/>
                <a:ea typeface="Poppins ExtraBold" pitchFamily="34" charset="-122"/>
                <a:cs typeface="Poppins ExtraBold" pitchFamily="34" charset="-120"/>
              </a:rPr>
              <a:t>So</a:t>
            </a:r>
            <a:endParaRPr lang="en-US" sz="2000" dirty="0"/>
          </a:p>
        </p:txBody>
      </p:sp>
      <p:sp>
        <p:nvSpPr>
          <p:cNvPr id="36" name="Text 34"/>
          <p:cNvSpPr txBox="1"/>
          <p:nvPr/>
        </p:nvSpPr>
        <p:spPr>
          <a:xfrm>
            <a:off x="10012680" y="4160520"/>
            <a:ext cx="1417320" cy="320040"/>
          </a:xfrm>
          <a:prstGeom prst="rect">
            <a:avLst/>
          </a:prstGeom>
          <a:noFill/>
          <a:ln/>
        </p:spPr>
        <p:txBody>
          <a:bodyPr wrap="square" lIns="0" tIns="0" rIns="0" bIns="0" rtlCol="0" anchor="t"/>
          <a:lstStyle/>
          <a:p>
            <a:pPr algn="ctr" indent="0" marL="0">
              <a:buNone/>
            </a:pPr>
            <a:r>
              <a:rPr lang="en-US" sz="1200" dirty="0">
                <a:solidFill>
                  <a:srgbClr val="EB5A1B"/>
                </a:solidFill>
                <a:latin typeface="Poppins SemiBold" pitchFamily="34" charset="0"/>
                <a:ea typeface="Poppins SemiBold" pitchFamily="34" charset="-122"/>
                <a:cs typeface="Poppins SemiBold" pitchFamily="34" charset="-120"/>
              </a:rPr>
              <a:t>Bild-Post</a:t>
            </a:r>
            <a:endParaRPr lang="en-US" sz="1200" dirty="0"/>
          </a:p>
        </p:txBody>
      </p:sp>
      <p:sp>
        <p:nvSpPr>
          <p:cNvPr id="37" name="Shape 35"/>
          <p:cNvSpPr/>
          <p:nvPr/>
        </p:nvSpPr>
        <p:spPr>
          <a:xfrm>
            <a:off x="685800" y="5099050"/>
            <a:ext cx="91440" cy="91440"/>
          </a:xfrm>
          <a:prstGeom prst="ellipse">
            <a:avLst/>
          </a:prstGeom>
          <a:solidFill>
            <a:srgbClr val="EB5A1B"/>
          </a:solidFill>
          <a:ln w="12700">
            <a:solidFill>
              <a:srgbClr val="EB5A1B"/>
            </a:solidFill>
            <a:prstDash val="solid"/>
          </a:ln>
        </p:spPr>
      </p:sp>
      <p:sp>
        <p:nvSpPr>
          <p:cNvPr id="38" name="Text 36"/>
          <p:cNvSpPr txBox="1"/>
          <p:nvPr/>
        </p:nvSpPr>
        <p:spPr>
          <a:xfrm>
            <a:off x="914400" y="5029200"/>
            <a:ext cx="10561320" cy="267716"/>
          </a:xfrm>
          <a:prstGeom prst="rect">
            <a:avLst/>
          </a:prstGeom>
          <a:noFill/>
          <a:ln/>
        </p:spPr>
        <p:txBody>
          <a:bodyPr wrap="square" lIns="0" tIns="0" rIns="0" bIns="0" rtlCol="0" anchor="t"/>
          <a:lstStyle/>
          <a:p>
            <a:pPr indent="0" marL="0">
              <a:buNone/>
            </a:pPr>
            <a:r>
              <a:rPr lang="en-US" sz="1300" b="1" dirty="0">
                <a:solidFill>
                  <a:srgbClr val="222222"/>
                </a:solidFill>
                <a:latin typeface="Poppins" pitchFamily="34" charset="0"/>
                <a:ea typeface="Poppins" pitchFamily="34" charset="-122"/>
                <a:cs typeface="Poppins" pitchFamily="34" charset="-120"/>
              </a:rPr>
              <a:t>Feste Tage und feste Serien</a:t>
            </a:r>
            <a:pPr indent="0" marL="0">
              <a:buNone/>
            </a:pPr>
            <a:r>
              <a:rPr lang="en-US" sz="1300" dirty="0">
                <a:solidFill>
                  <a:srgbClr val="222222"/>
                </a:solidFill>
                <a:latin typeface="Poppins" pitchFamily="34" charset="0"/>
                <a:ea typeface="Poppins" pitchFamily="34" charset="-122"/>
                <a:cs typeface="Poppins" pitchFamily="34" charset="-120"/>
              </a:rPr>
              <a:t>: Man weiß, was kommt.</a:t>
            </a:r>
            <a:endParaRPr lang="en-US" sz="1300" dirty="0"/>
          </a:p>
        </p:txBody>
      </p:sp>
      <p:sp>
        <p:nvSpPr>
          <p:cNvPr id="39" name="Shape 37"/>
          <p:cNvSpPr/>
          <p:nvPr/>
        </p:nvSpPr>
        <p:spPr>
          <a:xfrm>
            <a:off x="685800" y="5476494"/>
            <a:ext cx="91440" cy="91440"/>
          </a:xfrm>
          <a:prstGeom prst="ellipse">
            <a:avLst/>
          </a:prstGeom>
          <a:solidFill>
            <a:srgbClr val="EB5A1B"/>
          </a:solidFill>
          <a:ln w="12700">
            <a:solidFill>
              <a:srgbClr val="EB5A1B"/>
            </a:solidFill>
            <a:prstDash val="solid"/>
          </a:ln>
        </p:spPr>
      </p:sp>
      <p:sp>
        <p:nvSpPr>
          <p:cNvPr id="40" name="Text 38"/>
          <p:cNvSpPr txBox="1"/>
          <p:nvPr/>
        </p:nvSpPr>
        <p:spPr>
          <a:xfrm>
            <a:off x="914400" y="5406644"/>
            <a:ext cx="10561320" cy="267716"/>
          </a:xfrm>
          <a:prstGeom prst="rect">
            <a:avLst/>
          </a:prstGeom>
          <a:noFill/>
          <a:ln/>
        </p:spPr>
        <p:txBody>
          <a:bodyPr wrap="square" lIns="0" tIns="0" rIns="0" bIns="0" rtlCol="0" anchor="t"/>
          <a:lstStyle/>
          <a:p>
            <a:pPr indent="0" marL="0">
              <a:buNone/>
            </a:pPr>
            <a:r>
              <a:rPr lang="en-US" sz="1300" b="1" dirty="0">
                <a:solidFill>
                  <a:srgbClr val="222222"/>
                </a:solidFill>
                <a:latin typeface="Poppins" pitchFamily="34" charset="0"/>
                <a:ea typeface="Poppins" pitchFamily="34" charset="-122"/>
                <a:cs typeface="Poppins" pitchFamily="34" charset="-120"/>
              </a:rPr>
              <a:t>Vorgeplant</a:t>
            </a:r>
            <a:pPr indent="0" marL="0">
              <a:buNone/>
            </a:pPr>
            <a:r>
              <a:rPr lang="en-US" sz="1300" dirty="0">
                <a:solidFill>
                  <a:srgbClr val="222222"/>
                </a:solidFill>
                <a:latin typeface="Poppins" pitchFamily="34" charset="0"/>
                <a:ea typeface="Poppins" pitchFamily="34" charset="-122"/>
                <a:cs typeface="Poppins" pitchFamily="34" charset="-120"/>
              </a:rPr>
              <a:t> über die Meta Business Suite, passend zum Schichtdienst.</a:t>
            </a:r>
            <a:endParaRPr lang="en-US" sz="1300" dirty="0"/>
          </a:p>
        </p:txBody>
      </p:sp>
      <p:sp>
        <p:nvSpPr>
          <p:cNvPr id="41" name="Shape 39"/>
          <p:cNvSpPr/>
          <p:nvPr/>
        </p:nvSpPr>
        <p:spPr>
          <a:xfrm>
            <a:off x="685800" y="5853938"/>
            <a:ext cx="91440" cy="91440"/>
          </a:xfrm>
          <a:prstGeom prst="ellipse">
            <a:avLst/>
          </a:prstGeom>
          <a:solidFill>
            <a:srgbClr val="EB5A1B"/>
          </a:solidFill>
          <a:ln w="12700">
            <a:solidFill>
              <a:srgbClr val="EB5A1B"/>
            </a:solidFill>
            <a:prstDash val="solid"/>
          </a:ln>
        </p:spPr>
      </p:sp>
      <p:sp>
        <p:nvSpPr>
          <p:cNvPr id="42" name="Text 40"/>
          <p:cNvSpPr txBox="1"/>
          <p:nvPr/>
        </p:nvSpPr>
        <p:spPr>
          <a:xfrm>
            <a:off x="914400" y="5784088"/>
            <a:ext cx="10561320" cy="267716"/>
          </a:xfrm>
          <a:prstGeom prst="rect">
            <a:avLst/>
          </a:prstGeom>
          <a:noFill/>
          <a:ln/>
        </p:spPr>
        <p:txBody>
          <a:bodyPr wrap="square" lIns="0" tIns="0" rIns="0" bIns="0" rtlCol="0" anchor="t"/>
          <a:lstStyle/>
          <a:p>
            <a:pPr indent="0" marL="0">
              <a:buNone/>
            </a:pPr>
            <a:r>
              <a:rPr lang="en-US" sz="1300" b="1" dirty="0">
                <a:solidFill>
                  <a:srgbClr val="222222"/>
                </a:solidFill>
                <a:latin typeface="Poppins" pitchFamily="34" charset="0"/>
                <a:ea typeface="Poppins" pitchFamily="34" charset="-122"/>
                <a:cs typeface="Poppins" pitchFamily="34" charset="-120"/>
              </a:rPr>
              <a:t>Automatisch auch auf Facebook</a:t>
            </a:r>
            <a:pPr indent="0" marL="0">
              <a:buNone/>
            </a:pPr>
            <a:r>
              <a:rPr lang="en-US" sz="1300" dirty="0">
                <a:solidFill>
                  <a:srgbClr val="222222"/>
                </a:solidFill>
                <a:latin typeface="Poppins" pitchFamily="34" charset="0"/>
                <a:ea typeface="Poppins" pitchFamily="34" charset="-122"/>
                <a:cs typeface="Poppins" pitchFamily="34" charset="-120"/>
              </a:rPr>
              <a:t>: erreicht Eltern und ältere Kunden, ohne Mehraufwand.</a:t>
            </a:r>
            <a:endParaRPr lang="en-US" sz="1300" dirty="0"/>
          </a:p>
        </p:txBody>
      </p:sp>
      <p:pic>
        <p:nvPicPr>
          <p:cNvPr id="43" name="Image 0" descr="/home/user/Marlene/poleschak-social-media/assets/logo-transparent.png">    </p:cNvPr>
          <p:cNvPicPr>
            <a:picLocks noChangeAspect="1"/>
          </p:cNvPicPr>
          <p:nvPr/>
        </p:nvPicPr>
        <p:blipFill>
          <a:blip r:embed="rId1"/>
          <a:stretch>
            <a:fillRect/>
          </a:stretch>
        </p:blipFill>
        <p:spPr>
          <a:xfrm>
            <a:off x="685800" y="6291072"/>
            <a:ext cx="643680" cy="329184"/>
          </a:xfrm>
          <a:prstGeom prst="rect">
            <a:avLst/>
          </a:prstGeom>
        </p:spPr>
      </p:pic>
      <p:sp>
        <p:nvSpPr>
          <p:cNvPr id="44" name="Text 41"/>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SERIEN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Serien sparen Zeit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und machen neugierig.</a:t>
            </a:r>
            <a:endParaRPr lang="en-US" sz="3400" dirty="0"/>
          </a:p>
        </p:txBody>
      </p:sp>
      <p:sp>
        <p:nvSpPr>
          <p:cNvPr id="5" name="Shape 3"/>
          <p:cNvSpPr/>
          <p:nvPr/>
        </p:nvSpPr>
        <p:spPr>
          <a:xfrm>
            <a:off x="685800" y="1874520"/>
            <a:ext cx="3429000" cy="1783080"/>
          </a:xfrm>
          <a:prstGeom prst="roundRect">
            <a:avLst>
              <a:gd name="adj" fmla="val 6154"/>
            </a:avLst>
          </a:prstGeom>
          <a:solidFill>
            <a:srgbClr val="222222"/>
          </a:solidFill>
          <a:ln w="12700">
            <a:solidFill>
              <a:srgbClr val="222222"/>
            </a:solidFill>
            <a:prstDash val="solid"/>
          </a:ln>
        </p:spPr>
      </p:sp>
      <p:sp>
        <p:nvSpPr>
          <p:cNvPr id="6" name="Shape 4"/>
          <p:cNvSpPr/>
          <p:nvPr/>
        </p:nvSpPr>
        <p:spPr>
          <a:xfrm>
            <a:off x="960120" y="2148840"/>
            <a:ext cx="502920" cy="50292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Moon-w.png">    </p:cNvPr>
          <p:cNvPicPr>
            <a:picLocks noChangeAspect="1"/>
          </p:cNvPicPr>
          <p:nvPr/>
        </p:nvPicPr>
        <p:blipFill>
          <a:blip r:embed="rId1"/>
          <a:stretch>
            <a:fillRect/>
          </a:stretch>
        </p:blipFill>
        <p:spPr>
          <a:xfrm>
            <a:off x="1090879" y="2279599"/>
            <a:ext cx="241402" cy="241402"/>
          </a:xfrm>
          <a:prstGeom prst="rect">
            <a:avLst/>
          </a:prstGeom>
        </p:spPr>
      </p:pic>
      <p:sp>
        <p:nvSpPr>
          <p:cNvPr id="8" name="Text 5"/>
          <p:cNvSpPr txBox="1"/>
          <p:nvPr/>
        </p:nvSpPr>
        <p:spPr>
          <a:xfrm>
            <a:off x="1600200" y="2194560"/>
            <a:ext cx="2377440" cy="41148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„3 Uhr nachts“</a:t>
            </a:r>
            <a:endParaRPr lang="en-US" sz="1500" dirty="0"/>
          </a:p>
        </p:txBody>
      </p:sp>
      <p:sp>
        <p:nvSpPr>
          <p:cNvPr id="9" name="Text 6"/>
          <p:cNvSpPr txBox="1"/>
          <p:nvPr/>
        </p:nvSpPr>
        <p:spPr>
          <a:xfrm>
            <a:off x="960120" y="2788920"/>
            <a:ext cx="2926080" cy="7315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POV aus der Leitstelle: Was passiert, wenn dein Alarm losgeht?</a:t>
            </a:r>
            <a:endParaRPr lang="en-US" sz="1200" dirty="0"/>
          </a:p>
        </p:txBody>
      </p:sp>
      <p:sp>
        <p:nvSpPr>
          <p:cNvPr id="10" name="Shape 7"/>
          <p:cNvSpPr/>
          <p:nvPr/>
        </p:nvSpPr>
        <p:spPr>
          <a:xfrm>
            <a:off x="4343400" y="1874520"/>
            <a:ext cx="3429000" cy="1783080"/>
          </a:xfrm>
          <a:prstGeom prst="roundRect">
            <a:avLst>
              <a:gd name="adj" fmla="val 6154"/>
            </a:avLst>
          </a:prstGeom>
          <a:solidFill>
            <a:srgbClr val="222222"/>
          </a:solidFill>
          <a:ln w="12700">
            <a:solidFill>
              <a:srgbClr val="222222"/>
            </a:solidFill>
            <a:prstDash val="solid"/>
          </a:ln>
        </p:spPr>
      </p:sp>
      <p:sp>
        <p:nvSpPr>
          <p:cNvPr id="11" name="Shape 8"/>
          <p:cNvSpPr/>
          <p:nvPr/>
        </p:nvSpPr>
        <p:spPr>
          <a:xfrm>
            <a:off x="4617720" y="2148840"/>
            <a:ext cx="502920" cy="502920"/>
          </a:xfrm>
          <a:prstGeom prst="ellipse">
            <a:avLst/>
          </a:prstGeom>
          <a:solidFill>
            <a:srgbClr val="EB5A1B"/>
          </a:solidFill>
          <a:ln w="12700">
            <a:solidFill>
              <a:srgbClr val="EB5A1B"/>
            </a:solidFill>
            <a:prstDash val="solid"/>
          </a:ln>
        </p:spPr>
      </p:sp>
      <p:pic>
        <p:nvPicPr>
          <p:cNvPr id="12" name="Image 1" descr="/tmp/claude-0/-home-user-Marlene/67342075-d45e-5dfd-8246-b97e829a8c42/scratchpad/deck/img/FaCircleQuestion-w.png">    </p:cNvPr>
          <p:cNvPicPr>
            <a:picLocks noChangeAspect="1"/>
          </p:cNvPicPr>
          <p:nvPr/>
        </p:nvPicPr>
        <p:blipFill>
          <a:blip r:embed="rId2"/>
          <a:stretch>
            <a:fillRect/>
          </a:stretch>
        </p:blipFill>
        <p:spPr>
          <a:xfrm>
            <a:off x="4748479" y="2279599"/>
            <a:ext cx="241402" cy="241402"/>
          </a:xfrm>
          <a:prstGeom prst="rect">
            <a:avLst/>
          </a:prstGeom>
        </p:spPr>
      </p:pic>
      <p:sp>
        <p:nvSpPr>
          <p:cNvPr id="13" name="Text 9"/>
          <p:cNvSpPr txBox="1"/>
          <p:nvPr/>
        </p:nvSpPr>
        <p:spPr>
          <a:xfrm>
            <a:off x="5257800" y="2194560"/>
            <a:ext cx="2377440" cy="41148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„Mythos oder Fakt?“</a:t>
            </a:r>
            <a:endParaRPr lang="en-US" sz="1500" dirty="0"/>
          </a:p>
        </p:txBody>
      </p:sp>
      <p:sp>
        <p:nvSpPr>
          <p:cNvPr id="14" name="Text 10"/>
          <p:cNvSpPr txBox="1"/>
          <p:nvPr/>
        </p:nvSpPr>
        <p:spPr>
          <a:xfrm>
            <a:off x="4617720" y="2788920"/>
            <a:ext cx="2926080" cy="7315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„Einbrecher kommen nachts“, „Die Smart-Home-Kamera reicht“, immer mit Quelle</a:t>
            </a:r>
            <a:endParaRPr lang="en-US" sz="1200" dirty="0"/>
          </a:p>
        </p:txBody>
      </p:sp>
      <p:sp>
        <p:nvSpPr>
          <p:cNvPr id="15" name="Shape 11"/>
          <p:cNvSpPr/>
          <p:nvPr/>
        </p:nvSpPr>
        <p:spPr>
          <a:xfrm>
            <a:off x="8001000" y="1874520"/>
            <a:ext cx="3429000" cy="1783080"/>
          </a:xfrm>
          <a:prstGeom prst="roundRect">
            <a:avLst>
              <a:gd name="adj" fmla="val 6154"/>
            </a:avLst>
          </a:prstGeom>
          <a:solidFill>
            <a:srgbClr val="222222"/>
          </a:solidFill>
          <a:ln w="12700">
            <a:solidFill>
              <a:srgbClr val="222222"/>
            </a:solidFill>
            <a:prstDash val="solid"/>
          </a:ln>
        </p:spPr>
      </p:sp>
      <p:sp>
        <p:nvSpPr>
          <p:cNvPr id="16" name="Shape 12"/>
          <p:cNvSpPr/>
          <p:nvPr/>
        </p:nvSpPr>
        <p:spPr>
          <a:xfrm>
            <a:off x="8275320" y="2148840"/>
            <a:ext cx="502920" cy="502920"/>
          </a:xfrm>
          <a:prstGeom prst="ellipse">
            <a:avLst/>
          </a:prstGeom>
          <a:solidFill>
            <a:srgbClr val="EB5A1B"/>
          </a:solidFill>
          <a:ln w="12700">
            <a:solidFill>
              <a:srgbClr val="EB5A1B"/>
            </a:solidFill>
            <a:prstDash val="solid"/>
          </a:ln>
        </p:spPr>
      </p:sp>
      <p:pic>
        <p:nvPicPr>
          <p:cNvPr id="17" name="Image 2" descr="/tmp/claude-0/-home-user-Marlene/67342075-d45e-5dfd-8246-b97e829a8c42/scratchpad/deck/img/FaUserGraduate-w.png">    </p:cNvPr>
          <p:cNvPicPr>
            <a:picLocks noChangeAspect="1"/>
          </p:cNvPicPr>
          <p:nvPr/>
        </p:nvPicPr>
        <p:blipFill>
          <a:blip r:embed="rId3"/>
          <a:stretch>
            <a:fillRect/>
          </a:stretch>
        </p:blipFill>
        <p:spPr>
          <a:xfrm>
            <a:off x="8406079" y="2279599"/>
            <a:ext cx="241402" cy="241402"/>
          </a:xfrm>
          <a:prstGeom prst="rect">
            <a:avLst/>
          </a:prstGeom>
        </p:spPr>
      </p:pic>
      <p:sp>
        <p:nvSpPr>
          <p:cNvPr id="18" name="Text 13"/>
          <p:cNvSpPr txBox="1"/>
          <p:nvPr/>
        </p:nvSpPr>
        <p:spPr>
          <a:xfrm>
            <a:off x="8915400" y="2194560"/>
            <a:ext cx="2377440" cy="41148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„Frag den Azubi“</a:t>
            </a:r>
            <a:endParaRPr lang="en-US" sz="1500" dirty="0"/>
          </a:p>
        </p:txBody>
      </p:sp>
      <p:sp>
        <p:nvSpPr>
          <p:cNvPr id="19" name="Text 14"/>
          <p:cNvSpPr txBox="1"/>
          <p:nvPr/>
        </p:nvSpPr>
        <p:spPr>
          <a:xfrm>
            <a:off x="8275320" y="2788920"/>
            <a:ext cx="2926080" cy="7315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Ein Azubi beantwortet echte Fragen von Schülern</a:t>
            </a:r>
            <a:endParaRPr lang="en-US" sz="1200" dirty="0"/>
          </a:p>
        </p:txBody>
      </p:sp>
      <p:sp>
        <p:nvSpPr>
          <p:cNvPr id="20" name="Shape 15"/>
          <p:cNvSpPr/>
          <p:nvPr/>
        </p:nvSpPr>
        <p:spPr>
          <a:xfrm>
            <a:off x="685800" y="3886200"/>
            <a:ext cx="3429000" cy="1783080"/>
          </a:xfrm>
          <a:prstGeom prst="roundRect">
            <a:avLst>
              <a:gd name="adj" fmla="val 6154"/>
            </a:avLst>
          </a:prstGeom>
          <a:solidFill>
            <a:srgbClr val="222222"/>
          </a:solidFill>
          <a:ln w="12700">
            <a:solidFill>
              <a:srgbClr val="222222"/>
            </a:solidFill>
            <a:prstDash val="solid"/>
          </a:ln>
        </p:spPr>
      </p:sp>
      <p:sp>
        <p:nvSpPr>
          <p:cNvPr id="21" name="Shape 16"/>
          <p:cNvSpPr/>
          <p:nvPr/>
        </p:nvSpPr>
        <p:spPr>
          <a:xfrm>
            <a:off x="960120" y="4160520"/>
            <a:ext cx="502920" cy="502920"/>
          </a:xfrm>
          <a:prstGeom prst="ellipse">
            <a:avLst/>
          </a:prstGeom>
          <a:solidFill>
            <a:srgbClr val="EB5A1B"/>
          </a:solidFill>
          <a:ln w="12700">
            <a:solidFill>
              <a:srgbClr val="EB5A1B"/>
            </a:solidFill>
            <a:prstDash val="solid"/>
          </a:ln>
        </p:spPr>
      </p:sp>
      <p:pic>
        <p:nvPicPr>
          <p:cNvPr id="22" name="Image 3" descr="/tmp/claude-0/-home-user-Marlene/67342075-d45e-5dfd-8246-b97e829a8c42/scratchpad/deck/img/FaScrewdriverWrench-w.png">    </p:cNvPr>
          <p:cNvPicPr>
            <a:picLocks noChangeAspect="1"/>
          </p:cNvPicPr>
          <p:nvPr/>
        </p:nvPicPr>
        <p:blipFill>
          <a:blip r:embed="rId4"/>
          <a:stretch>
            <a:fillRect/>
          </a:stretch>
        </p:blipFill>
        <p:spPr>
          <a:xfrm>
            <a:off x="1090879" y="4291279"/>
            <a:ext cx="241402" cy="241402"/>
          </a:xfrm>
          <a:prstGeom prst="rect">
            <a:avLst/>
          </a:prstGeom>
        </p:spPr>
      </p:pic>
      <p:sp>
        <p:nvSpPr>
          <p:cNvPr id="23" name="Text 17"/>
          <p:cNvSpPr txBox="1"/>
          <p:nvPr/>
        </p:nvSpPr>
        <p:spPr>
          <a:xfrm>
            <a:off x="1600200" y="4206240"/>
            <a:ext cx="2377440" cy="41148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„30 Sekunden Technik“</a:t>
            </a:r>
            <a:endParaRPr lang="en-US" sz="1500" dirty="0"/>
          </a:p>
        </p:txBody>
      </p:sp>
      <p:sp>
        <p:nvSpPr>
          <p:cNvPr id="24" name="Text 18"/>
          <p:cNvSpPr txBox="1"/>
          <p:nvPr/>
        </p:nvSpPr>
        <p:spPr>
          <a:xfrm>
            <a:off x="960120" y="4800600"/>
            <a:ext cx="2926080" cy="7315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Montage im Zeitraffer, Werkzeug-Nahaufnahmen</a:t>
            </a:r>
            <a:endParaRPr lang="en-US" sz="1200" dirty="0"/>
          </a:p>
        </p:txBody>
      </p:sp>
      <p:sp>
        <p:nvSpPr>
          <p:cNvPr id="25" name="Shape 19"/>
          <p:cNvSpPr/>
          <p:nvPr/>
        </p:nvSpPr>
        <p:spPr>
          <a:xfrm>
            <a:off x="4343400" y="3886200"/>
            <a:ext cx="3429000" cy="1783080"/>
          </a:xfrm>
          <a:prstGeom prst="roundRect">
            <a:avLst>
              <a:gd name="adj" fmla="val 6154"/>
            </a:avLst>
          </a:prstGeom>
          <a:solidFill>
            <a:srgbClr val="222222"/>
          </a:solidFill>
          <a:ln w="12700">
            <a:solidFill>
              <a:srgbClr val="222222"/>
            </a:solidFill>
            <a:prstDash val="solid"/>
          </a:ln>
        </p:spPr>
      </p:sp>
      <p:sp>
        <p:nvSpPr>
          <p:cNvPr id="26" name="Shape 20"/>
          <p:cNvSpPr/>
          <p:nvPr/>
        </p:nvSpPr>
        <p:spPr>
          <a:xfrm>
            <a:off x="4617720" y="4160520"/>
            <a:ext cx="502920" cy="502920"/>
          </a:xfrm>
          <a:prstGeom prst="ellipse">
            <a:avLst/>
          </a:prstGeom>
          <a:solidFill>
            <a:srgbClr val="EB5A1B"/>
          </a:solidFill>
          <a:ln w="12700">
            <a:solidFill>
              <a:srgbClr val="EB5A1B"/>
            </a:solidFill>
            <a:prstDash val="solid"/>
          </a:ln>
        </p:spPr>
      </p:sp>
      <p:pic>
        <p:nvPicPr>
          <p:cNvPr id="27" name="Image 4" descr="/tmp/claude-0/-home-user-Marlene/67342075-d45e-5dfd-8246-b97e829a8c42/scratchpad/deck/img/FaUsers-w.png">    </p:cNvPr>
          <p:cNvPicPr>
            <a:picLocks noChangeAspect="1"/>
          </p:cNvPicPr>
          <p:nvPr/>
        </p:nvPicPr>
        <p:blipFill>
          <a:blip r:embed="rId5"/>
          <a:stretch>
            <a:fillRect/>
          </a:stretch>
        </p:blipFill>
        <p:spPr>
          <a:xfrm>
            <a:off x="4748479" y="4291279"/>
            <a:ext cx="241402" cy="241402"/>
          </a:xfrm>
          <a:prstGeom prst="rect">
            <a:avLst/>
          </a:prstGeom>
        </p:spPr>
      </p:pic>
      <p:sp>
        <p:nvSpPr>
          <p:cNvPr id="28" name="Text 21"/>
          <p:cNvSpPr txBox="1"/>
          <p:nvPr/>
        </p:nvSpPr>
        <p:spPr>
          <a:xfrm>
            <a:off x="5257800" y="4206240"/>
            <a:ext cx="2377440" cy="41148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„Wer ist eigentlich …?“</a:t>
            </a:r>
            <a:endParaRPr lang="en-US" sz="1500" dirty="0"/>
          </a:p>
        </p:txBody>
      </p:sp>
      <p:sp>
        <p:nvSpPr>
          <p:cNvPr id="29" name="Text 22"/>
          <p:cNvSpPr txBox="1"/>
          <p:nvPr/>
        </p:nvSpPr>
        <p:spPr>
          <a:xfrm>
            <a:off x="4617720" y="4800600"/>
            <a:ext cx="2926080" cy="7315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Ein Gesicht aus dem Team, mit Einwilligung</a:t>
            </a:r>
            <a:endParaRPr lang="en-US" sz="1200" dirty="0"/>
          </a:p>
        </p:txBody>
      </p:sp>
      <p:sp>
        <p:nvSpPr>
          <p:cNvPr id="30" name="Shape 23"/>
          <p:cNvSpPr/>
          <p:nvPr/>
        </p:nvSpPr>
        <p:spPr>
          <a:xfrm>
            <a:off x="8001000" y="3886200"/>
            <a:ext cx="3429000" cy="1783080"/>
          </a:xfrm>
          <a:prstGeom prst="roundRect">
            <a:avLst>
              <a:gd name="adj" fmla="val 6154"/>
            </a:avLst>
          </a:prstGeom>
          <a:solidFill>
            <a:srgbClr val="222222"/>
          </a:solidFill>
          <a:ln w="12700">
            <a:solidFill>
              <a:srgbClr val="222222"/>
            </a:solidFill>
            <a:prstDash val="solid"/>
          </a:ln>
        </p:spPr>
      </p:sp>
      <p:sp>
        <p:nvSpPr>
          <p:cNvPr id="31" name="Shape 24"/>
          <p:cNvSpPr/>
          <p:nvPr/>
        </p:nvSpPr>
        <p:spPr>
          <a:xfrm>
            <a:off x="8275320" y="4160520"/>
            <a:ext cx="502920" cy="502920"/>
          </a:xfrm>
          <a:prstGeom prst="ellipse">
            <a:avLst/>
          </a:prstGeom>
          <a:solidFill>
            <a:srgbClr val="EB5A1B"/>
          </a:solidFill>
          <a:ln w="12700">
            <a:solidFill>
              <a:srgbClr val="EB5A1B"/>
            </a:solidFill>
            <a:prstDash val="solid"/>
          </a:ln>
        </p:spPr>
      </p:sp>
      <p:pic>
        <p:nvPicPr>
          <p:cNvPr id="32" name="Image 5" descr="/tmp/claude-0/-home-user-Marlene/67342075-d45e-5dfd-8246-b97e829a8c42/scratchpad/deck/img/FaListCheck-w.png">    </p:cNvPr>
          <p:cNvPicPr>
            <a:picLocks noChangeAspect="1"/>
          </p:cNvPicPr>
          <p:nvPr/>
        </p:nvPicPr>
        <p:blipFill>
          <a:blip r:embed="rId6"/>
          <a:stretch>
            <a:fillRect/>
          </a:stretch>
        </p:blipFill>
        <p:spPr>
          <a:xfrm>
            <a:off x="8406079" y="4291279"/>
            <a:ext cx="241402" cy="241402"/>
          </a:xfrm>
          <a:prstGeom prst="rect">
            <a:avLst/>
          </a:prstGeom>
        </p:spPr>
      </p:pic>
      <p:sp>
        <p:nvSpPr>
          <p:cNvPr id="33" name="Text 25"/>
          <p:cNvSpPr txBox="1"/>
          <p:nvPr/>
        </p:nvSpPr>
        <p:spPr>
          <a:xfrm>
            <a:off x="8915400" y="4206240"/>
            <a:ext cx="2377440" cy="41148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„Sicher-Check“</a:t>
            </a:r>
            <a:endParaRPr lang="en-US" sz="1500" dirty="0"/>
          </a:p>
        </p:txBody>
      </p:sp>
      <p:sp>
        <p:nvSpPr>
          <p:cNvPr id="34" name="Text 26"/>
          <p:cNvSpPr txBox="1"/>
          <p:nvPr/>
        </p:nvSpPr>
        <p:spPr>
          <a:xfrm>
            <a:off x="8275320" y="4800600"/>
            <a:ext cx="2926080" cy="7315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Checklisten für Urlaub, dunkle Jahreszeit, Neubau</a:t>
            </a:r>
            <a:endParaRPr lang="en-US" sz="1200" dirty="0"/>
          </a:p>
        </p:txBody>
      </p:sp>
      <p:pic>
        <p:nvPicPr>
          <p:cNvPr id="35" name="Image 6" descr="/home/user/Marlene/poleschak-social-media/assets/logo-negativ.png">    </p:cNvPr>
          <p:cNvPicPr>
            <a:picLocks noChangeAspect="1"/>
          </p:cNvPicPr>
          <p:nvPr/>
        </p:nvPicPr>
        <p:blipFill>
          <a:blip r:embed="rId7"/>
          <a:stretch>
            <a:fillRect/>
          </a:stretch>
        </p:blipFill>
        <p:spPr>
          <a:xfrm>
            <a:off x="685800" y="6291072"/>
            <a:ext cx="643680" cy="329184"/>
          </a:xfrm>
          <a:prstGeom prst="rect">
            <a:avLst/>
          </a:prstGeom>
        </p:spPr>
      </p:pic>
      <p:sp>
        <p:nvSpPr>
          <p:cNvPr id="36" name="Text 27"/>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REDAKTIONSPLAN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So sieht der November 2026 aus.</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789920" cy="914400"/>
        </p:xfrm>
        <a:graphic>
          <a:graphicData uri="http://schemas.openxmlformats.org/drawingml/2006/table">
            <a:tbl>
              <a:tblPr/>
              <a:tblGrid>
                <a:gridCol w="1371600"/>
                <a:gridCol w="1371600"/>
                <a:gridCol w="5760720"/>
                <a:gridCol w="2286000"/>
              </a:tblGrid>
              <a:tr h="301752">
                <a:tc>
                  <a:txBody>
                    <a:bodyPr/>
                    <a:lstStyle/>
                    <a:p>
                      <a:pPr indent="0" marL="0">
                        <a:buNone/>
                      </a:pPr>
                      <a:r>
                        <a:rPr lang="en-US" sz="1100" b="1" dirty="0">
                          <a:solidFill>
                            <a:srgbClr val="FFFFFF"/>
                          </a:solidFill>
                          <a:latin typeface="Poppins SemiBold" pitchFamily="34" charset="0"/>
                          <a:ea typeface="Poppins SemiBold" pitchFamily="34" charset="-122"/>
                          <a:cs typeface="Poppins SemiBold" pitchFamily="34" charset="-120"/>
                        </a:rPr>
                        <a:t>Datum</a:t>
                      </a:r>
                      <a:endParaRPr lang="en-US" sz="1100" dirty="0">
                        <a:latin typeface="Poppins SemiBold" charset="0"/>
                        <a:ea typeface="Poppins SemiBold" charset="0"/>
                        <a:cs typeface="Poppins SemiBold"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111111"/>
                    </a:solidFill>
                  </a:tcPr>
                </a:tc>
                <a:tc>
                  <a:txBody>
                    <a:bodyPr/>
                    <a:lstStyle/>
                    <a:p>
                      <a:pPr indent="0" marL="0">
                        <a:buNone/>
                      </a:pPr>
                      <a:r>
                        <a:rPr lang="en-US" sz="1100" b="1" dirty="0">
                          <a:solidFill>
                            <a:srgbClr val="FFFFFF"/>
                          </a:solidFill>
                          <a:latin typeface="Poppins SemiBold" pitchFamily="34" charset="0"/>
                          <a:ea typeface="Poppins SemiBold" pitchFamily="34" charset="-122"/>
                          <a:cs typeface="Poppins SemiBold" pitchFamily="34" charset="-120"/>
                        </a:rPr>
                        <a:t>Format</a:t>
                      </a:r>
                      <a:endParaRPr lang="en-US" sz="1100" dirty="0">
                        <a:latin typeface="Poppins SemiBold" charset="0"/>
                        <a:ea typeface="Poppins SemiBold" charset="0"/>
                        <a:cs typeface="Poppins SemiBold"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111111"/>
                    </a:solidFill>
                  </a:tcPr>
                </a:tc>
                <a:tc>
                  <a:txBody>
                    <a:bodyPr/>
                    <a:lstStyle/>
                    <a:p>
                      <a:pPr indent="0" marL="0">
                        <a:buNone/>
                      </a:pPr>
                      <a:r>
                        <a:rPr lang="en-US" sz="1100" b="1" dirty="0">
                          <a:solidFill>
                            <a:srgbClr val="FFFFFF"/>
                          </a:solidFill>
                          <a:latin typeface="Poppins SemiBold" pitchFamily="34" charset="0"/>
                          <a:ea typeface="Poppins SemiBold" pitchFamily="34" charset="-122"/>
                          <a:cs typeface="Poppins SemiBold" pitchFamily="34" charset="-120"/>
                        </a:rPr>
                        <a:t>Thema</a:t>
                      </a:r>
                      <a:endParaRPr lang="en-US" sz="1100" dirty="0">
                        <a:latin typeface="Poppins SemiBold" charset="0"/>
                        <a:ea typeface="Poppins SemiBold" charset="0"/>
                        <a:cs typeface="Poppins SemiBold"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111111"/>
                    </a:solidFill>
                  </a:tcPr>
                </a:tc>
                <a:tc>
                  <a:txBody>
                    <a:bodyPr/>
                    <a:lstStyle/>
                    <a:p>
                      <a:pPr indent="0" marL="0">
                        <a:buNone/>
                      </a:pPr>
                      <a:r>
                        <a:rPr lang="en-US" sz="1100" b="1" dirty="0">
                          <a:solidFill>
                            <a:srgbClr val="FFFFFF"/>
                          </a:solidFill>
                          <a:latin typeface="Poppins SemiBold" pitchFamily="34" charset="0"/>
                          <a:ea typeface="Poppins SemiBold" pitchFamily="34" charset="-122"/>
                          <a:cs typeface="Poppins SemiBold" pitchFamily="34" charset="-120"/>
                        </a:rPr>
                        <a:t>Säule</a:t>
                      </a:r>
                      <a:endParaRPr lang="en-US" sz="1100" dirty="0">
                        <a:latin typeface="Poppins SemiBold" charset="0"/>
                        <a:ea typeface="Poppins SemiBold" charset="0"/>
                        <a:cs typeface="Poppins SemiBold"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111111"/>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Di 03.11.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b="1" dirty="0">
                          <a:solidFill>
                            <a:srgbClr val="EB5A1B"/>
                          </a:solidFill>
                          <a:latin typeface="Poppins" pitchFamily="34" charset="0"/>
                          <a:ea typeface="Poppins" pitchFamily="34" charset="-122"/>
                          <a:cs typeface="Poppins" pitchFamily="34" charset="-120"/>
                        </a:rPr>
                        <a:t>Reel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„3 Uhr nachts“ #1: Ein Alarm geht ein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Leitstelle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Do 05.11.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Karussell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Dunkle Jahreszeit: 5 Schwachstellen am Haus</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Sicher wissen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So 08.11.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Bild</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Das ist die Nachtschicht</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Familie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Di 10.11.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rgbClr val="EB5A1B"/>
                          </a:solidFill>
                          <a:latin typeface="Poppins" pitchFamily="34" charset="0"/>
                          <a:ea typeface="Poppins" pitchFamily="34" charset="-122"/>
                          <a:cs typeface="Poppins" pitchFamily="34" charset="-120"/>
                        </a:rPr>
                        <a:t>Reel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„Frag den Azubi“ #1: Was machst du eigentlich?</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Karriere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Fr 13.11.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Karussell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Rauchmeldertag: Rauchmelder testen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Sicher wissen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So 15.11.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Bild</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Danke für eure Bewertungen!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Vertrauen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Di 17.11.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b="1" dirty="0">
                          <a:solidFill>
                            <a:srgbClr val="EB5A1B"/>
                          </a:solidFill>
                          <a:latin typeface="Poppins" pitchFamily="34" charset="0"/>
                          <a:ea typeface="Poppins" pitchFamily="34" charset="-122"/>
                          <a:cs typeface="Poppins" pitchFamily="34" charset="-120"/>
                        </a:rPr>
                        <a:t>Reel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Mythos: Die Smart-Home-Kamera reicht doch</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Sicher wissen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Do 19.11.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Karussell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Ausbildung Elektroniker/in in 6 Slides</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Karriere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So 22.11.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Bild</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Wir suchen: Servicetechniker (m/w/d)</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Karriere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Di 24.11.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rgbClr val="EB5A1B"/>
                          </a:solidFill>
                          <a:latin typeface="Poppins" pitchFamily="34" charset="0"/>
                          <a:ea typeface="Poppins" pitchFamily="34" charset="-122"/>
                          <a:cs typeface="Poppins" pitchFamily="34" charset="-120"/>
                        </a:rPr>
                        <a:t>Reel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„30 Sekunden Technik“: Ein Melder entsteht</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Leitstelle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Do 26.11.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Karussell</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Sicherung wirkt: Viele Einbrüche scheitern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Sicher wissen</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4F4F4"/>
                    </a:solidFill>
                  </a:tcPr>
                </a:tc>
              </a:tr>
              <a:tr h="301752">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So 29.11.</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Bild</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Seit 1975: Familie Poleschak</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22222"/>
                          </a:solidFill>
                          <a:latin typeface="Poppins" pitchFamily="34" charset="0"/>
                          <a:ea typeface="Poppins" pitchFamily="34" charset="-122"/>
                          <a:cs typeface="Poppins" pitchFamily="34" charset="-120"/>
                        </a:rPr>
                        <a:t>Familie</a:t>
                      </a:r>
                      <a:endParaRPr lang="en-US" sz="1100" dirty="0">
                        <a:latin typeface="Poppins" charset="0"/>
                        <a:ea typeface="Poppins" charset="0"/>
                        <a:cs typeface="Poppins" charset="0"/>
                      </a:endParaRPr>
                    </a:p>
                  </a:txBody>
                  <a:tcPr marL="91440" marR="91440"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pic>
        <p:nvPicPr>
          <p:cNvPr id="6" name="Image 0" descr="/home/user/Marlene/poleschak-social-media/assets/logo-transparent.png">    </p:cNvPr>
          <p:cNvPicPr>
            <a:picLocks noChangeAspect="1"/>
          </p:cNvPicPr>
          <p:nvPr/>
        </p:nvPicPr>
        <p:blipFill>
          <a:blip r:embed="rId1"/>
          <a:stretch>
            <a:fillRect/>
          </a:stretch>
        </p:blipFill>
        <p:spPr>
          <a:xfrm>
            <a:off x="685800" y="6291072"/>
            <a:ext cx="643680" cy="329184"/>
          </a:xfrm>
          <a:prstGeom prst="rect">
            <a:avLst/>
          </a:prstGeom>
        </p:spPr>
      </p:pic>
      <p:sp>
        <p:nvSpPr>
          <p:cNvPr id="7" name="Text 3"/>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JAHRESPLAN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12 Monate im Überblick.</a:t>
            </a:r>
            <a:endParaRPr lang="en-US" sz="3400" dirty="0"/>
          </a:p>
        </p:txBody>
      </p:sp>
      <p:sp>
        <p:nvSpPr>
          <p:cNvPr id="5" name="Shape 3"/>
          <p:cNvSpPr/>
          <p:nvPr/>
        </p:nvSpPr>
        <p:spPr>
          <a:xfrm>
            <a:off x="713232" y="2011680"/>
            <a:ext cx="775130" cy="457200"/>
          </a:xfrm>
          <a:prstGeom prst="roundRect">
            <a:avLst>
              <a:gd name="adj" fmla="val 24000"/>
            </a:avLst>
          </a:prstGeom>
          <a:solidFill>
            <a:srgbClr val="111111"/>
          </a:solidFill>
          <a:ln w="12700">
            <a:solidFill>
              <a:srgbClr val="111111"/>
            </a:solidFill>
            <a:prstDash val="solid"/>
          </a:ln>
        </p:spPr>
      </p:sp>
      <p:sp>
        <p:nvSpPr>
          <p:cNvPr id="6" name="Text 4"/>
          <p:cNvSpPr txBox="1"/>
          <p:nvPr/>
        </p:nvSpPr>
        <p:spPr>
          <a:xfrm>
            <a:off x="685800" y="2011680"/>
            <a:ext cx="829994" cy="45720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Okt</a:t>
            </a:r>
            <a:endParaRPr lang="en-US" sz="1200" dirty="0"/>
          </a:p>
        </p:txBody>
      </p:sp>
      <p:sp>
        <p:nvSpPr>
          <p:cNvPr id="7" name="Shape 5"/>
          <p:cNvSpPr/>
          <p:nvPr/>
        </p:nvSpPr>
        <p:spPr>
          <a:xfrm>
            <a:off x="1543226" y="2011680"/>
            <a:ext cx="775130" cy="457200"/>
          </a:xfrm>
          <a:prstGeom prst="roundRect">
            <a:avLst>
              <a:gd name="adj" fmla="val 24000"/>
            </a:avLst>
          </a:prstGeom>
          <a:solidFill>
            <a:srgbClr val="F4F4F4"/>
          </a:solidFill>
          <a:ln w="12700">
            <a:solidFill>
              <a:srgbClr val="F4F4F4"/>
            </a:solidFill>
            <a:prstDash val="solid"/>
          </a:ln>
        </p:spPr>
      </p:sp>
      <p:sp>
        <p:nvSpPr>
          <p:cNvPr id="8" name="Text 6"/>
          <p:cNvSpPr txBox="1"/>
          <p:nvPr/>
        </p:nvSpPr>
        <p:spPr>
          <a:xfrm>
            <a:off x="1515794"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Nov</a:t>
            </a:r>
            <a:endParaRPr lang="en-US" sz="1200" dirty="0"/>
          </a:p>
        </p:txBody>
      </p:sp>
      <p:sp>
        <p:nvSpPr>
          <p:cNvPr id="9" name="Shape 7"/>
          <p:cNvSpPr/>
          <p:nvPr/>
        </p:nvSpPr>
        <p:spPr>
          <a:xfrm>
            <a:off x="2373220" y="2011680"/>
            <a:ext cx="775130" cy="457200"/>
          </a:xfrm>
          <a:prstGeom prst="roundRect">
            <a:avLst>
              <a:gd name="adj" fmla="val 24000"/>
            </a:avLst>
          </a:prstGeom>
          <a:solidFill>
            <a:srgbClr val="F4F4F4"/>
          </a:solidFill>
          <a:ln w="12700">
            <a:solidFill>
              <a:srgbClr val="F4F4F4"/>
            </a:solidFill>
            <a:prstDash val="solid"/>
          </a:ln>
        </p:spPr>
      </p:sp>
      <p:sp>
        <p:nvSpPr>
          <p:cNvPr id="10" name="Text 8"/>
          <p:cNvSpPr txBox="1"/>
          <p:nvPr/>
        </p:nvSpPr>
        <p:spPr>
          <a:xfrm>
            <a:off x="2345788"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Dez</a:t>
            </a:r>
            <a:endParaRPr lang="en-US" sz="1200" dirty="0"/>
          </a:p>
        </p:txBody>
      </p:sp>
      <p:sp>
        <p:nvSpPr>
          <p:cNvPr id="11" name="Shape 9"/>
          <p:cNvSpPr/>
          <p:nvPr/>
        </p:nvSpPr>
        <p:spPr>
          <a:xfrm>
            <a:off x="3203214" y="2011680"/>
            <a:ext cx="775130" cy="457200"/>
          </a:xfrm>
          <a:prstGeom prst="roundRect">
            <a:avLst>
              <a:gd name="adj" fmla="val 24000"/>
            </a:avLst>
          </a:prstGeom>
          <a:solidFill>
            <a:srgbClr val="F4F4F4"/>
          </a:solidFill>
          <a:ln w="12700">
            <a:solidFill>
              <a:srgbClr val="F4F4F4"/>
            </a:solidFill>
            <a:prstDash val="solid"/>
          </a:ln>
        </p:spPr>
      </p:sp>
      <p:sp>
        <p:nvSpPr>
          <p:cNvPr id="12" name="Text 10"/>
          <p:cNvSpPr txBox="1"/>
          <p:nvPr/>
        </p:nvSpPr>
        <p:spPr>
          <a:xfrm>
            <a:off x="3175782"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Jan</a:t>
            </a:r>
            <a:endParaRPr lang="en-US" sz="1200" dirty="0"/>
          </a:p>
        </p:txBody>
      </p:sp>
      <p:sp>
        <p:nvSpPr>
          <p:cNvPr id="13" name="Shape 11"/>
          <p:cNvSpPr/>
          <p:nvPr/>
        </p:nvSpPr>
        <p:spPr>
          <a:xfrm>
            <a:off x="4033207" y="2011680"/>
            <a:ext cx="775130" cy="457200"/>
          </a:xfrm>
          <a:prstGeom prst="roundRect">
            <a:avLst>
              <a:gd name="adj" fmla="val 24000"/>
            </a:avLst>
          </a:prstGeom>
          <a:solidFill>
            <a:srgbClr val="F4F4F4"/>
          </a:solidFill>
          <a:ln w="12700">
            <a:solidFill>
              <a:srgbClr val="F4F4F4"/>
            </a:solidFill>
            <a:prstDash val="solid"/>
          </a:ln>
        </p:spPr>
      </p:sp>
      <p:sp>
        <p:nvSpPr>
          <p:cNvPr id="14" name="Text 12"/>
          <p:cNvSpPr txBox="1"/>
          <p:nvPr/>
        </p:nvSpPr>
        <p:spPr>
          <a:xfrm>
            <a:off x="4005775"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Feb</a:t>
            </a:r>
            <a:endParaRPr lang="en-US" sz="1200" dirty="0"/>
          </a:p>
        </p:txBody>
      </p:sp>
      <p:sp>
        <p:nvSpPr>
          <p:cNvPr id="15" name="Shape 13"/>
          <p:cNvSpPr/>
          <p:nvPr/>
        </p:nvSpPr>
        <p:spPr>
          <a:xfrm>
            <a:off x="4863201" y="2011680"/>
            <a:ext cx="775130" cy="457200"/>
          </a:xfrm>
          <a:prstGeom prst="roundRect">
            <a:avLst>
              <a:gd name="adj" fmla="val 24000"/>
            </a:avLst>
          </a:prstGeom>
          <a:solidFill>
            <a:srgbClr val="F4F4F4"/>
          </a:solidFill>
          <a:ln w="12700">
            <a:solidFill>
              <a:srgbClr val="F4F4F4"/>
            </a:solidFill>
            <a:prstDash val="solid"/>
          </a:ln>
        </p:spPr>
      </p:sp>
      <p:sp>
        <p:nvSpPr>
          <p:cNvPr id="16" name="Text 14"/>
          <p:cNvSpPr txBox="1"/>
          <p:nvPr/>
        </p:nvSpPr>
        <p:spPr>
          <a:xfrm>
            <a:off x="4835769"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Mär</a:t>
            </a:r>
            <a:endParaRPr lang="en-US" sz="1200" dirty="0"/>
          </a:p>
        </p:txBody>
      </p:sp>
      <p:sp>
        <p:nvSpPr>
          <p:cNvPr id="17" name="Shape 15"/>
          <p:cNvSpPr/>
          <p:nvPr/>
        </p:nvSpPr>
        <p:spPr>
          <a:xfrm>
            <a:off x="5693195" y="2011680"/>
            <a:ext cx="775130" cy="457200"/>
          </a:xfrm>
          <a:prstGeom prst="roundRect">
            <a:avLst>
              <a:gd name="adj" fmla="val 24000"/>
            </a:avLst>
          </a:prstGeom>
          <a:solidFill>
            <a:srgbClr val="F4F4F4"/>
          </a:solidFill>
          <a:ln w="12700">
            <a:solidFill>
              <a:srgbClr val="F4F4F4"/>
            </a:solidFill>
            <a:prstDash val="solid"/>
          </a:ln>
        </p:spPr>
      </p:sp>
      <p:sp>
        <p:nvSpPr>
          <p:cNvPr id="18" name="Text 16"/>
          <p:cNvSpPr txBox="1"/>
          <p:nvPr/>
        </p:nvSpPr>
        <p:spPr>
          <a:xfrm>
            <a:off x="5665763"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Apr</a:t>
            </a:r>
            <a:endParaRPr lang="en-US" sz="1200" dirty="0"/>
          </a:p>
        </p:txBody>
      </p:sp>
      <p:sp>
        <p:nvSpPr>
          <p:cNvPr id="19" name="Shape 17"/>
          <p:cNvSpPr/>
          <p:nvPr/>
        </p:nvSpPr>
        <p:spPr>
          <a:xfrm>
            <a:off x="6523189" y="2011680"/>
            <a:ext cx="775130" cy="457200"/>
          </a:xfrm>
          <a:prstGeom prst="roundRect">
            <a:avLst>
              <a:gd name="adj" fmla="val 24000"/>
            </a:avLst>
          </a:prstGeom>
          <a:solidFill>
            <a:srgbClr val="F4F4F4"/>
          </a:solidFill>
          <a:ln w="12700">
            <a:solidFill>
              <a:srgbClr val="F4F4F4"/>
            </a:solidFill>
            <a:prstDash val="solid"/>
          </a:ln>
        </p:spPr>
      </p:sp>
      <p:sp>
        <p:nvSpPr>
          <p:cNvPr id="20" name="Text 18"/>
          <p:cNvSpPr txBox="1"/>
          <p:nvPr/>
        </p:nvSpPr>
        <p:spPr>
          <a:xfrm>
            <a:off x="6495757"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Mai</a:t>
            </a:r>
            <a:endParaRPr lang="en-US" sz="1200" dirty="0"/>
          </a:p>
        </p:txBody>
      </p:sp>
      <p:sp>
        <p:nvSpPr>
          <p:cNvPr id="21" name="Shape 19"/>
          <p:cNvSpPr/>
          <p:nvPr/>
        </p:nvSpPr>
        <p:spPr>
          <a:xfrm>
            <a:off x="7353183" y="2011680"/>
            <a:ext cx="775130" cy="457200"/>
          </a:xfrm>
          <a:prstGeom prst="roundRect">
            <a:avLst>
              <a:gd name="adj" fmla="val 24000"/>
            </a:avLst>
          </a:prstGeom>
          <a:solidFill>
            <a:srgbClr val="F4F4F4"/>
          </a:solidFill>
          <a:ln w="12700">
            <a:solidFill>
              <a:srgbClr val="F4F4F4"/>
            </a:solidFill>
            <a:prstDash val="solid"/>
          </a:ln>
        </p:spPr>
      </p:sp>
      <p:sp>
        <p:nvSpPr>
          <p:cNvPr id="22" name="Text 20"/>
          <p:cNvSpPr txBox="1"/>
          <p:nvPr/>
        </p:nvSpPr>
        <p:spPr>
          <a:xfrm>
            <a:off x="7325751"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Jun</a:t>
            </a:r>
            <a:endParaRPr lang="en-US" sz="1200" dirty="0"/>
          </a:p>
        </p:txBody>
      </p:sp>
      <p:sp>
        <p:nvSpPr>
          <p:cNvPr id="23" name="Shape 21"/>
          <p:cNvSpPr/>
          <p:nvPr/>
        </p:nvSpPr>
        <p:spPr>
          <a:xfrm>
            <a:off x="8183177" y="2011680"/>
            <a:ext cx="775130" cy="457200"/>
          </a:xfrm>
          <a:prstGeom prst="roundRect">
            <a:avLst>
              <a:gd name="adj" fmla="val 24000"/>
            </a:avLst>
          </a:prstGeom>
          <a:solidFill>
            <a:srgbClr val="F4F4F4"/>
          </a:solidFill>
          <a:ln w="12700">
            <a:solidFill>
              <a:srgbClr val="F4F4F4"/>
            </a:solidFill>
            <a:prstDash val="solid"/>
          </a:ln>
        </p:spPr>
      </p:sp>
      <p:sp>
        <p:nvSpPr>
          <p:cNvPr id="24" name="Text 22"/>
          <p:cNvSpPr txBox="1"/>
          <p:nvPr/>
        </p:nvSpPr>
        <p:spPr>
          <a:xfrm>
            <a:off x="8155745"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Jul</a:t>
            </a:r>
            <a:endParaRPr lang="en-US" sz="1200" dirty="0"/>
          </a:p>
        </p:txBody>
      </p:sp>
      <p:sp>
        <p:nvSpPr>
          <p:cNvPr id="25" name="Shape 23"/>
          <p:cNvSpPr/>
          <p:nvPr/>
        </p:nvSpPr>
        <p:spPr>
          <a:xfrm>
            <a:off x="9013170" y="2011680"/>
            <a:ext cx="775130" cy="457200"/>
          </a:xfrm>
          <a:prstGeom prst="roundRect">
            <a:avLst>
              <a:gd name="adj" fmla="val 24000"/>
            </a:avLst>
          </a:prstGeom>
          <a:solidFill>
            <a:srgbClr val="F4F4F4"/>
          </a:solidFill>
          <a:ln w="12700">
            <a:solidFill>
              <a:srgbClr val="F4F4F4"/>
            </a:solidFill>
            <a:prstDash val="solid"/>
          </a:ln>
        </p:spPr>
      </p:sp>
      <p:sp>
        <p:nvSpPr>
          <p:cNvPr id="26" name="Text 24"/>
          <p:cNvSpPr txBox="1"/>
          <p:nvPr/>
        </p:nvSpPr>
        <p:spPr>
          <a:xfrm>
            <a:off x="8985738"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Aug</a:t>
            </a:r>
            <a:endParaRPr lang="en-US" sz="1200" dirty="0"/>
          </a:p>
        </p:txBody>
      </p:sp>
      <p:sp>
        <p:nvSpPr>
          <p:cNvPr id="27" name="Shape 25"/>
          <p:cNvSpPr/>
          <p:nvPr/>
        </p:nvSpPr>
        <p:spPr>
          <a:xfrm>
            <a:off x="9843164" y="2011680"/>
            <a:ext cx="775130" cy="457200"/>
          </a:xfrm>
          <a:prstGeom prst="roundRect">
            <a:avLst>
              <a:gd name="adj" fmla="val 24000"/>
            </a:avLst>
          </a:prstGeom>
          <a:solidFill>
            <a:srgbClr val="F4F4F4"/>
          </a:solidFill>
          <a:ln w="12700">
            <a:solidFill>
              <a:srgbClr val="F4F4F4"/>
            </a:solidFill>
            <a:prstDash val="solid"/>
          </a:ln>
        </p:spPr>
      </p:sp>
      <p:sp>
        <p:nvSpPr>
          <p:cNvPr id="28" name="Text 26"/>
          <p:cNvSpPr txBox="1"/>
          <p:nvPr/>
        </p:nvSpPr>
        <p:spPr>
          <a:xfrm>
            <a:off x="9815732" y="2011680"/>
            <a:ext cx="829994" cy="457200"/>
          </a:xfrm>
          <a:prstGeom prst="rect">
            <a:avLst/>
          </a:prstGeom>
          <a:noFill/>
          <a:ln/>
        </p:spPr>
        <p:txBody>
          <a:bodyPr wrap="square" lIns="0" tIns="0" rIns="0" bIns="0" rtlCol="0" anchor="ctr"/>
          <a:lstStyle/>
          <a:p>
            <a:pPr algn="ctr" indent="0" marL="0">
              <a:buNone/>
            </a:pPr>
            <a:r>
              <a:rPr lang="en-US" sz="1200" dirty="0">
                <a:solidFill>
                  <a:srgbClr val="111111"/>
                </a:solidFill>
                <a:latin typeface="Poppins SemiBold" pitchFamily="34" charset="0"/>
                <a:ea typeface="Poppins SemiBold" pitchFamily="34" charset="-122"/>
                <a:cs typeface="Poppins SemiBold" pitchFamily="34" charset="-120"/>
              </a:rPr>
              <a:t>Sep</a:t>
            </a:r>
            <a:endParaRPr lang="en-US" sz="1200" dirty="0"/>
          </a:p>
        </p:txBody>
      </p:sp>
      <p:sp>
        <p:nvSpPr>
          <p:cNvPr id="29" name="Shape 27"/>
          <p:cNvSpPr/>
          <p:nvPr/>
        </p:nvSpPr>
        <p:spPr>
          <a:xfrm>
            <a:off x="10673158" y="2011680"/>
            <a:ext cx="775130" cy="457200"/>
          </a:xfrm>
          <a:prstGeom prst="roundRect">
            <a:avLst>
              <a:gd name="adj" fmla="val 24000"/>
            </a:avLst>
          </a:prstGeom>
          <a:solidFill>
            <a:srgbClr val="111111"/>
          </a:solidFill>
          <a:ln w="12700">
            <a:solidFill>
              <a:srgbClr val="111111"/>
            </a:solidFill>
            <a:prstDash val="solid"/>
          </a:ln>
        </p:spPr>
      </p:sp>
      <p:sp>
        <p:nvSpPr>
          <p:cNvPr id="30" name="Text 28"/>
          <p:cNvSpPr txBox="1"/>
          <p:nvPr/>
        </p:nvSpPr>
        <p:spPr>
          <a:xfrm>
            <a:off x="10645726" y="2011680"/>
            <a:ext cx="829994" cy="45720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Okt</a:t>
            </a:r>
            <a:endParaRPr lang="en-US" sz="1200" dirty="0"/>
          </a:p>
        </p:txBody>
      </p:sp>
      <p:sp>
        <p:nvSpPr>
          <p:cNvPr id="31" name="Text 29"/>
          <p:cNvSpPr txBox="1"/>
          <p:nvPr/>
        </p:nvSpPr>
        <p:spPr>
          <a:xfrm>
            <a:off x="685800" y="1691640"/>
            <a:ext cx="1828800" cy="274320"/>
          </a:xfrm>
          <a:prstGeom prst="rect">
            <a:avLst/>
          </a:prstGeom>
          <a:noFill/>
          <a:ln/>
        </p:spPr>
        <p:txBody>
          <a:bodyPr wrap="square" lIns="0" tIns="0" rIns="0" bIns="0" rtlCol="0" anchor="t"/>
          <a:lstStyle/>
          <a:p>
            <a:pPr indent="0" marL="0">
              <a:buNone/>
            </a:pPr>
            <a:r>
              <a:rPr lang="en-US" sz="1000" dirty="0">
                <a:solidFill>
                  <a:srgbClr val="545559"/>
                </a:solidFill>
                <a:latin typeface="Poppins" pitchFamily="34" charset="0"/>
                <a:ea typeface="Poppins" pitchFamily="34" charset="-122"/>
                <a:cs typeface="Poppins" pitchFamily="34" charset="-120"/>
              </a:rPr>
              <a:t>2026</a:t>
            </a:r>
            <a:endParaRPr lang="en-US" sz="1000" dirty="0"/>
          </a:p>
        </p:txBody>
      </p:sp>
      <p:sp>
        <p:nvSpPr>
          <p:cNvPr id="32" name="Text 30"/>
          <p:cNvSpPr txBox="1"/>
          <p:nvPr/>
        </p:nvSpPr>
        <p:spPr>
          <a:xfrm>
            <a:off x="3175782" y="1691640"/>
            <a:ext cx="1828800" cy="274320"/>
          </a:xfrm>
          <a:prstGeom prst="rect">
            <a:avLst/>
          </a:prstGeom>
          <a:noFill/>
          <a:ln/>
        </p:spPr>
        <p:txBody>
          <a:bodyPr wrap="square" lIns="0" tIns="0" rIns="0" bIns="0" rtlCol="0" anchor="t"/>
          <a:lstStyle/>
          <a:p>
            <a:pPr indent="0" marL="0">
              <a:buNone/>
            </a:pPr>
            <a:r>
              <a:rPr lang="en-US" sz="1000" dirty="0">
                <a:solidFill>
                  <a:srgbClr val="545559"/>
                </a:solidFill>
                <a:latin typeface="Poppins" pitchFamily="34" charset="0"/>
                <a:ea typeface="Poppins" pitchFamily="34" charset="-122"/>
                <a:cs typeface="Poppins" pitchFamily="34" charset="-120"/>
              </a:rPr>
              <a:t>2027</a:t>
            </a:r>
            <a:endParaRPr lang="en-US" sz="1000" dirty="0"/>
          </a:p>
        </p:txBody>
      </p:sp>
      <p:sp>
        <p:nvSpPr>
          <p:cNvPr id="33" name="Shape 31"/>
          <p:cNvSpPr/>
          <p:nvPr/>
        </p:nvSpPr>
        <p:spPr>
          <a:xfrm>
            <a:off x="713232" y="2743200"/>
            <a:ext cx="4925099" cy="411480"/>
          </a:xfrm>
          <a:prstGeom prst="roundRect">
            <a:avLst>
              <a:gd name="adj" fmla="val 26667"/>
            </a:avLst>
          </a:prstGeom>
          <a:solidFill>
            <a:srgbClr val="111111"/>
          </a:solidFill>
          <a:ln w="12700">
            <a:solidFill>
              <a:srgbClr val="111111"/>
            </a:solidFill>
            <a:prstDash val="solid"/>
          </a:ln>
        </p:spPr>
      </p:sp>
      <p:sp>
        <p:nvSpPr>
          <p:cNvPr id="34" name="Text 32"/>
          <p:cNvSpPr txBox="1"/>
          <p:nvPr/>
        </p:nvSpPr>
        <p:spPr>
          <a:xfrm>
            <a:off x="822960" y="2743200"/>
            <a:ext cx="4705643" cy="411480"/>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Kundenkampagne „Kostenlose Sicherheitsberatung“</a:t>
            </a:r>
            <a:endParaRPr lang="en-US" sz="1100" dirty="0"/>
          </a:p>
        </p:txBody>
      </p:sp>
      <p:sp>
        <p:nvSpPr>
          <p:cNvPr id="35" name="Shape 33"/>
          <p:cNvSpPr/>
          <p:nvPr/>
        </p:nvSpPr>
        <p:spPr>
          <a:xfrm>
            <a:off x="3203214" y="3291840"/>
            <a:ext cx="3265111" cy="411480"/>
          </a:xfrm>
          <a:prstGeom prst="roundRect">
            <a:avLst>
              <a:gd name="adj" fmla="val 26667"/>
            </a:avLst>
          </a:prstGeom>
          <a:solidFill>
            <a:srgbClr val="EB5A1B"/>
          </a:solidFill>
          <a:ln w="12700">
            <a:solidFill>
              <a:srgbClr val="EB5A1B"/>
            </a:solidFill>
            <a:prstDash val="solid"/>
          </a:ln>
        </p:spPr>
      </p:sp>
      <p:sp>
        <p:nvSpPr>
          <p:cNvPr id="36" name="Text 34"/>
          <p:cNvSpPr txBox="1"/>
          <p:nvPr/>
        </p:nvSpPr>
        <p:spPr>
          <a:xfrm>
            <a:off x="3312942" y="3291840"/>
            <a:ext cx="3045655" cy="411480"/>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Azubi-Kampagne „Mach Alarm. Beruflich.“</a:t>
            </a:r>
            <a:endParaRPr lang="en-US" sz="1100" dirty="0"/>
          </a:p>
        </p:txBody>
      </p:sp>
      <p:sp>
        <p:nvSpPr>
          <p:cNvPr id="37" name="Shape 35"/>
          <p:cNvSpPr/>
          <p:nvPr/>
        </p:nvSpPr>
        <p:spPr>
          <a:xfrm>
            <a:off x="9843164" y="3291840"/>
            <a:ext cx="1605124" cy="411480"/>
          </a:xfrm>
          <a:prstGeom prst="roundRect">
            <a:avLst>
              <a:gd name="adj" fmla="val 26667"/>
            </a:avLst>
          </a:prstGeom>
          <a:solidFill>
            <a:srgbClr val="EB5A1B"/>
          </a:solidFill>
          <a:ln w="12700">
            <a:solidFill>
              <a:srgbClr val="EB5A1B"/>
            </a:solidFill>
            <a:prstDash val="solid"/>
          </a:ln>
        </p:spPr>
      </p:sp>
      <p:sp>
        <p:nvSpPr>
          <p:cNvPr id="38" name="Text 36"/>
          <p:cNvSpPr txBox="1"/>
          <p:nvPr/>
        </p:nvSpPr>
        <p:spPr>
          <a:xfrm>
            <a:off x="9952892" y="3291840"/>
            <a:ext cx="1385668" cy="411480"/>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Messe &amp; Herbst</a:t>
            </a:r>
            <a:endParaRPr lang="en-US" sz="1100" dirty="0"/>
          </a:p>
        </p:txBody>
      </p:sp>
      <p:sp>
        <p:nvSpPr>
          <p:cNvPr id="39" name="Shape 37"/>
          <p:cNvSpPr/>
          <p:nvPr/>
        </p:nvSpPr>
        <p:spPr>
          <a:xfrm>
            <a:off x="713232" y="3840480"/>
            <a:ext cx="775130" cy="411480"/>
          </a:xfrm>
          <a:prstGeom prst="roundRect">
            <a:avLst>
              <a:gd name="adj" fmla="val 26667"/>
            </a:avLst>
          </a:prstGeom>
          <a:solidFill>
            <a:srgbClr val="E9E9EA"/>
          </a:solidFill>
          <a:ln w="12700">
            <a:solidFill>
              <a:srgbClr val="E9E9EA"/>
            </a:solidFill>
            <a:prstDash val="solid"/>
          </a:ln>
        </p:spPr>
      </p:sp>
      <p:sp>
        <p:nvSpPr>
          <p:cNvPr id="40" name="Text 38"/>
          <p:cNvSpPr txBox="1"/>
          <p:nvPr/>
        </p:nvSpPr>
        <p:spPr>
          <a:xfrm>
            <a:off x="822960" y="3840480"/>
            <a:ext cx="555674" cy="411480"/>
          </a:xfrm>
          <a:prstGeom prst="rect">
            <a:avLst/>
          </a:prstGeom>
          <a:noFill/>
          <a:ln/>
        </p:spPr>
        <p:txBody>
          <a:bodyPr wrap="square" lIns="0" tIns="0" rIns="0" bIns="0" rtlCol="0" anchor="ctr"/>
          <a:lstStyle/>
          <a:p>
            <a:pPr indent="0" marL="0">
              <a:buNone/>
            </a:pPr>
            <a:r>
              <a:rPr lang="en-US" sz="1100" dirty="0">
                <a:solidFill>
                  <a:srgbClr val="111111"/>
                </a:solidFill>
                <a:latin typeface="Poppins SemiBold" pitchFamily="34" charset="0"/>
                <a:ea typeface="Poppins SemiBold" pitchFamily="34" charset="-122"/>
                <a:cs typeface="Poppins SemiBold" pitchFamily="34" charset="-120"/>
              </a:rPr>
              <a:t>Aufbau</a:t>
            </a:r>
            <a:endParaRPr lang="en-US" sz="1100" dirty="0"/>
          </a:p>
        </p:txBody>
      </p:sp>
      <p:sp>
        <p:nvSpPr>
          <p:cNvPr id="41" name="Shape 39"/>
          <p:cNvSpPr/>
          <p:nvPr/>
        </p:nvSpPr>
        <p:spPr>
          <a:xfrm>
            <a:off x="1018501" y="4535424"/>
            <a:ext cx="164592" cy="164592"/>
          </a:xfrm>
          <a:prstGeom prst="ellipse">
            <a:avLst/>
          </a:prstGeom>
          <a:solidFill>
            <a:srgbClr val="EB5A1B"/>
          </a:solidFill>
          <a:ln w="12700">
            <a:solidFill>
              <a:srgbClr val="EB5A1B"/>
            </a:solidFill>
            <a:prstDash val="solid"/>
          </a:ln>
        </p:spPr>
      </p:sp>
      <p:sp>
        <p:nvSpPr>
          <p:cNvPr id="42" name="Text 40"/>
          <p:cNvSpPr txBox="1"/>
          <p:nvPr/>
        </p:nvSpPr>
        <p:spPr>
          <a:xfrm>
            <a:off x="1265389" y="4480560"/>
            <a:ext cx="2331720" cy="274320"/>
          </a:xfrm>
          <a:prstGeom prst="rect">
            <a:avLst/>
          </a:prstGeom>
          <a:noFill/>
          <a:ln/>
        </p:spPr>
        <p:txBody>
          <a:bodyPr wrap="square" lIns="0" tIns="0" rIns="0" bIns="0" rtlCol="0" anchor="t"/>
          <a:lstStyle/>
          <a:p>
            <a:pPr algn="l" indent="0" marL="0">
              <a:buNone/>
            </a:pPr>
            <a:r>
              <a:rPr lang="en-US" sz="1100" dirty="0">
                <a:solidFill>
                  <a:srgbClr val="222222"/>
                </a:solidFill>
                <a:latin typeface="Poppins" pitchFamily="34" charset="0"/>
                <a:ea typeface="Poppins" pitchFamily="34" charset="-122"/>
                <a:cs typeface="Poppins" pitchFamily="34" charset="-120"/>
              </a:rPr>
              <a:t>25.10. Start (Einbruchschutz-Tag)</a:t>
            </a:r>
            <a:endParaRPr lang="en-US" sz="1100" dirty="0"/>
          </a:p>
        </p:txBody>
      </p:sp>
      <p:sp>
        <p:nvSpPr>
          <p:cNvPr id="43" name="Shape 41"/>
          <p:cNvSpPr/>
          <p:nvPr/>
        </p:nvSpPr>
        <p:spPr>
          <a:xfrm>
            <a:off x="1848495" y="5084064"/>
            <a:ext cx="164592" cy="164592"/>
          </a:xfrm>
          <a:prstGeom prst="ellipse">
            <a:avLst/>
          </a:prstGeom>
          <a:solidFill>
            <a:srgbClr val="EB5A1B"/>
          </a:solidFill>
          <a:ln w="12700">
            <a:solidFill>
              <a:srgbClr val="EB5A1B"/>
            </a:solidFill>
            <a:prstDash val="solid"/>
          </a:ln>
        </p:spPr>
      </p:sp>
      <p:sp>
        <p:nvSpPr>
          <p:cNvPr id="44" name="Text 42"/>
          <p:cNvSpPr txBox="1"/>
          <p:nvPr/>
        </p:nvSpPr>
        <p:spPr>
          <a:xfrm>
            <a:off x="2095383" y="5029200"/>
            <a:ext cx="2331720" cy="274320"/>
          </a:xfrm>
          <a:prstGeom prst="rect">
            <a:avLst/>
          </a:prstGeom>
          <a:noFill/>
          <a:ln/>
        </p:spPr>
        <p:txBody>
          <a:bodyPr wrap="square" lIns="0" tIns="0" rIns="0" bIns="0" rtlCol="0" anchor="t"/>
          <a:lstStyle/>
          <a:p>
            <a:pPr algn="l" indent="0" marL="0">
              <a:buNone/>
            </a:pPr>
            <a:r>
              <a:rPr lang="en-US" sz="1100" dirty="0">
                <a:solidFill>
                  <a:srgbClr val="222222"/>
                </a:solidFill>
                <a:latin typeface="Poppins" pitchFamily="34" charset="0"/>
                <a:ea typeface="Poppins" pitchFamily="34" charset="-122"/>
                <a:cs typeface="Poppins" pitchFamily="34" charset="-120"/>
              </a:rPr>
              <a:t>13.11. Rauchmeldertag</a:t>
            </a:r>
            <a:endParaRPr lang="en-US" sz="1100" dirty="0"/>
          </a:p>
        </p:txBody>
      </p:sp>
      <p:sp>
        <p:nvSpPr>
          <p:cNvPr id="45" name="Shape 43"/>
          <p:cNvSpPr/>
          <p:nvPr/>
        </p:nvSpPr>
        <p:spPr>
          <a:xfrm>
            <a:off x="5998464" y="4535424"/>
            <a:ext cx="164592" cy="164592"/>
          </a:xfrm>
          <a:prstGeom prst="ellipse">
            <a:avLst/>
          </a:prstGeom>
          <a:solidFill>
            <a:srgbClr val="EB5A1B"/>
          </a:solidFill>
          <a:ln w="12700">
            <a:solidFill>
              <a:srgbClr val="EB5A1B"/>
            </a:solidFill>
            <a:prstDash val="solid"/>
          </a:ln>
        </p:spPr>
      </p:sp>
      <p:sp>
        <p:nvSpPr>
          <p:cNvPr id="46" name="Text 44"/>
          <p:cNvSpPr txBox="1"/>
          <p:nvPr/>
        </p:nvSpPr>
        <p:spPr>
          <a:xfrm>
            <a:off x="6245352" y="4480560"/>
            <a:ext cx="2331720" cy="274320"/>
          </a:xfrm>
          <a:prstGeom prst="rect">
            <a:avLst/>
          </a:prstGeom>
          <a:noFill/>
          <a:ln/>
        </p:spPr>
        <p:txBody>
          <a:bodyPr wrap="square" lIns="0" tIns="0" rIns="0" bIns="0" rtlCol="0" anchor="t"/>
          <a:lstStyle/>
          <a:p>
            <a:pPr algn="l" indent="0" marL="0">
              <a:buNone/>
            </a:pPr>
            <a:r>
              <a:rPr lang="en-US" sz="1100" dirty="0">
                <a:solidFill>
                  <a:srgbClr val="222222"/>
                </a:solidFill>
                <a:latin typeface="Poppins" pitchFamily="34" charset="0"/>
                <a:ea typeface="Poppins" pitchFamily="34" charset="-122"/>
                <a:cs typeface="Poppins" pitchFamily="34" charset="-120"/>
              </a:rPr>
              <a:t>6-Monats-Review</a:t>
            </a:r>
            <a:endParaRPr lang="en-US" sz="1100" dirty="0"/>
          </a:p>
        </p:txBody>
      </p:sp>
      <p:sp>
        <p:nvSpPr>
          <p:cNvPr id="47" name="Shape 45"/>
          <p:cNvSpPr/>
          <p:nvPr/>
        </p:nvSpPr>
        <p:spPr>
          <a:xfrm>
            <a:off x="9318439" y="5084064"/>
            <a:ext cx="164592" cy="164592"/>
          </a:xfrm>
          <a:prstGeom prst="ellipse">
            <a:avLst/>
          </a:prstGeom>
          <a:solidFill>
            <a:srgbClr val="EB5A1B"/>
          </a:solidFill>
          <a:ln w="12700">
            <a:solidFill>
              <a:srgbClr val="EB5A1B"/>
            </a:solidFill>
            <a:prstDash val="solid"/>
          </a:ln>
        </p:spPr>
      </p:sp>
      <p:sp>
        <p:nvSpPr>
          <p:cNvPr id="48" name="Text 46"/>
          <p:cNvSpPr txBox="1"/>
          <p:nvPr/>
        </p:nvSpPr>
        <p:spPr>
          <a:xfrm>
            <a:off x="6886135" y="5029200"/>
            <a:ext cx="2331720" cy="274320"/>
          </a:xfrm>
          <a:prstGeom prst="rect">
            <a:avLst/>
          </a:prstGeom>
          <a:noFill/>
          <a:ln/>
        </p:spPr>
        <p:txBody>
          <a:bodyPr wrap="square" lIns="0" tIns="0" rIns="0" bIns="0" rtlCol="0" anchor="t"/>
          <a:lstStyle/>
          <a:p>
            <a:pPr algn="r" indent="0" marL="0">
              <a:buNone/>
            </a:pPr>
            <a:r>
              <a:rPr lang="en-US" sz="1100" dirty="0">
                <a:solidFill>
                  <a:srgbClr val="222222"/>
                </a:solidFill>
                <a:latin typeface="Poppins" pitchFamily="34" charset="0"/>
                <a:ea typeface="Poppins" pitchFamily="34" charset="-122"/>
                <a:cs typeface="Poppins" pitchFamily="34" charset="-120"/>
              </a:rPr>
              <a:t>13.08. Rauchmeldertag</a:t>
            </a:r>
            <a:endParaRPr lang="en-US" sz="1100" dirty="0"/>
          </a:p>
        </p:txBody>
      </p:sp>
      <p:sp>
        <p:nvSpPr>
          <p:cNvPr id="49" name="Shape 47"/>
          <p:cNvSpPr/>
          <p:nvPr/>
        </p:nvSpPr>
        <p:spPr>
          <a:xfrm>
            <a:off x="10148433" y="5632704"/>
            <a:ext cx="164592" cy="164592"/>
          </a:xfrm>
          <a:prstGeom prst="ellipse">
            <a:avLst/>
          </a:prstGeom>
          <a:solidFill>
            <a:srgbClr val="EB5A1B"/>
          </a:solidFill>
          <a:ln w="12700">
            <a:solidFill>
              <a:srgbClr val="EB5A1B"/>
            </a:solidFill>
            <a:prstDash val="solid"/>
          </a:ln>
        </p:spPr>
      </p:sp>
      <p:sp>
        <p:nvSpPr>
          <p:cNvPr id="50" name="Text 48"/>
          <p:cNvSpPr txBox="1"/>
          <p:nvPr/>
        </p:nvSpPr>
        <p:spPr>
          <a:xfrm>
            <a:off x="7716129" y="5577840"/>
            <a:ext cx="2331720" cy="274320"/>
          </a:xfrm>
          <a:prstGeom prst="rect">
            <a:avLst/>
          </a:prstGeom>
          <a:noFill/>
          <a:ln/>
        </p:spPr>
        <p:txBody>
          <a:bodyPr wrap="square" lIns="0" tIns="0" rIns="0" bIns="0" rtlCol="0" anchor="t"/>
          <a:lstStyle/>
          <a:p>
            <a:pPr algn="r" indent="0" marL="0">
              <a:buNone/>
            </a:pPr>
            <a:r>
              <a:rPr lang="en-US" sz="1100" dirty="0">
                <a:solidFill>
                  <a:srgbClr val="222222"/>
                </a:solidFill>
                <a:latin typeface="Poppins" pitchFamily="34" charset="0"/>
                <a:ea typeface="Poppins" pitchFamily="34" charset="-122"/>
                <a:cs typeface="Poppins" pitchFamily="34" charset="-120"/>
              </a:rPr>
              <a:t>Ausbildungsstart</a:t>
            </a:r>
            <a:endParaRPr lang="en-US" sz="1100" dirty="0"/>
          </a:p>
        </p:txBody>
      </p:sp>
      <p:sp>
        <p:nvSpPr>
          <p:cNvPr id="51" name="Shape 49"/>
          <p:cNvSpPr/>
          <p:nvPr/>
        </p:nvSpPr>
        <p:spPr>
          <a:xfrm>
            <a:off x="10978427" y="4535424"/>
            <a:ext cx="164592" cy="164592"/>
          </a:xfrm>
          <a:prstGeom prst="ellipse">
            <a:avLst/>
          </a:prstGeom>
          <a:solidFill>
            <a:srgbClr val="EB5A1B"/>
          </a:solidFill>
          <a:ln w="12700">
            <a:solidFill>
              <a:srgbClr val="EB5A1B"/>
            </a:solidFill>
            <a:prstDash val="solid"/>
          </a:ln>
        </p:spPr>
      </p:sp>
      <p:sp>
        <p:nvSpPr>
          <p:cNvPr id="52" name="Text 50"/>
          <p:cNvSpPr txBox="1"/>
          <p:nvPr/>
        </p:nvSpPr>
        <p:spPr>
          <a:xfrm>
            <a:off x="8546123" y="4480560"/>
            <a:ext cx="2331720" cy="274320"/>
          </a:xfrm>
          <a:prstGeom prst="rect">
            <a:avLst/>
          </a:prstGeom>
          <a:noFill/>
          <a:ln/>
        </p:spPr>
        <p:txBody>
          <a:bodyPr wrap="square" lIns="0" tIns="0" rIns="0" bIns="0" rtlCol="0" anchor="t"/>
          <a:lstStyle/>
          <a:p>
            <a:pPr algn="r" indent="0" marL="0">
              <a:buNone/>
            </a:pPr>
            <a:r>
              <a:rPr lang="en-US" sz="1100" dirty="0">
                <a:solidFill>
                  <a:srgbClr val="222222"/>
                </a:solidFill>
                <a:latin typeface="Poppins" pitchFamily="34" charset="0"/>
                <a:ea typeface="Poppins" pitchFamily="34" charset="-122"/>
                <a:cs typeface="Poppins" pitchFamily="34" charset="-120"/>
              </a:rPr>
              <a:t>31.10.2027 Jahresbilanz</a:t>
            </a:r>
            <a:endParaRPr lang="en-US" sz="1100" dirty="0"/>
          </a:p>
        </p:txBody>
      </p:sp>
      <p:pic>
        <p:nvPicPr>
          <p:cNvPr id="53" name="Image 0" descr="/home/user/Marlene/poleschak-social-media/assets/logo-transparent.png">    </p:cNvPr>
          <p:cNvPicPr>
            <a:picLocks noChangeAspect="1"/>
          </p:cNvPicPr>
          <p:nvPr/>
        </p:nvPicPr>
        <p:blipFill>
          <a:blip r:embed="rId1"/>
          <a:stretch>
            <a:fillRect/>
          </a:stretch>
        </p:blipFill>
        <p:spPr>
          <a:xfrm>
            <a:off x="685800" y="6291072"/>
            <a:ext cx="643680" cy="329184"/>
          </a:xfrm>
          <a:prstGeom prst="rect">
            <a:avLst/>
          </a:prstGeom>
        </p:spPr>
      </p:pic>
      <p:sp>
        <p:nvSpPr>
          <p:cNvPr id="54" name="Text 51"/>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5A1B"/>
        </a:solidFill>
      </p:bgPr>
    </p:bg>
    <p:spTree>
      <p:nvGrpSpPr>
        <p:cNvPr id="1" name=""/>
        <p:cNvGrpSpPr/>
        <p:nvPr/>
      </p:nvGrpSpPr>
      <p:grpSpPr>
        <a:xfrm>
          <a:off x="0" y="0"/>
          <a:ext cx="0" cy="0"/>
          <a:chOff x="0" y="0"/>
          <a:chExt cx="0" cy="0"/>
        </a:xfrm>
      </p:grpSpPr>
      <p:pic>
        <p:nvPicPr>
          <p:cNvPr id="2" name="Image 0" descr="/tmp/claude-0/-home-user-Marlene/67342075-d45e-5dfd-8246-b97e829a8c42/scratchpad/deck/img/waves-k.png">    </p:cNvPr>
          <p:cNvPicPr>
            <a:picLocks noChangeAspect="1"/>
          </p:cNvPicPr>
          <p:nvPr/>
        </p:nvPicPr>
        <p:blipFill>
          <a:blip r:embed="rId1"/>
          <a:stretch>
            <a:fillRect/>
          </a:stretch>
        </p:blipFill>
        <p:spPr>
          <a:xfrm>
            <a:off x="8503920" y="2926080"/>
            <a:ext cx="4206240" cy="4206240"/>
          </a:xfrm>
          <a:prstGeom prst="rect">
            <a:avLst/>
          </a:prstGeom>
        </p:spPr>
      </p:pic>
      <p:sp>
        <p:nvSpPr>
          <p:cNvPr id="3" name="Shape 0"/>
          <p:cNvSpPr/>
          <p:nvPr/>
        </p:nvSpPr>
        <p:spPr>
          <a:xfrm>
            <a:off x="685800" y="566928"/>
            <a:ext cx="146304" cy="146304"/>
          </a:xfrm>
          <a:prstGeom prst="ellipse">
            <a:avLst/>
          </a:prstGeom>
          <a:solidFill>
            <a:srgbClr val="111111"/>
          </a:solidFill>
          <a:ln w="12700">
            <a:solidFill>
              <a:srgbClr val="111111"/>
            </a:solidFill>
            <a:prstDash val="solid"/>
          </a:ln>
        </p:spPr>
      </p:sp>
      <p:sp>
        <p:nvSpPr>
          <p:cNvPr id="4"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111111"/>
                </a:solidFill>
                <a:latin typeface="Poppins Light" pitchFamily="34" charset="0"/>
                <a:ea typeface="Poppins Light" pitchFamily="34" charset="-122"/>
                <a:cs typeface="Poppins Light" pitchFamily="34" charset="-120"/>
              </a:rPr>
              <a:t>RECRUITING-KAMPAGNE</a:t>
            </a:r>
            <a:endParaRPr lang="en-US" sz="1200" dirty="0"/>
          </a:p>
        </p:txBody>
      </p:sp>
      <p:sp>
        <p:nvSpPr>
          <p:cNvPr id="5" name="Text 2"/>
          <p:cNvSpPr txBox="1"/>
          <p:nvPr/>
        </p:nvSpPr>
        <p:spPr>
          <a:xfrm>
            <a:off x="685800" y="868680"/>
            <a:ext cx="10058400" cy="822960"/>
          </a:xfrm>
          <a:prstGeom prst="rect">
            <a:avLst/>
          </a:prstGeom>
          <a:noFill/>
          <a:ln/>
        </p:spPr>
        <p:txBody>
          <a:bodyPr wrap="square" lIns="0" tIns="0" rIns="0" bIns="0" rtlCol="0" anchor="ctr"/>
          <a:lstStyle/>
          <a:p>
            <a:pPr indent="0" marL="0">
              <a:buNone/>
            </a:pPr>
            <a:r>
              <a:rPr lang="en-US" sz="3800" dirty="0">
                <a:solidFill>
                  <a:srgbClr val="FFFFFF"/>
                </a:solidFill>
                <a:latin typeface="Poppins ExtraBold" pitchFamily="34" charset="0"/>
                <a:ea typeface="Poppins ExtraBold" pitchFamily="34" charset="-122"/>
                <a:cs typeface="Poppins ExtraBold" pitchFamily="34" charset="-120"/>
              </a:rPr>
              <a:t>Mach Alarm. </a:t>
            </a:r>
            <a:pPr indent="0" marL="0">
              <a:buNone/>
            </a:pPr>
            <a:r>
              <a:rPr lang="en-US" sz="3800" dirty="0">
                <a:solidFill>
                  <a:srgbClr val="111111"/>
                </a:solidFill>
                <a:latin typeface="Poppins ExtraBold" pitchFamily="34" charset="0"/>
                <a:ea typeface="Poppins ExtraBold" pitchFamily="34" charset="-122"/>
                <a:cs typeface="Poppins ExtraBold" pitchFamily="34" charset="-120"/>
              </a:rPr>
              <a:t>Beruflich.</a:t>
            </a:r>
            <a:endParaRPr lang="en-US" sz="3800" dirty="0"/>
          </a:p>
        </p:txBody>
      </p:sp>
      <p:sp>
        <p:nvSpPr>
          <p:cNvPr id="6" name="Shape 3"/>
          <p:cNvSpPr/>
          <p:nvPr/>
        </p:nvSpPr>
        <p:spPr>
          <a:xfrm>
            <a:off x="685800" y="1920240"/>
            <a:ext cx="2514600" cy="2651760"/>
          </a:xfrm>
          <a:prstGeom prst="roundRect">
            <a:avLst>
              <a:gd name="adj" fmla="val 4364"/>
            </a:avLst>
          </a:prstGeom>
          <a:solidFill>
            <a:srgbClr val="111111"/>
          </a:solidFill>
          <a:ln w="12700">
            <a:solidFill>
              <a:srgbClr val="111111"/>
            </a:solidFill>
            <a:prstDash val="solid"/>
          </a:ln>
        </p:spPr>
      </p:sp>
      <p:sp>
        <p:nvSpPr>
          <p:cNvPr id="7" name="Text 4"/>
          <p:cNvSpPr txBox="1"/>
          <p:nvPr/>
        </p:nvSpPr>
        <p:spPr>
          <a:xfrm>
            <a:off x="914400" y="2103120"/>
            <a:ext cx="2103120" cy="320040"/>
          </a:xfrm>
          <a:prstGeom prst="rect">
            <a:avLst/>
          </a:prstGeom>
          <a:noFill/>
          <a:ln/>
        </p:spPr>
        <p:txBody>
          <a:bodyPr wrap="square" lIns="0" tIns="0" rIns="0" bIns="0" rtlCol="0" anchor="t"/>
          <a:lstStyle/>
          <a:p>
            <a:pPr indent="0" marL="0">
              <a:buNone/>
            </a:pPr>
            <a:r>
              <a:rPr lang="en-US" sz="1400" dirty="0">
                <a:solidFill>
                  <a:srgbClr val="EB5A1B"/>
                </a:solidFill>
                <a:latin typeface="Poppins SemiBold" pitchFamily="34" charset="0"/>
                <a:ea typeface="Poppins SemiBold" pitchFamily="34" charset="-122"/>
                <a:cs typeface="Poppins SemiBold" pitchFamily="34" charset="-120"/>
              </a:rPr>
              <a:t>1 · Aufmerksamkeit</a:t>
            </a:r>
            <a:endParaRPr lang="en-US" sz="1400" dirty="0"/>
          </a:p>
        </p:txBody>
      </p:sp>
      <p:sp>
        <p:nvSpPr>
          <p:cNvPr id="8" name="Text 5"/>
          <p:cNvSpPr txBox="1"/>
          <p:nvPr/>
        </p:nvSpPr>
        <p:spPr>
          <a:xfrm>
            <a:off x="914400" y="2468880"/>
            <a:ext cx="2103120" cy="274320"/>
          </a:xfrm>
          <a:prstGeom prst="rect">
            <a:avLst/>
          </a:prstGeom>
          <a:noFill/>
          <a:ln/>
        </p:spPr>
        <p:txBody>
          <a:bodyPr wrap="square" lIns="0" tIns="0" rIns="0" bIns="0" rtlCol="0" anchor="t"/>
          <a:lstStyle/>
          <a:p>
            <a:pPr indent="0" marL="0">
              <a:buNone/>
            </a:pPr>
            <a:r>
              <a:rPr lang="en-US" sz="1100" dirty="0">
                <a:solidFill>
                  <a:srgbClr val="B4B5BB"/>
                </a:solidFill>
                <a:latin typeface="Poppins" pitchFamily="34" charset="0"/>
                <a:ea typeface="Poppins" pitchFamily="34" charset="-122"/>
                <a:cs typeface="Poppins" pitchFamily="34" charset="-120"/>
              </a:rPr>
              <a:t>Jan.–Feb.</a:t>
            </a:r>
            <a:endParaRPr lang="en-US" sz="1100" dirty="0"/>
          </a:p>
        </p:txBody>
      </p:sp>
      <p:sp>
        <p:nvSpPr>
          <p:cNvPr id="9" name="Text 6"/>
          <p:cNvSpPr txBox="1"/>
          <p:nvPr/>
        </p:nvSpPr>
        <p:spPr>
          <a:xfrm>
            <a:off x="914400" y="2880360"/>
            <a:ext cx="2103120" cy="1005840"/>
          </a:xfrm>
          <a:prstGeom prst="rect">
            <a:avLst/>
          </a:prstGeom>
          <a:noFill/>
          <a:ln/>
        </p:spPr>
        <p:txBody>
          <a:bodyPr wrap="square" lIns="0" tIns="0" rIns="0" bIns="0" rtlCol="0" anchor="t"/>
          <a:lstStyle/>
          <a:p>
            <a:pPr indent="0" marL="0">
              <a:buNone/>
            </a:pPr>
            <a:r>
              <a:rPr lang="en-US" sz="1200" dirty="0">
                <a:solidFill>
                  <a:srgbClr val="FFFFFF"/>
                </a:solidFill>
                <a:latin typeface="Poppins" pitchFamily="34" charset="0"/>
                <a:ea typeface="Poppins" pitchFamily="34" charset="-122"/>
                <a:cs typeface="Poppins" pitchFamily="34" charset="-120"/>
              </a:rPr>
              <a:t>„Frag den Azubi“, Tag als Azubi, Technik-Reels</a:t>
            </a:r>
            <a:endParaRPr lang="en-US" sz="1200" dirty="0"/>
          </a:p>
        </p:txBody>
      </p:sp>
      <p:sp>
        <p:nvSpPr>
          <p:cNvPr id="10" name="Text 7"/>
          <p:cNvSpPr txBox="1"/>
          <p:nvPr/>
        </p:nvSpPr>
        <p:spPr>
          <a:xfrm>
            <a:off x="914400" y="4069080"/>
            <a:ext cx="2103120" cy="320040"/>
          </a:xfrm>
          <a:prstGeom prst="rect">
            <a:avLst/>
          </a:prstGeom>
          <a:noFill/>
          <a:ln/>
        </p:spPr>
        <p:txBody>
          <a:bodyPr wrap="square" lIns="0" tIns="0" rIns="0" bIns="0" rtlCol="0" anchor="t"/>
          <a:lstStyle/>
          <a:p>
            <a:pPr indent="0" marL="0">
              <a:buNone/>
            </a:pPr>
            <a:r>
              <a:rPr lang="en-US" sz="1300" dirty="0">
                <a:solidFill>
                  <a:srgbClr val="EB5A1B"/>
                </a:solidFill>
                <a:latin typeface="Poppins SemiBold" pitchFamily="34" charset="0"/>
                <a:ea typeface="Poppins SemiBold" pitchFamily="34" charset="-122"/>
                <a:cs typeface="Poppins SemiBold" pitchFamily="34" charset="-120"/>
              </a:rPr>
              <a:t>→ Folgen &amp; Teilen</a:t>
            </a:r>
            <a:endParaRPr lang="en-US" sz="1300" dirty="0"/>
          </a:p>
        </p:txBody>
      </p:sp>
      <p:sp>
        <p:nvSpPr>
          <p:cNvPr id="11" name="Shape 8"/>
          <p:cNvSpPr/>
          <p:nvPr/>
        </p:nvSpPr>
        <p:spPr>
          <a:xfrm>
            <a:off x="3383280" y="1920240"/>
            <a:ext cx="2514600" cy="2651760"/>
          </a:xfrm>
          <a:prstGeom prst="roundRect">
            <a:avLst>
              <a:gd name="adj" fmla="val 4364"/>
            </a:avLst>
          </a:prstGeom>
          <a:solidFill>
            <a:srgbClr val="111111"/>
          </a:solidFill>
          <a:ln w="12700">
            <a:solidFill>
              <a:srgbClr val="111111"/>
            </a:solidFill>
            <a:prstDash val="solid"/>
          </a:ln>
        </p:spPr>
      </p:sp>
      <p:sp>
        <p:nvSpPr>
          <p:cNvPr id="12" name="Text 9"/>
          <p:cNvSpPr txBox="1"/>
          <p:nvPr/>
        </p:nvSpPr>
        <p:spPr>
          <a:xfrm>
            <a:off x="3611880" y="2103120"/>
            <a:ext cx="2103120" cy="320040"/>
          </a:xfrm>
          <a:prstGeom prst="rect">
            <a:avLst/>
          </a:prstGeom>
          <a:noFill/>
          <a:ln/>
        </p:spPr>
        <p:txBody>
          <a:bodyPr wrap="square" lIns="0" tIns="0" rIns="0" bIns="0" rtlCol="0" anchor="t"/>
          <a:lstStyle/>
          <a:p>
            <a:pPr indent="0" marL="0">
              <a:buNone/>
            </a:pPr>
            <a:r>
              <a:rPr lang="en-US" sz="1400" dirty="0">
                <a:solidFill>
                  <a:srgbClr val="EB5A1B"/>
                </a:solidFill>
                <a:latin typeface="Poppins SemiBold" pitchFamily="34" charset="0"/>
                <a:ea typeface="Poppins SemiBold" pitchFamily="34" charset="-122"/>
                <a:cs typeface="Poppins SemiBold" pitchFamily="34" charset="-120"/>
              </a:rPr>
              <a:t>2 · Bewerbung</a:t>
            </a:r>
            <a:endParaRPr lang="en-US" sz="1400" dirty="0"/>
          </a:p>
        </p:txBody>
      </p:sp>
      <p:sp>
        <p:nvSpPr>
          <p:cNvPr id="13" name="Text 10"/>
          <p:cNvSpPr txBox="1"/>
          <p:nvPr/>
        </p:nvSpPr>
        <p:spPr>
          <a:xfrm>
            <a:off x="3611880" y="2468880"/>
            <a:ext cx="2103120" cy="274320"/>
          </a:xfrm>
          <a:prstGeom prst="rect">
            <a:avLst/>
          </a:prstGeom>
          <a:noFill/>
          <a:ln/>
        </p:spPr>
        <p:txBody>
          <a:bodyPr wrap="square" lIns="0" tIns="0" rIns="0" bIns="0" rtlCol="0" anchor="t"/>
          <a:lstStyle/>
          <a:p>
            <a:pPr indent="0" marL="0">
              <a:buNone/>
            </a:pPr>
            <a:r>
              <a:rPr lang="en-US" sz="1100" dirty="0">
                <a:solidFill>
                  <a:srgbClr val="B4B5BB"/>
                </a:solidFill>
                <a:latin typeface="Poppins" pitchFamily="34" charset="0"/>
                <a:ea typeface="Poppins" pitchFamily="34" charset="-122"/>
                <a:cs typeface="Poppins" pitchFamily="34" charset="-120"/>
              </a:rPr>
              <a:t>Feb.–Apr.</a:t>
            </a:r>
            <a:endParaRPr lang="en-US" sz="1100" dirty="0"/>
          </a:p>
        </p:txBody>
      </p:sp>
      <p:sp>
        <p:nvSpPr>
          <p:cNvPr id="14" name="Text 11"/>
          <p:cNvSpPr txBox="1"/>
          <p:nvPr/>
        </p:nvSpPr>
        <p:spPr>
          <a:xfrm>
            <a:off x="3611880" y="2880360"/>
            <a:ext cx="2103120" cy="1005840"/>
          </a:xfrm>
          <a:prstGeom prst="rect">
            <a:avLst/>
          </a:prstGeom>
          <a:noFill/>
          <a:ln/>
        </p:spPr>
        <p:txBody>
          <a:bodyPr wrap="square" lIns="0" tIns="0" rIns="0" bIns="0" rtlCol="0" anchor="t"/>
          <a:lstStyle/>
          <a:p>
            <a:pPr indent="0" marL="0">
              <a:buNone/>
            </a:pPr>
            <a:r>
              <a:rPr lang="en-US" sz="1200" dirty="0">
                <a:solidFill>
                  <a:srgbClr val="FFFFFF"/>
                </a:solidFill>
                <a:latin typeface="Poppins" pitchFamily="34" charset="0"/>
                <a:ea typeface="Poppins" pitchFamily="34" charset="-122"/>
                <a:cs typeface="Poppins" pitchFamily="34" charset="-120"/>
              </a:rPr>
              <a:t>Beste Reels werden beworben, Karussell „Ausbildung in 6 Slides“</a:t>
            </a:r>
            <a:endParaRPr lang="en-US" sz="1200" dirty="0"/>
          </a:p>
        </p:txBody>
      </p:sp>
      <p:sp>
        <p:nvSpPr>
          <p:cNvPr id="15" name="Text 12"/>
          <p:cNvSpPr txBox="1"/>
          <p:nvPr/>
        </p:nvSpPr>
        <p:spPr>
          <a:xfrm>
            <a:off x="3611880" y="4069080"/>
            <a:ext cx="2103120" cy="320040"/>
          </a:xfrm>
          <a:prstGeom prst="rect">
            <a:avLst/>
          </a:prstGeom>
          <a:noFill/>
          <a:ln/>
        </p:spPr>
        <p:txBody>
          <a:bodyPr wrap="square" lIns="0" tIns="0" rIns="0" bIns="0" rtlCol="0" anchor="t"/>
          <a:lstStyle/>
          <a:p>
            <a:pPr indent="0" marL="0">
              <a:buNone/>
            </a:pPr>
            <a:r>
              <a:rPr lang="en-US" sz="1300" dirty="0">
                <a:solidFill>
                  <a:srgbClr val="EB5A1B"/>
                </a:solidFill>
                <a:latin typeface="Poppins SemiBold" pitchFamily="34" charset="0"/>
                <a:ea typeface="Poppins SemiBold" pitchFamily="34" charset="-122"/>
                <a:cs typeface="Poppins SemiBold" pitchFamily="34" charset="-120"/>
              </a:rPr>
              <a:t>→ Praktikum anfragen</a:t>
            </a:r>
            <a:endParaRPr lang="en-US" sz="1300" dirty="0"/>
          </a:p>
        </p:txBody>
      </p:sp>
      <p:sp>
        <p:nvSpPr>
          <p:cNvPr id="16" name="Shape 13"/>
          <p:cNvSpPr/>
          <p:nvPr/>
        </p:nvSpPr>
        <p:spPr>
          <a:xfrm>
            <a:off x="6080760" y="1920240"/>
            <a:ext cx="2514600" cy="2651760"/>
          </a:xfrm>
          <a:prstGeom prst="roundRect">
            <a:avLst>
              <a:gd name="adj" fmla="val 4364"/>
            </a:avLst>
          </a:prstGeom>
          <a:solidFill>
            <a:srgbClr val="111111"/>
          </a:solidFill>
          <a:ln w="12700">
            <a:solidFill>
              <a:srgbClr val="111111"/>
            </a:solidFill>
            <a:prstDash val="solid"/>
          </a:ln>
        </p:spPr>
      </p:sp>
      <p:sp>
        <p:nvSpPr>
          <p:cNvPr id="17" name="Text 14"/>
          <p:cNvSpPr txBox="1"/>
          <p:nvPr/>
        </p:nvSpPr>
        <p:spPr>
          <a:xfrm>
            <a:off x="6309360" y="2103120"/>
            <a:ext cx="2103120" cy="320040"/>
          </a:xfrm>
          <a:prstGeom prst="rect">
            <a:avLst/>
          </a:prstGeom>
          <a:noFill/>
          <a:ln/>
        </p:spPr>
        <p:txBody>
          <a:bodyPr wrap="square" lIns="0" tIns="0" rIns="0" bIns="0" rtlCol="0" anchor="t"/>
          <a:lstStyle/>
          <a:p>
            <a:pPr indent="0" marL="0">
              <a:buNone/>
            </a:pPr>
            <a:r>
              <a:rPr lang="en-US" sz="1400" dirty="0">
                <a:solidFill>
                  <a:srgbClr val="EB5A1B"/>
                </a:solidFill>
                <a:latin typeface="Poppins SemiBold" pitchFamily="34" charset="0"/>
                <a:ea typeface="Poppins SemiBold" pitchFamily="34" charset="-122"/>
                <a:cs typeface="Poppins SemiBold" pitchFamily="34" charset="-120"/>
              </a:rPr>
              <a:t>3 · Messe &amp; Herbst</a:t>
            </a:r>
            <a:endParaRPr lang="en-US" sz="1400" dirty="0"/>
          </a:p>
        </p:txBody>
      </p:sp>
      <p:sp>
        <p:nvSpPr>
          <p:cNvPr id="18" name="Text 15"/>
          <p:cNvSpPr txBox="1"/>
          <p:nvPr/>
        </p:nvSpPr>
        <p:spPr>
          <a:xfrm>
            <a:off x="6309360" y="2468880"/>
            <a:ext cx="2103120" cy="274320"/>
          </a:xfrm>
          <a:prstGeom prst="rect">
            <a:avLst/>
          </a:prstGeom>
          <a:noFill/>
          <a:ln/>
        </p:spPr>
        <p:txBody>
          <a:bodyPr wrap="square" lIns="0" tIns="0" rIns="0" bIns="0" rtlCol="0" anchor="t"/>
          <a:lstStyle/>
          <a:p>
            <a:pPr indent="0" marL="0">
              <a:buNone/>
            </a:pPr>
            <a:r>
              <a:rPr lang="en-US" sz="1100" dirty="0">
                <a:solidFill>
                  <a:srgbClr val="B4B5BB"/>
                </a:solidFill>
                <a:latin typeface="Poppins" pitchFamily="34" charset="0"/>
                <a:ea typeface="Poppins" pitchFamily="34" charset="-122"/>
                <a:cs typeface="Poppins" pitchFamily="34" charset="-120"/>
              </a:rPr>
              <a:t>Sep.–Okt.</a:t>
            </a:r>
            <a:endParaRPr lang="en-US" sz="1100" dirty="0"/>
          </a:p>
        </p:txBody>
      </p:sp>
      <p:sp>
        <p:nvSpPr>
          <p:cNvPr id="19" name="Text 16"/>
          <p:cNvSpPr txBox="1"/>
          <p:nvPr/>
        </p:nvSpPr>
        <p:spPr>
          <a:xfrm>
            <a:off x="6309360" y="2880360"/>
            <a:ext cx="2103120" cy="1005840"/>
          </a:xfrm>
          <a:prstGeom prst="rect">
            <a:avLst/>
          </a:prstGeom>
          <a:noFill/>
          <a:ln/>
        </p:spPr>
        <p:txBody>
          <a:bodyPr wrap="square" lIns="0" tIns="0" rIns="0" bIns="0" rtlCol="0" anchor="t"/>
          <a:lstStyle/>
          <a:p>
            <a:pPr indent="0" marL="0">
              <a:buNone/>
            </a:pPr>
            <a:r>
              <a:rPr lang="en-US" sz="1200" dirty="0">
                <a:solidFill>
                  <a:srgbClr val="FFFFFF"/>
                </a:solidFill>
                <a:latin typeface="Poppins" pitchFamily="34" charset="0"/>
                <a:ea typeface="Poppins" pitchFamily="34" charset="-122"/>
                <a:cs typeface="Poppins" pitchFamily="34" charset="-120"/>
              </a:rPr>
              <a:t>Ausbildungsplatzbörse, neue Azubis stellen sich vor</a:t>
            </a:r>
            <a:endParaRPr lang="en-US" sz="1200" dirty="0"/>
          </a:p>
        </p:txBody>
      </p:sp>
      <p:sp>
        <p:nvSpPr>
          <p:cNvPr id="20" name="Text 17"/>
          <p:cNvSpPr txBox="1"/>
          <p:nvPr/>
        </p:nvSpPr>
        <p:spPr>
          <a:xfrm>
            <a:off x="6309360" y="4069080"/>
            <a:ext cx="2103120" cy="320040"/>
          </a:xfrm>
          <a:prstGeom prst="rect">
            <a:avLst/>
          </a:prstGeom>
          <a:noFill/>
          <a:ln/>
        </p:spPr>
        <p:txBody>
          <a:bodyPr wrap="square" lIns="0" tIns="0" rIns="0" bIns="0" rtlCol="0" anchor="t"/>
          <a:lstStyle/>
          <a:p>
            <a:pPr indent="0" marL="0">
              <a:buNone/>
            </a:pPr>
            <a:r>
              <a:rPr lang="en-US" sz="1300" dirty="0">
                <a:solidFill>
                  <a:srgbClr val="EB5A1B"/>
                </a:solidFill>
                <a:latin typeface="Poppins SemiBold" pitchFamily="34" charset="0"/>
                <a:ea typeface="Poppins SemiBold" pitchFamily="34" charset="-122"/>
                <a:cs typeface="Poppins SemiBold" pitchFamily="34" charset="-120"/>
              </a:rPr>
              <a:t>→ Kennenlernen</a:t>
            </a:r>
            <a:endParaRPr lang="en-US" sz="1300" dirty="0"/>
          </a:p>
        </p:txBody>
      </p:sp>
      <p:sp>
        <p:nvSpPr>
          <p:cNvPr id="21" name="Shape 18"/>
          <p:cNvSpPr/>
          <p:nvPr/>
        </p:nvSpPr>
        <p:spPr>
          <a:xfrm>
            <a:off x="8778240" y="1920240"/>
            <a:ext cx="2514600" cy="2651760"/>
          </a:xfrm>
          <a:prstGeom prst="roundRect">
            <a:avLst>
              <a:gd name="adj" fmla="val 4364"/>
            </a:avLst>
          </a:prstGeom>
          <a:solidFill>
            <a:srgbClr val="111111"/>
          </a:solidFill>
          <a:ln w="12700">
            <a:solidFill>
              <a:srgbClr val="111111"/>
            </a:solidFill>
            <a:prstDash val="solid"/>
          </a:ln>
        </p:spPr>
      </p:sp>
      <p:sp>
        <p:nvSpPr>
          <p:cNvPr id="22" name="Text 19"/>
          <p:cNvSpPr txBox="1"/>
          <p:nvPr/>
        </p:nvSpPr>
        <p:spPr>
          <a:xfrm>
            <a:off x="9006840" y="2103120"/>
            <a:ext cx="2103120" cy="320040"/>
          </a:xfrm>
          <a:prstGeom prst="rect">
            <a:avLst/>
          </a:prstGeom>
          <a:noFill/>
          <a:ln/>
        </p:spPr>
        <p:txBody>
          <a:bodyPr wrap="square" lIns="0" tIns="0" rIns="0" bIns="0" rtlCol="0" anchor="t"/>
          <a:lstStyle/>
          <a:p>
            <a:pPr indent="0" marL="0">
              <a:buNone/>
            </a:pPr>
            <a:r>
              <a:rPr lang="en-US" sz="1400" dirty="0">
                <a:solidFill>
                  <a:srgbClr val="EB5A1B"/>
                </a:solidFill>
                <a:latin typeface="Poppins SemiBold" pitchFamily="34" charset="0"/>
                <a:ea typeface="Poppins SemiBold" pitchFamily="34" charset="-122"/>
                <a:cs typeface="Poppins SemiBold" pitchFamily="34" charset="-120"/>
              </a:rPr>
              <a:t>Fachkräfte</a:t>
            </a:r>
            <a:endParaRPr lang="en-US" sz="1400" dirty="0"/>
          </a:p>
        </p:txBody>
      </p:sp>
      <p:sp>
        <p:nvSpPr>
          <p:cNvPr id="23" name="Text 20"/>
          <p:cNvSpPr txBox="1"/>
          <p:nvPr/>
        </p:nvSpPr>
        <p:spPr>
          <a:xfrm>
            <a:off x="9006840" y="2468880"/>
            <a:ext cx="2103120" cy="274320"/>
          </a:xfrm>
          <a:prstGeom prst="rect">
            <a:avLst/>
          </a:prstGeom>
          <a:noFill/>
          <a:ln/>
        </p:spPr>
        <p:txBody>
          <a:bodyPr wrap="square" lIns="0" tIns="0" rIns="0" bIns="0" rtlCol="0" anchor="t"/>
          <a:lstStyle/>
          <a:p>
            <a:pPr indent="0" marL="0">
              <a:buNone/>
            </a:pPr>
            <a:r>
              <a:rPr lang="en-US" sz="1100" dirty="0">
                <a:solidFill>
                  <a:srgbClr val="B4B5BB"/>
                </a:solidFill>
                <a:latin typeface="Poppins" pitchFamily="34" charset="0"/>
                <a:ea typeface="Poppins" pitchFamily="34" charset="-122"/>
                <a:cs typeface="Poppins" pitchFamily="34" charset="-120"/>
              </a:rPr>
              <a:t>bei offenen Stellen</a:t>
            </a:r>
            <a:endParaRPr lang="en-US" sz="1100" dirty="0"/>
          </a:p>
        </p:txBody>
      </p:sp>
      <p:sp>
        <p:nvSpPr>
          <p:cNvPr id="24" name="Text 21"/>
          <p:cNvSpPr txBox="1"/>
          <p:nvPr/>
        </p:nvSpPr>
        <p:spPr>
          <a:xfrm>
            <a:off x="9006840" y="2880360"/>
            <a:ext cx="2103120" cy="1005840"/>
          </a:xfrm>
          <a:prstGeom prst="rect">
            <a:avLst/>
          </a:prstGeom>
          <a:noFill/>
          <a:ln/>
        </p:spPr>
        <p:txBody>
          <a:bodyPr wrap="square" lIns="0" tIns="0" rIns="0" bIns="0" rtlCol="0" anchor="t"/>
          <a:lstStyle/>
          <a:p>
            <a:pPr indent="0" marL="0">
              <a:buNone/>
            </a:pPr>
            <a:r>
              <a:rPr lang="en-US" sz="1200" dirty="0">
                <a:solidFill>
                  <a:srgbClr val="FFFFFF"/>
                </a:solidFill>
                <a:latin typeface="Poppins" pitchFamily="34" charset="0"/>
                <a:ea typeface="Poppins" pitchFamily="34" charset="-122"/>
                <a:cs typeface="Poppins" pitchFamily="34" charset="-120"/>
              </a:rPr>
              <a:t>„Kollege erzählt“, Einblick Leitstelle</a:t>
            </a:r>
            <a:endParaRPr lang="en-US" sz="1200" dirty="0"/>
          </a:p>
        </p:txBody>
      </p:sp>
      <p:sp>
        <p:nvSpPr>
          <p:cNvPr id="25" name="Text 22"/>
          <p:cNvSpPr txBox="1"/>
          <p:nvPr/>
        </p:nvSpPr>
        <p:spPr>
          <a:xfrm>
            <a:off x="9006840" y="4069080"/>
            <a:ext cx="2103120" cy="320040"/>
          </a:xfrm>
          <a:prstGeom prst="rect">
            <a:avLst/>
          </a:prstGeom>
          <a:noFill/>
          <a:ln/>
        </p:spPr>
        <p:txBody>
          <a:bodyPr wrap="square" lIns="0" tIns="0" rIns="0" bIns="0" rtlCol="0" anchor="t"/>
          <a:lstStyle/>
          <a:p>
            <a:pPr indent="0" marL="0">
              <a:buNone/>
            </a:pPr>
            <a:r>
              <a:rPr lang="en-US" sz="1300" dirty="0">
                <a:solidFill>
                  <a:srgbClr val="EB5A1B"/>
                </a:solidFill>
                <a:latin typeface="Poppins SemiBold" pitchFamily="34" charset="0"/>
                <a:ea typeface="Poppins SemiBold" pitchFamily="34" charset="-122"/>
                <a:cs typeface="Poppins SemiBold" pitchFamily="34" charset="-120"/>
              </a:rPr>
              <a:t>→ Bewerben</a:t>
            </a:r>
            <a:endParaRPr lang="en-US" sz="1300" dirty="0"/>
          </a:p>
        </p:txBody>
      </p:sp>
      <p:sp>
        <p:nvSpPr>
          <p:cNvPr id="26" name="Shape 23"/>
          <p:cNvSpPr/>
          <p:nvPr/>
        </p:nvSpPr>
        <p:spPr>
          <a:xfrm>
            <a:off x="685800" y="4892040"/>
            <a:ext cx="3566160" cy="548640"/>
          </a:xfrm>
          <a:prstGeom prst="roundRect">
            <a:avLst>
              <a:gd name="adj" fmla="val 20000"/>
            </a:avLst>
          </a:prstGeom>
          <a:solidFill>
            <a:srgbClr val="111111"/>
          </a:solidFill>
          <a:ln w="12700">
            <a:solidFill>
              <a:srgbClr val="111111"/>
            </a:solidFill>
            <a:prstDash val="solid"/>
          </a:ln>
        </p:spPr>
      </p:sp>
      <p:sp>
        <p:nvSpPr>
          <p:cNvPr id="27" name="Text 24"/>
          <p:cNvSpPr txBox="1"/>
          <p:nvPr/>
        </p:nvSpPr>
        <p:spPr>
          <a:xfrm>
            <a:off x="685800" y="4892040"/>
            <a:ext cx="356616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Poppins SemiBold" pitchFamily="34" charset="0"/>
                <a:ea typeface="Poppins SemiBold" pitchFamily="34" charset="-122"/>
                <a:cs typeface="Poppins SemiBold" pitchFamily="34" charset="-120"/>
              </a:rPr>
              <a:t>Azubis → Praktikum per WhatsApp</a:t>
            </a:r>
            <a:endParaRPr lang="en-US" sz="1300" dirty="0"/>
          </a:p>
        </p:txBody>
      </p:sp>
      <p:sp>
        <p:nvSpPr>
          <p:cNvPr id="28" name="Shape 25"/>
          <p:cNvSpPr/>
          <p:nvPr/>
        </p:nvSpPr>
        <p:spPr>
          <a:xfrm>
            <a:off x="4434840" y="4892040"/>
            <a:ext cx="3566160" cy="548640"/>
          </a:xfrm>
          <a:prstGeom prst="roundRect">
            <a:avLst>
              <a:gd name="adj" fmla="val 20000"/>
            </a:avLst>
          </a:prstGeom>
          <a:solidFill>
            <a:srgbClr val="111111"/>
          </a:solidFill>
          <a:ln w="12700">
            <a:solidFill>
              <a:srgbClr val="111111"/>
            </a:solidFill>
            <a:prstDash val="solid"/>
          </a:ln>
        </p:spPr>
      </p:sp>
      <p:sp>
        <p:nvSpPr>
          <p:cNvPr id="29" name="Text 26"/>
          <p:cNvSpPr txBox="1"/>
          <p:nvPr/>
        </p:nvSpPr>
        <p:spPr>
          <a:xfrm>
            <a:off x="4434840" y="4892040"/>
            <a:ext cx="356616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Poppins SemiBold" pitchFamily="34" charset="0"/>
                <a:ea typeface="Poppins SemiBold" pitchFamily="34" charset="-122"/>
                <a:cs typeface="Poppins SemiBold" pitchFamily="34" charset="-120"/>
              </a:rPr>
              <a:t>Fachkräfte → Bewerbung in 60 Sekunden</a:t>
            </a:r>
            <a:endParaRPr lang="en-US" sz="1300" dirty="0"/>
          </a:p>
        </p:txBody>
      </p:sp>
      <p:sp>
        <p:nvSpPr>
          <p:cNvPr id="30" name="Text 27"/>
          <p:cNvSpPr txBox="1"/>
          <p:nvPr/>
        </p:nvSpPr>
        <p:spPr>
          <a:xfrm>
            <a:off x="685800" y="5623560"/>
            <a:ext cx="7589520" cy="457200"/>
          </a:xfrm>
          <a:prstGeom prst="rect">
            <a:avLst/>
          </a:prstGeom>
          <a:noFill/>
          <a:ln/>
        </p:spPr>
        <p:txBody>
          <a:bodyPr wrap="square" lIns="0" tIns="0" rIns="0" bIns="0" rtlCol="0" anchor="t"/>
          <a:lstStyle/>
          <a:p>
            <a:pPr indent="0" marL="0">
              <a:buNone/>
            </a:pPr>
            <a:r>
              <a:rPr lang="en-US" sz="1100" dirty="0">
                <a:solidFill>
                  <a:srgbClr val="111111"/>
                </a:solidFill>
                <a:latin typeface="Poppins" pitchFamily="34" charset="0"/>
                <a:ea typeface="Poppins" pitchFamily="34" charset="-122"/>
                <a:cs typeface="Poppins" pitchFamily="34" charset="-120"/>
              </a:rPr>
              <a:t>Anzeigen immer (m/w/d), ohne Ausschluss nach Alter oder Geschlecht (AGG). Angesprochen wird über Region, Interessen und Gestaltung.</a:t>
            </a:r>
            <a:endParaRPr lang="en-US" sz="1100" dirty="0"/>
          </a:p>
        </p:txBody>
      </p:sp>
      <p:pic>
        <p:nvPicPr>
          <p:cNvPr id="31" name="Image 1" descr="/home/user/Marlene/poleschak-social-media/assets/logo-transparent.png">    </p:cNvPr>
          <p:cNvPicPr>
            <a:picLocks noChangeAspect="1"/>
          </p:cNvPicPr>
          <p:nvPr/>
        </p:nvPicPr>
        <p:blipFill>
          <a:blip r:embed="rId2"/>
          <a:stretch>
            <a:fillRect/>
          </a:stretch>
        </p:blipFill>
        <p:spPr>
          <a:xfrm>
            <a:off x="685800" y="6291072"/>
            <a:ext cx="643680" cy="329184"/>
          </a:xfrm>
          <a:prstGeom prst="rect">
            <a:avLst/>
          </a:prstGeom>
        </p:spPr>
      </p:pic>
      <p:sp>
        <p:nvSpPr>
          <p:cNvPr id="32" name="Text 28"/>
          <p:cNvSpPr txBox="1"/>
          <p:nvPr/>
        </p:nvSpPr>
        <p:spPr>
          <a:xfrm>
            <a:off x="10591495" y="6355080"/>
            <a:ext cx="914400" cy="274320"/>
          </a:xfrm>
          <a:prstGeom prst="rect">
            <a:avLst/>
          </a:prstGeom>
          <a:noFill/>
          <a:ln/>
        </p:spPr>
        <p:txBody>
          <a:bodyPr wrap="square" lIns="0" tIns="0" rIns="0" bIns="0" rtlCol="0" anchor="t"/>
          <a:lstStyle/>
          <a:p>
            <a:pPr algn="r" indent="0" marL="0">
              <a:buNone/>
            </a:pPr>
            <a:r>
              <a:rPr lang="en-US" sz="1100" spc="300" kern="0" dirty="0">
                <a:solidFill>
                  <a:srgbClr val="111111"/>
                </a:solidFill>
                <a:latin typeface="Poppins Light" pitchFamily="34" charset="0"/>
                <a:ea typeface="Poppins Light" pitchFamily="34" charset="-122"/>
                <a:cs typeface="Poppins Light"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KUNDEN &amp; WERBUNG</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Werbung,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bewusst einfach.</a:t>
            </a:r>
            <a:endParaRPr lang="en-US" sz="3400" dirty="0"/>
          </a:p>
        </p:txBody>
      </p:sp>
      <p:sp>
        <p:nvSpPr>
          <p:cNvPr id="5" name="Shape 3"/>
          <p:cNvSpPr/>
          <p:nvPr/>
        </p:nvSpPr>
        <p:spPr>
          <a:xfrm>
            <a:off x="685800" y="1828800"/>
            <a:ext cx="5120640" cy="3977640"/>
          </a:xfrm>
          <a:prstGeom prst="roundRect">
            <a:avLst>
              <a:gd name="adj" fmla="val 2759"/>
            </a:avLst>
          </a:prstGeom>
          <a:solidFill>
            <a:srgbClr val="111111"/>
          </a:solidFill>
          <a:ln w="12700">
            <a:solidFill>
              <a:srgbClr val="111111"/>
            </a:solidFill>
            <a:prstDash val="solid"/>
          </a:ln>
        </p:spPr>
      </p:sp>
      <p:sp>
        <p:nvSpPr>
          <p:cNvPr id="6" name="Text 4"/>
          <p:cNvSpPr txBox="1"/>
          <p:nvPr/>
        </p:nvSpPr>
        <p:spPr>
          <a:xfrm>
            <a:off x="1005840" y="2057400"/>
            <a:ext cx="4572000" cy="320040"/>
          </a:xfrm>
          <a:prstGeom prst="rect">
            <a:avLst/>
          </a:prstGeom>
          <a:noFill/>
          <a:ln/>
        </p:spPr>
        <p:txBody>
          <a:bodyPr wrap="square" lIns="0" tIns="0" rIns="0" bIns="0" rtlCol="0" anchor="t"/>
          <a:lstStyle/>
          <a:p>
            <a:pPr indent="0" marL="0">
              <a:buNone/>
            </a:pPr>
            <a:r>
              <a:rPr lang="en-US" sz="1200" spc="300" kern="0" dirty="0">
                <a:solidFill>
                  <a:srgbClr val="B4B5BB"/>
                </a:solidFill>
                <a:latin typeface="Poppins Light" pitchFamily="34" charset="0"/>
                <a:ea typeface="Poppins Light" pitchFamily="34" charset="-122"/>
                <a:cs typeface="Poppins Light" pitchFamily="34" charset="-120"/>
              </a:rPr>
              <a:t>Kundenkampagne</a:t>
            </a:r>
            <a:endParaRPr lang="en-US" sz="1200" dirty="0"/>
          </a:p>
        </p:txBody>
      </p:sp>
      <p:sp>
        <p:nvSpPr>
          <p:cNvPr id="7" name="Text 5"/>
          <p:cNvSpPr txBox="1"/>
          <p:nvPr/>
        </p:nvSpPr>
        <p:spPr>
          <a:xfrm>
            <a:off x="1005840" y="2423160"/>
            <a:ext cx="4572000" cy="457200"/>
          </a:xfrm>
          <a:prstGeom prst="rect">
            <a:avLst/>
          </a:prstGeom>
          <a:noFill/>
          <a:ln/>
        </p:spPr>
        <p:txBody>
          <a:bodyPr wrap="square" lIns="0" tIns="0" rIns="0" bIns="0" rtlCol="0" anchor="t"/>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„Kostenlose Sicherheitsberatung“</a:t>
            </a:r>
            <a:endParaRPr lang="en-US" sz="2000" dirty="0"/>
          </a:p>
        </p:txBody>
      </p:sp>
      <p:sp>
        <p:nvSpPr>
          <p:cNvPr id="8" name="Shape 6"/>
          <p:cNvSpPr/>
          <p:nvPr/>
        </p:nvSpPr>
        <p:spPr>
          <a:xfrm>
            <a:off x="1005840" y="3133090"/>
            <a:ext cx="91440" cy="91440"/>
          </a:xfrm>
          <a:prstGeom prst="ellipse">
            <a:avLst/>
          </a:prstGeom>
          <a:solidFill>
            <a:srgbClr val="EB5A1B"/>
          </a:solidFill>
          <a:ln w="12700">
            <a:solidFill>
              <a:srgbClr val="EB5A1B"/>
            </a:solidFill>
            <a:prstDash val="solid"/>
          </a:ln>
        </p:spPr>
      </p:sp>
      <p:sp>
        <p:nvSpPr>
          <p:cNvPr id="9" name="Text 7"/>
          <p:cNvSpPr txBox="1"/>
          <p:nvPr/>
        </p:nvSpPr>
        <p:spPr>
          <a:xfrm>
            <a:off x="1234440" y="3063240"/>
            <a:ext cx="4343400" cy="26771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In der Einbruchsaison im Herbst und Winter</a:t>
            </a:r>
            <a:endParaRPr lang="en-US" sz="1300" dirty="0"/>
          </a:p>
        </p:txBody>
      </p:sp>
      <p:sp>
        <p:nvSpPr>
          <p:cNvPr id="10" name="Shape 8"/>
          <p:cNvSpPr/>
          <p:nvPr/>
        </p:nvSpPr>
        <p:spPr>
          <a:xfrm>
            <a:off x="1005840" y="3510534"/>
            <a:ext cx="91440" cy="91440"/>
          </a:xfrm>
          <a:prstGeom prst="ellipse">
            <a:avLst/>
          </a:prstGeom>
          <a:solidFill>
            <a:srgbClr val="EB5A1B"/>
          </a:solidFill>
          <a:ln w="12700">
            <a:solidFill>
              <a:srgbClr val="EB5A1B"/>
            </a:solidFill>
            <a:prstDash val="solid"/>
          </a:ln>
        </p:spPr>
      </p:sp>
      <p:sp>
        <p:nvSpPr>
          <p:cNvPr id="11" name="Text 9"/>
          <p:cNvSpPr txBox="1"/>
          <p:nvPr/>
        </p:nvSpPr>
        <p:spPr>
          <a:xfrm>
            <a:off x="1234440" y="3440684"/>
            <a:ext cx="4343400" cy="26771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Gezielt in der Region rund um unsere Standorte</a:t>
            </a:r>
            <a:endParaRPr lang="en-US" sz="1300" dirty="0"/>
          </a:p>
        </p:txBody>
      </p:sp>
      <p:sp>
        <p:nvSpPr>
          <p:cNvPr id="12" name="Shape 10"/>
          <p:cNvSpPr/>
          <p:nvPr/>
        </p:nvSpPr>
        <p:spPr>
          <a:xfrm>
            <a:off x="1005840" y="3887978"/>
            <a:ext cx="91440" cy="91440"/>
          </a:xfrm>
          <a:prstGeom prst="ellipse">
            <a:avLst/>
          </a:prstGeom>
          <a:solidFill>
            <a:srgbClr val="EB5A1B"/>
          </a:solidFill>
          <a:ln w="12700">
            <a:solidFill>
              <a:srgbClr val="EB5A1B"/>
            </a:solidFill>
            <a:prstDash val="solid"/>
          </a:ln>
        </p:spPr>
      </p:sp>
      <p:sp>
        <p:nvSpPr>
          <p:cNvPr id="13" name="Text 11"/>
          <p:cNvSpPr txBox="1"/>
          <p:nvPr/>
        </p:nvSpPr>
        <p:spPr>
          <a:xfrm>
            <a:off x="1234440" y="3818128"/>
            <a:ext cx="4343400" cy="49885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Mit unseren besten Wissens- und Leitstellen-Beiträgen</a:t>
            </a:r>
            <a:endParaRPr lang="en-US" sz="1300" dirty="0"/>
          </a:p>
        </p:txBody>
      </p:sp>
      <p:sp>
        <p:nvSpPr>
          <p:cNvPr id="14" name="Shape 12"/>
          <p:cNvSpPr/>
          <p:nvPr/>
        </p:nvSpPr>
        <p:spPr>
          <a:xfrm>
            <a:off x="1005840" y="4496562"/>
            <a:ext cx="91440" cy="91440"/>
          </a:xfrm>
          <a:prstGeom prst="ellipse">
            <a:avLst/>
          </a:prstGeom>
          <a:solidFill>
            <a:srgbClr val="EB5A1B"/>
          </a:solidFill>
          <a:ln w="12700">
            <a:solidFill>
              <a:srgbClr val="EB5A1B"/>
            </a:solidFill>
            <a:prstDash val="solid"/>
          </a:ln>
        </p:spPr>
      </p:sp>
      <p:sp>
        <p:nvSpPr>
          <p:cNvPr id="15" name="Text 13"/>
          <p:cNvSpPr txBox="1"/>
          <p:nvPr/>
        </p:nvSpPr>
        <p:spPr>
          <a:xfrm>
            <a:off x="1234440" y="4426712"/>
            <a:ext cx="4343400" cy="498856"/>
          </a:xfrm>
          <a:prstGeom prst="rect">
            <a:avLst/>
          </a:prstGeom>
          <a:noFill/>
          <a:ln/>
        </p:spPr>
        <p:txBody>
          <a:bodyPr wrap="square" lIns="0" tIns="0" rIns="0" bIns="0" rtlCol="0" anchor="t"/>
          <a:lstStyle/>
          <a:p>
            <a:pPr indent="0" marL="0">
              <a:buNone/>
            </a:pPr>
            <a:r>
              <a:rPr lang="en-US" sz="1300" b="1" dirty="0">
                <a:solidFill>
                  <a:srgbClr val="FFFFFF"/>
                </a:solidFill>
                <a:latin typeface="Poppins" pitchFamily="34" charset="0"/>
                <a:ea typeface="Poppins" pitchFamily="34" charset="-122"/>
                <a:cs typeface="Poppins" pitchFamily="34" charset="-120"/>
              </a:rPr>
              <a:t>Stichwort „Instagram“</a:t>
            </a:r>
            <a:pPr indent="0" marL="0">
              <a:buNone/>
            </a:pPr>
            <a:r>
              <a:rPr lang="en-US" sz="1300" dirty="0">
                <a:solidFill>
                  <a:srgbClr val="FFFFFF"/>
                </a:solidFill>
                <a:latin typeface="Poppins" pitchFamily="34" charset="0"/>
                <a:ea typeface="Poppins" pitchFamily="34" charset="-122"/>
                <a:cs typeface="Poppins" pitchFamily="34" charset="-120"/>
              </a:rPr>
              <a:t> per WhatsApp: Wir sehen, woher Anfragen kommen</a:t>
            </a:r>
            <a:endParaRPr lang="en-US" sz="1300" dirty="0"/>
          </a:p>
        </p:txBody>
      </p:sp>
      <p:sp>
        <p:nvSpPr>
          <p:cNvPr id="16" name="Shape 14"/>
          <p:cNvSpPr/>
          <p:nvPr/>
        </p:nvSpPr>
        <p:spPr>
          <a:xfrm>
            <a:off x="1005840" y="5105146"/>
            <a:ext cx="91440" cy="91440"/>
          </a:xfrm>
          <a:prstGeom prst="ellipse">
            <a:avLst/>
          </a:prstGeom>
          <a:solidFill>
            <a:srgbClr val="EB5A1B"/>
          </a:solidFill>
          <a:ln w="12700">
            <a:solidFill>
              <a:srgbClr val="EB5A1B"/>
            </a:solidFill>
            <a:prstDash val="solid"/>
          </a:ln>
        </p:spPr>
      </p:sp>
      <p:sp>
        <p:nvSpPr>
          <p:cNvPr id="17" name="Text 15"/>
          <p:cNvSpPr txBox="1"/>
          <p:nvPr/>
        </p:nvSpPr>
        <p:spPr>
          <a:xfrm>
            <a:off x="1234440" y="5035296"/>
            <a:ext cx="4343400" cy="26771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Weiterleitung an den Vertrieb am selben Tag</a:t>
            </a:r>
            <a:endParaRPr lang="en-US" sz="1300" dirty="0"/>
          </a:p>
        </p:txBody>
      </p:sp>
      <p:sp>
        <p:nvSpPr>
          <p:cNvPr id="18" name="Text 16"/>
          <p:cNvSpPr txBox="1"/>
          <p:nvPr/>
        </p:nvSpPr>
        <p:spPr>
          <a:xfrm>
            <a:off x="6309360" y="1828800"/>
            <a:ext cx="4572000" cy="320040"/>
          </a:xfrm>
          <a:prstGeom prst="rect">
            <a:avLst/>
          </a:prstGeom>
          <a:noFill/>
          <a:ln/>
        </p:spPr>
        <p:txBody>
          <a:bodyPr wrap="square" lIns="0" tIns="0" rIns="0" bIns="0" rtlCol="0" anchor="t"/>
          <a:lstStyle/>
          <a:p>
            <a:pPr indent="0" marL="0">
              <a:buNone/>
            </a:pPr>
            <a:r>
              <a:rPr lang="en-US" sz="1600" dirty="0">
                <a:solidFill>
                  <a:srgbClr val="111111"/>
                </a:solidFill>
                <a:latin typeface="Poppins SemiBold" pitchFamily="34" charset="0"/>
                <a:ea typeface="Poppins SemiBold" pitchFamily="34" charset="-122"/>
                <a:cs typeface="Poppins SemiBold" pitchFamily="34" charset="-120"/>
              </a:rPr>
              <a:t>So läuft es</a:t>
            </a:r>
            <a:endParaRPr lang="en-US" sz="1600" dirty="0"/>
          </a:p>
        </p:txBody>
      </p:sp>
      <p:sp>
        <p:nvSpPr>
          <p:cNvPr id="19" name="Shape 17"/>
          <p:cNvSpPr/>
          <p:nvPr/>
        </p:nvSpPr>
        <p:spPr>
          <a:xfrm>
            <a:off x="6309360" y="2286000"/>
            <a:ext cx="411480" cy="411480"/>
          </a:xfrm>
          <a:prstGeom prst="ellipse">
            <a:avLst/>
          </a:prstGeom>
          <a:solidFill>
            <a:srgbClr val="EB5A1B"/>
          </a:solidFill>
          <a:ln w="12700">
            <a:solidFill>
              <a:srgbClr val="EB5A1B"/>
            </a:solidFill>
            <a:prstDash val="solid"/>
          </a:ln>
        </p:spPr>
      </p:sp>
      <p:sp>
        <p:nvSpPr>
          <p:cNvPr id="20" name="Text 18"/>
          <p:cNvSpPr txBox="1"/>
          <p:nvPr/>
        </p:nvSpPr>
        <p:spPr>
          <a:xfrm>
            <a:off x="6309360" y="2286000"/>
            <a:ext cx="411480" cy="411480"/>
          </a:xfrm>
          <a:prstGeom prst="rect">
            <a:avLst/>
          </a:prstGeom>
          <a:noFill/>
          <a:ln/>
        </p:spPr>
        <p:txBody>
          <a:bodyPr wrap="square" lIns="0" tIns="0" rIns="0" bIns="0" rtlCol="0" anchor="ctr"/>
          <a:lstStyle/>
          <a:p>
            <a:pPr algn="ctr" indent="0" marL="0">
              <a:buNone/>
            </a:pPr>
            <a:r>
              <a:rPr lang="en-US" sz="1400" dirty="0">
                <a:solidFill>
                  <a:srgbClr val="FFFFFF"/>
                </a:solidFill>
                <a:latin typeface="Poppins ExtraBold" pitchFamily="34" charset="0"/>
                <a:ea typeface="Poppins ExtraBold" pitchFamily="34" charset="-122"/>
                <a:cs typeface="Poppins ExtraBold" pitchFamily="34" charset="-120"/>
              </a:rPr>
              <a:t>1</a:t>
            </a:r>
            <a:endParaRPr lang="en-US" sz="1400" dirty="0"/>
          </a:p>
        </p:txBody>
      </p:sp>
      <p:sp>
        <p:nvSpPr>
          <p:cNvPr id="21" name="Text 19"/>
          <p:cNvSpPr txBox="1"/>
          <p:nvPr/>
        </p:nvSpPr>
        <p:spPr>
          <a:xfrm>
            <a:off x="6858000" y="2286000"/>
            <a:ext cx="4663440" cy="411480"/>
          </a:xfrm>
          <a:prstGeom prst="rect">
            <a:avLst/>
          </a:prstGeom>
          <a:noFill/>
          <a:ln/>
        </p:spPr>
        <p:txBody>
          <a:bodyPr wrap="square" lIns="0" tIns="0" rIns="0" bIns="0" rtlCol="0" anchor="ctr"/>
          <a:lstStyle/>
          <a:p>
            <a:pPr indent="0" marL="0">
              <a:buNone/>
            </a:pPr>
            <a:r>
              <a:rPr lang="en-US" sz="1300" dirty="0">
                <a:solidFill>
                  <a:srgbClr val="222222"/>
                </a:solidFill>
                <a:latin typeface="Poppins" pitchFamily="34" charset="0"/>
                <a:ea typeface="Poppins" pitchFamily="34" charset="-122"/>
                <a:cs typeface="Poppins" pitchFamily="34" charset="-120"/>
              </a:rPr>
              <a:t>Organisch posten</a:t>
            </a:r>
            <a:endParaRPr lang="en-US" sz="1300" dirty="0"/>
          </a:p>
        </p:txBody>
      </p:sp>
      <p:sp>
        <p:nvSpPr>
          <p:cNvPr id="22" name="Shape 20"/>
          <p:cNvSpPr/>
          <p:nvPr/>
        </p:nvSpPr>
        <p:spPr>
          <a:xfrm>
            <a:off x="6309360" y="2852928"/>
            <a:ext cx="411480" cy="411480"/>
          </a:xfrm>
          <a:prstGeom prst="ellipse">
            <a:avLst/>
          </a:prstGeom>
          <a:solidFill>
            <a:srgbClr val="EB5A1B"/>
          </a:solidFill>
          <a:ln w="12700">
            <a:solidFill>
              <a:srgbClr val="EB5A1B"/>
            </a:solidFill>
            <a:prstDash val="solid"/>
          </a:ln>
        </p:spPr>
      </p:sp>
      <p:sp>
        <p:nvSpPr>
          <p:cNvPr id="23" name="Text 21"/>
          <p:cNvSpPr txBox="1"/>
          <p:nvPr/>
        </p:nvSpPr>
        <p:spPr>
          <a:xfrm>
            <a:off x="6309360" y="2852928"/>
            <a:ext cx="411480" cy="411480"/>
          </a:xfrm>
          <a:prstGeom prst="rect">
            <a:avLst/>
          </a:prstGeom>
          <a:noFill/>
          <a:ln/>
        </p:spPr>
        <p:txBody>
          <a:bodyPr wrap="square" lIns="0" tIns="0" rIns="0" bIns="0" rtlCol="0" anchor="ctr"/>
          <a:lstStyle/>
          <a:p>
            <a:pPr algn="ctr" indent="0" marL="0">
              <a:buNone/>
            </a:pPr>
            <a:r>
              <a:rPr lang="en-US" sz="1400" dirty="0">
                <a:solidFill>
                  <a:srgbClr val="FFFFFF"/>
                </a:solidFill>
                <a:latin typeface="Poppins ExtraBold" pitchFamily="34" charset="0"/>
                <a:ea typeface="Poppins ExtraBold" pitchFamily="34" charset="-122"/>
                <a:cs typeface="Poppins ExtraBold" pitchFamily="34" charset="-120"/>
              </a:rPr>
              <a:t>2</a:t>
            </a:r>
            <a:endParaRPr lang="en-US" sz="1400" dirty="0"/>
          </a:p>
        </p:txBody>
      </p:sp>
      <p:sp>
        <p:nvSpPr>
          <p:cNvPr id="24" name="Text 22"/>
          <p:cNvSpPr txBox="1"/>
          <p:nvPr/>
        </p:nvSpPr>
        <p:spPr>
          <a:xfrm>
            <a:off x="6858000" y="2852928"/>
            <a:ext cx="4663440" cy="411480"/>
          </a:xfrm>
          <a:prstGeom prst="rect">
            <a:avLst/>
          </a:prstGeom>
          <a:noFill/>
          <a:ln/>
        </p:spPr>
        <p:txBody>
          <a:bodyPr wrap="square" lIns="0" tIns="0" rIns="0" bIns="0" rtlCol="0" anchor="ctr"/>
          <a:lstStyle/>
          <a:p>
            <a:pPr indent="0" marL="0">
              <a:buNone/>
            </a:pPr>
            <a:r>
              <a:rPr lang="en-US" sz="1300" dirty="0">
                <a:solidFill>
                  <a:srgbClr val="222222"/>
                </a:solidFill>
                <a:latin typeface="Poppins" pitchFamily="34" charset="0"/>
                <a:ea typeface="Poppins" pitchFamily="34" charset="-122"/>
                <a:cs typeface="Poppins" pitchFamily="34" charset="-120"/>
              </a:rPr>
              <a:t>Den besten Beitrag gezielt bewerben</a:t>
            </a:r>
            <a:endParaRPr lang="en-US" sz="1300" dirty="0"/>
          </a:p>
        </p:txBody>
      </p:sp>
      <p:sp>
        <p:nvSpPr>
          <p:cNvPr id="25" name="Shape 23"/>
          <p:cNvSpPr/>
          <p:nvPr/>
        </p:nvSpPr>
        <p:spPr>
          <a:xfrm>
            <a:off x="6309360" y="3419856"/>
            <a:ext cx="411480" cy="411480"/>
          </a:xfrm>
          <a:prstGeom prst="ellipse">
            <a:avLst/>
          </a:prstGeom>
          <a:solidFill>
            <a:srgbClr val="EB5A1B"/>
          </a:solidFill>
          <a:ln w="12700">
            <a:solidFill>
              <a:srgbClr val="EB5A1B"/>
            </a:solidFill>
            <a:prstDash val="solid"/>
          </a:ln>
        </p:spPr>
      </p:sp>
      <p:sp>
        <p:nvSpPr>
          <p:cNvPr id="26" name="Text 24"/>
          <p:cNvSpPr txBox="1"/>
          <p:nvPr/>
        </p:nvSpPr>
        <p:spPr>
          <a:xfrm>
            <a:off x="6309360" y="3419856"/>
            <a:ext cx="411480" cy="411480"/>
          </a:xfrm>
          <a:prstGeom prst="rect">
            <a:avLst/>
          </a:prstGeom>
          <a:noFill/>
          <a:ln/>
        </p:spPr>
        <p:txBody>
          <a:bodyPr wrap="square" lIns="0" tIns="0" rIns="0" bIns="0" rtlCol="0" anchor="ctr"/>
          <a:lstStyle/>
          <a:p>
            <a:pPr algn="ctr" indent="0" marL="0">
              <a:buNone/>
            </a:pPr>
            <a:r>
              <a:rPr lang="en-US" sz="1400" dirty="0">
                <a:solidFill>
                  <a:srgbClr val="FFFFFF"/>
                </a:solidFill>
                <a:latin typeface="Poppins ExtraBold" pitchFamily="34" charset="0"/>
                <a:ea typeface="Poppins ExtraBold" pitchFamily="34" charset="-122"/>
                <a:cs typeface="Poppins ExtraBold" pitchFamily="34" charset="-120"/>
              </a:rPr>
              <a:t>3</a:t>
            </a:r>
            <a:endParaRPr lang="en-US" sz="1400" dirty="0"/>
          </a:p>
        </p:txBody>
      </p:sp>
      <p:sp>
        <p:nvSpPr>
          <p:cNvPr id="27" name="Text 25"/>
          <p:cNvSpPr txBox="1"/>
          <p:nvPr/>
        </p:nvSpPr>
        <p:spPr>
          <a:xfrm>
            <a:off x="6858000" y="3419856"/>
            <a:ext cx="4663440" cy="411480"/>
          </a:xfrm>
          <a:prstGeom prst="rect">
            <a:avLst/>
          </a:prstGeom>
          <a:noFill/>
          <a:ln/>
        </p:spPr>
        <p:txBody>
          <a:bodyPr wrap="square" lIns="0" tIns="0" rIns="0" bIns="0" rtlCol="0" anchor="ctr"/>
          <a:lstStyle/>
          <a:p>
            <a:pPr indent="0" marL="0">
              <a:buNone/>
            </a:pPr>
            <a:r>
              <a:rPr lang="en-US" sz="1300" dirty="0">
                <a:solidFill>
                  <a:srgbClr val="222222"/>
                </a:solidFill>
                <a:latin typeface="Poppins" pitchFamily="34" charset="0"/>
                <a:ea typeface="Poppins" pitchFamily="34" charset="-122"/>
                <a:cs typeface="Poppins" pitchFamily="34" charset="-120"/>
              </a:rPr>
              <a:t>Wirkung im Monatsbericht festhalten</a:t>
            </a:r>
            <a:endParaRPr lang="en-US" sz="1300" dirty="0"/>
          </a:p>
        </p:txBody>
      </p:sp>
      <p:sp>
        <p:nvSpPr>
          <p:cNvPr id="28" name="Shape 26"/>
          <p:cNvSpPr/>
          <p:nvPr/>
        </p:nvSpPr>
        <p:spPr>
          <a:xfrm>
            <a:off x="6309360" y="4206240"/>
            <a:ext cx="5212080" cy="1600200"/>
          </a:xfrm>
          <a:prstGeom prst="roundRect">
            <a:avLst>
              <a:gd name="adj" fmla="val 6857"/>
            </a:avLst>
          </a:prstGeom>
          <a:solidFill>
            <a:srgbClr val="F4F4F4"/>
          </a:solidFill>
          <a:ln w="12700">
            <a:solidFill>
              <a:srgbClr val="F4F4F4"/>
            </a:solidFill>
            <a:prstDash val="solid"/>
          </a:ln>
        </p:spPr>
      </p:sp>
      <p:sp>
        <p:nvSpPr>
          <p:cNvPr id="29" name="Shape 27"/>
          <p:cNvSpPr/>
          <p:nvPr/>
        </p:nvSpPr>
        <p:spPr>
          <a:xfrm>
            <a:off x="6583680" y="4480560"/>
            <a:ext cx="502920" cy="502920"/>
          </a:xfrm>
          <a:prstGeom prst="ellipse">
            <a:avLst/>
          </a:prstGeom>
          <a:solidFill>
            <a:srgbClr val="EB5A1B"/>
          </a:solidFill>
          <a:ln w="12700">
            <a:solidFill>
              <a:srgbClr val="EB5A1B"/>
            </a:solidFill>
            <a:prstDash val="solid"/>
          </a:ln>
        </p:spPr>
      </p:sp>
      <p:pic>
        <p:nvPicPr>
          <p:cNvPr id="30" name="Image 0" descr="/tmp/claude-0/-home-user-Marlene/67342075-d45e-5dfd-8246-b97e829a8c42/scratchpad/deck/img/FaBolt-w.png">    </p:cNvPr>
          <p:cNvPicPr>
            <a:picLocks noChangeAspect="1"/>
          </p:cNvPicPr>
          <p:nvPr/>
        </p:nvPicPr>
        <p:blipFill>
          <a:blip r:embed="rId1"/>
          <a:stretch>
            <a:fillRect/>
          </a:stretch>
        </p:blipFill>
        <p:spPr>
          <a:xfrm>
            <a:off x="6714439" y="4611319"/>
            <a:ext cx="241402" cy="241402"/>
          </a:xfrm>
          <a:prstGeom prst="rect">
            <a:avLst/>
          </a:prstGeom>
        </p:spPr>
      </p:pic>
      <p:sp>
        <p:nvSpPr>
          <p:cNvPr id="31" name="Text 28"/>
          <p:cNvSpPr txBox="1"/>
          <p:nvPr/>
        </p:nvSpPr>
        <p:spPr>
          <a:xfrm>
            <a:off x="7269480" y="4462272"/>
            <a:ext cx="4023360" cy="36576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Geld folgt Wirkung</a:t>
            </a:r>
            <a:endParaRPr lang="en-US" sz="1500" dirty="0"/>
          </a:p>
        </p:txBody>
      </p:sp>
      <p:sp>
        <p:nvSpPr>
          <p:cNvPr id="32" name="Text 29"/>
          <p:cNvSpPr txBox="1"/>
          <p:nvPr/>
        </p:nvSpPr>
        <p:spPr>
          <a:xfrm>
            <a:off x="7269480" y="4846320"/>
            <a:ext cx="4023360" cy="82296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Werbebudget fließt nur in Beiträge, die organisch schon funktionieren. Keine teuren Experimente.</a:t>
            </a:r>
            <a:endParaRPr lang="en-US" sz="1200" dirty="0"/>
          </a:p>
        </p:txBody>
      </p:sp>
      <p:pic>
        <p:nvPicPr>
          <p:cNvPr id="33" name="Image 1" descr="/home/user/Marlene/poleschak-social-media/assets/logo-transparent.png">    </p:cNvPr>
          <p:cNvPicPr>
            <a:picLocks noChangeAspect="1"/>
          </p:cNvPicPr>
          <p:nvPr/>
        </p:nvPicPr>
        <p:blipFill>
          <a:blip r:embed="rId2"/>
          <a:stretch>
            <a:fillRect/>
          </a:stretch>
        </p:blipFill>
        <p:spPr>
          <a:xfrm>
            <a:off x="685800" y="6291072"/>
            <a:ext cx="643680" cy="329184"/>
          </a:xfrm>
          <a:prstGeom prst="rect">
            <a:avLst/>
          </a:prstGeom>
        </p:spPr>
      </p:pic>
      <p:sp>
        <p:nvSpPr>
          <p:cNvPr id="34" name="Text 30"/>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WORAN WIR ERFOLG ERKENNEN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Was sich verändern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soll.</a:t>
            </a:r>
            <a:endParaRPr lang="en-US" sz="3400" dirty="0"/>
          </a:p>
        </p:txBody>
      </p:sp>
      <p:sp>
        <p:nvSpPr>
          <p:cNvPr id="5" name="Shape 3"/>
          <p:cNvSpPr/>
          <p:nvPr/>
        </p:nvSpPr>
        <p:spPr>
          <a:xfrm>
            <a:off x="685800" y="1828800"/>
            <a:ext cx="3429000" cy="1554480"/>
          </a:xfrm>
          <a:prstGeom prst="roundRect">
            <a:avLst>
              <a:gd name="adj" fmla="val 7059"/>
            </a:avLst>
          </a:prstGeom>
          <a:solidFill>
            <a:srgbClr val="222222"/>
          </a:solidFill>
          <a:ln w="12700">
            <a:solidFill>
              <a:srgbClr val="222222"/>
            </a:solidFill>
            <a:prstDash val="solid"/>
          </a:ln>
        </p:spPr>
      </p:sp>
      <p:sp>
        <p:nvSpPr>
          <p:cNvPr id="6" name="Shape 4"/>
          <p:cNvSpPr/>
          <p:nvPr/>
        </p:nvSpPr>
        <p:spPr>
          <a:xfrm>
            <a:off x="960120" y="2103120"/>
            <a:ext cx="502920" cy="502920"/>
          </a:xfrm>
          <a:prstGeom prst="ellipse">
            <a:avLst/>
          </a:prstGeom>
          <a:solidFill>
            <a:srgbClr val="EB5A1B"/>
          </a:solidFill>
          <a:ln w="12700">
            <a:solidFill>
              <a:srgbClr val="EB5A1B"/>
            </a:solidFill>
            <a:prstDash val="solid"/>
          </a:ln>
        </p:spPr>
      </p:sp>
      <p:pic>
        <p:nvPicPr>
          <p:cNvPr id="7" name="Image 0" descr="/tmp/claude-0/-home-user-Marlene/67342075-d45e-5dfd-8246-b97e829a8c42/scratchpad/deck/img/FaMagnifyingGlass-w.png">    </p:cNvPr>
          <p:cNvPicPr>
            <a:picLocks noChangeAspect="1"/>
          </p:cNvPicPr>
          <p:nvPr/>
        </p:nvPicPr>
        <p:blipFill>
          <a:blip r:embed="rId1"/>
          <a:stretch>
            <a:fillRect/>
          </a:stretch>
        </p:blipFill>
        <p:spPr>
          <a:xfrm>
            <a:off x="1090879" y="2233879"/>
            <a:ext cx="241402" cy="241402"/>
          </a:xfrm>
          <a:prstGeom prst="rect">
            <a:avLst/>
          </a:prstGeom>
        </p:spPr>
      </p:pic>
      <p:sp>
        <p:nvSpPr>
          <p:cNvPr id="8" name="Text 5"/>
          <p:cNvSpPr txBox="1"/>
          <p:nvPr/>
        </p:nvSpPr>
        <p:spPr>
          <a:xfrm>
            <a:off x="1645920" y="2103120"/>
            <a:ext cx="2286000" cy="502920"/>
          </a:xfrm>
          <a:prstGeom prst="rect">
            <a:avLst/>
          </a:prstGeom>
          <a:noFill/>
          <a:ln/>
        </p:spPr>
        <p:txBody>
          <a:bodyPr wrap="square" lIns="0" tIns="0" rIns="0" bIns="0" rtlCol="0" anchor="ctr"/>
          <a:lstStyle/>
          <a:p>
            <a:pPr indent="0" marL="0">
              <a:buNone/>
            </a:pPr>
            <a:r>
              <a:rPr lang="en-US" sz="1700" dirty="0">
                <a:solidFill>
                  <a:srgbClr val="FFFFFF"/>
                </a:solidFill>
                <a:latin typeface="Poppins ExtraBold" pitchFamily="34" charset="0"/>
                <a:ea typeface="Poppins ExtraBold" pitchFamily="34" charset="-122"/>
                <a:cs typeface="Poppins ExtraBold" pitchFamily="34" charset="-120"/>
              </a:rPr>
              <a:t>Sichtbarkeit</a:t>
            </a:r>
            <a:endParaRPr lang="en-US" sz="1700" dirty="0"/>
          </a:p>
        </p:txBody>
      </p:sp>
      <p:sp>
        <p:nvSpPr>
          <p:cNvPr id="9" name="Text 6"/>
          <p:cNvSpPr txBox="1"/>
          <p:nvPr/>
        </p:nvSpPr>
        <p:spPr>
          <a:xfrm>
            <a:off x="960120" y="2743200"/>
            <a:ext cx="2926080" cy="5486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Man kennt uns in der Region, auch ohne Einbruch in der Nachbarschaft.</a:t>
            </a:r>
            <a:endParaRPr lang="en-US" sz="1200" dirty="0"/>
          </a:p>
        </p:txBody>
      </p:sp>
      <p:sp>
        <p:nvSpPr>
          <p:cNvPr id="10" name="Shape 7"/>
          <p:cNvSpPr/>
          <p:nvPr/>
        </p:nvSpPr>
        <p:spPr>
          <a:xfrm>
            <a:off x="4343400" y="1828800"/>
            <a:ext cx="3429000" cy="1554480"/>
          </a:xfrm>
          <a:prstGeom prst="roundRect">
            <a:avLst>
              <a:gd name="adj" fmla="val 7059"/>
            </a:avLst>
          </a:prstGeom>
          <a:solidFill>
            <a:srgbClr val="222222"/>
          </a:solidFill>
          <a:ln w="12700">
            <a:solidFill>
              <a:srgbClr val="222222"/>
            </a:solidFill>
            <a:prstDash val="solid"/>
          </a:ln>
        </p:spPr>
      </p:sp>
      <p:sp>
        <p:nvSpPr>
          <p:cNvPr id="11" name="Shape 8"/>
          <p:cNvSpPr/>
          <p:nvPr/>
        </p:nvSpPr>
        <p:spPr>
          <a:xfrm>
            <a:off x="4617720" y="2103120"/>
            <a:ext cx="502920" cy="502920"/>
          </a:xfrm>
          <a:prstGeom prst="ellipse">
            <a:avLst/>
          </a:prstGeom>
          <a:solidFill>
            <a:srgbClr val="EB5A1B"/>
          </a:solidFill>
          <a:ln w="12700">
            <a:solidFill>
              <a:srgbClr val="EB5A1B"/>
            </a:solidFill>
            <a:prstDash val="solid"/>
          </a:ln>
        </p:spPr>
      </p:sp>
      <p:pic>
        <p:nvPicPr>
          <p:cNvPr id="12" name="Image 1" descr="/tmp/claude-0/-home-user-Marlene/67342075-d45e-5dfd-8246-b97e829a8c42/scratchpad/deck/img/FaHandshake-w.png">    </p:cNvPr>
          <p:cNvPicPr>
            <a:picLocks noChangeAspect="1"/>
          </p:cNvPicPr>
          <p:nvPr/>
        </p:nvPicPr>
        <p:blipFill>
          <a:blip r:embed="rId2"/>
          <a:stretch>
            <a:fillRect/>
          </a:stretch>
        </p:blipFill>
        <p:spPr>
          <a:xfrm>
            <a:off x="4748479" y="2233879"/>
            <a:ext cx="241402" cy="241402"/>
          </a:xfrm>
          <a:prstGeom prst="rect">
            <a:avLst/>
          </a:prstGeom>
        </p:spPr>
      </p:pic>
      <p:sp>
        <p:nvSpPr>
          <p:cNvPr id="13" name="Text 9"/>
          <p:cNvSpPr txBox="1"/>
          <p:nvPr/>
        </p:nvSpPr>
        <p:spPr>
          <a:xfrm>
            <a:off x="5303520" y="2103120"/>
            <a:ext cx="2286000" cy="502920"/>
          </a:xfrm>
          <a:prstGeom prst="rect">
            <a:avLst/>
          </a:prstGeom>
          <a:noFill/>
          <a:ln/>
        </p:spPr>
        <p:txBody>
          <a:bodyPr wrap="square" lIns="0" tIns="0" rIns="0" bIns="0" rtlCol="0" anchor="ctr"/>
          <a:lstStyle/>
          <a:p>
            <a:pPr indent="0" marL="0">
              <a:buNone/>
            </a:pPr>
            <a:r>
              <a:rPr lang="en-US" sz="1700" dirty="0">
                <a:solidFill>
                  <a:srgbClr val="FFFFFF"/>
                </a:solidFill>
                <a:latin typeface="Poppins ExtraBold" pitchFamily="34" charset="0"/>
                <a:ea typeface="Poppins ExtraBold" pitchFamily="34" charset="-122"/>
                <a:cs typeface="Poppins ExtraBold" pitchFamily="34" charset="-120"/>
              </a:rPr>
              <a:t>Vertrauen</a:t>
            </a:r>
            <a:endParaRPr lang="en-US" sz="1700" dirty="0"/>
          </a:p>
        </p:txBody>
      </p:sp>
      <p:sp>
        <p:nvSpPr>
          <p:cNvPr id="14" name="Text 10"/>
          <p:cNvSpPr txBox="1"/>
          <p:nvPr/>
        </p:nvSpPr>
        <p:spPr>
          <a:xfrm>
            <a:off x="4617720" y="2743200"/>
            <a:ext cx="2926080" cy="5486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Wer an Sicherheit denkt, denkt zuerst an Poleschak.</a:t>
            </a:r>
            <a:endParaRPr lang="en-US" sz="1200" dirty="0"/>
          </a:p>
        </p:txBody>
      </p:sp>
      <p:sp>
        <p:nvSpPr>
          <p:cNvPr id="15" name="Shape 11"/>
          <p:cNvSpPr/>
          <p:nvPr/>
        </p:nvSpPr>
        <p:spPr>
          <a:xfrm>
            <a:off x="8001000" y="1828800"/>
            <a:ext cx="3429000" cy="1554480"/>
          </a:xfrm>
          <a:prstGeom prst="roundRect">
            <a:avLst>
              <a:gd name="adj" fmla="val 7059"/>
            </a:avLst>
          </a:prstGeom>
          <a:solidFill>
            <a:srgbClr val="222222"/>
          </a:solidFill>
          <a:ln w="12700">
            <a:solidFill>
              <a:srgbClr val="222222"/>
            </a:solidFill>
            <a:prstDash val="solid"/>
          </a:ln>
        </p:spPr>
      </p:sp>
      <p:sp>
        <p:nvSpPr>
          <p:cNvPr id="16" name="Shape 12"/>
          <p:cNvSpPr/>
          <p:nvPr/>
        </p:nvSpPr>
        <p:spPr>
          <a:xfrm>
            <a:off x="8275320" y="2103120"/>
            <a:ext cx="502920" cy="502920"/>
          </a:xfrm>
          <a:prstGeom prst="ellipse">
            <a:avLst/>
          </a:prstGeom>
          <a:solidFill>
            <a:srgbClr val="EB5A1B"/>
          </a:solidFill>
          <a:ln w="12700">
            <a:solidFill>
              <a:srgbClr val="EB5A1B"/>
            </a:solidFill>
            <a:prstDash val="solid"/>
          </a:ln>
        </p:spPr>
      </p:sp>
      <p:pic>
        <p:nvPicPr>
          <p:cNvPr id="17" name="Image 2" descr="/tmp/claude-0/-home-user-Marlene/67342075-d45e-5dfd-8246-b97e829a8c42/scratchpad/deck/img/FaWhatsapp-w.png">    </p:cNvPr>
          <p:cNvPicPr>
            <a:picLocks noChangeAspect="1"/>
          </p:cNvPicPr>
          <p:nvPr/>
        </p:nvPicPr>
        <p:blipFill>
          <a:blip r:embed="rId3"/>
          <a:stretch>
            <a:fillRect/>
          </a:stretch>
        </p:blipFill>
        <p:spPr>
          <a:xfrm>
            <a:off x="8406079" y="2233879"/>
            <a:ext cx="241402" cy="241402"/>
          </a:xfrm>
          <a:prstGeom prst="rect">
            <a:avLst/>
          </a:prstGeom>
        </p:spPr>
      </p:pic>
      <p:sp>
        <p:nvSpPr>
          <p:cNvPr id="18" name="Text 13"/>
          <p:cNvSpPr txBox="1"/>
          <p:nvPr/>
        </p:nvSpPr>
        <p:spPr>
          <a:xfrm>
            <a:off x="8961120" y="2103120"/>
            <a:ext cx="2286000" cy="502920"/>
          </a:xfrm>
          <a:prstGeom prst="rect">
            <a:avLst/>
          </a:prstGeom>
          <a:noFill/>
          <a:ln/>
        </p:spPr>
        <p:txBody>
          <a:bodyPr wrap="square" lIns="0" tIns="0" rIns="0" bIns="0" rtlCol="0" anchor="ctr"/>
          <a:lstStyle/>
          <a:p>
            <a:pPr indent="0" marL="0">
              <a:buNone/>
            </a:pPr>
            <a:r>
              <a:rPr lang="en-US" sz="1700" dirty="0">
                <a:solidFill>
                  <a:srgbClr val="FFFFFF"/>
                </a:solidFill>
                <a:latin typeface="Poppins ExtraBold" pitchFamily="34" charset="0"/>
                <a:ea typeface="Poppins ExtraBold" pitchFamily="34" charset="-122"/>
                <a:cs typeface="Poppins ExtraBold" pitchFamily="34" charset="-120"/>
              </a:rPr>
              <a:t>Anfragen</a:t>
            </a:r>
            <a:endParaRPr lang="en-US" sz="1700" dirty="0"/>
          </a:p>
        </p:txBody>
      </p:sp>
      <p:sp>
        <p:nvSpPr>
          <p:cNvPr id="19" name="Text 14"/>
          <p:cNvSpPr txBox="1"/>
          <p:nvPr/>
        </p:nvSpPr>
        <p:spPr>
          <a:xfrm>
            <a:off x="8275320" y="2743200"/>
            <a:ext cx="2926080" cy="5486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Beratungen entstehen auch über Instagram.</a:t>
            </a:r>
            <a:endParaRPr lang="en-US" sz="1200" dirty="0"/>
          </a:p>
        </p:txBody>
      </p:sp>
      <p:sp>
        <p:nvSpPr>
          <p:cNvPr id="20" name="Shape 15"/>
          <p:cNvSpPr/>
          <p:nvPr/>
        </p:nvSpPr>
        <p:spPr>
          <a:xfrm>
            <a:off x="685800" y="3611880"/>
            <a:ext cx="3429000" cy="1554480"/>
          </a:xfrm>
          <a:prstGeom prst="roundRect">
            <a:avLst>
              <a:gd name="adj" fmla="val 7059"/>
            </a:avLst>
          </a:prstGeom>
          <a:solidFill>
            <a:srgbClr val="222222"/>
          </a:solidFill>
          <a:ln w="12700">
            <a:solidFill>
              <a:srgbClr val="222222"/>
            </a:solidFill>
            <a:prstDash val="solid"/>
          </a:ln>
        </p:spPr>
      </p:sp>
      <p:sp>
        <p:nvSpPr>
          <p:cNvPr id="21" name="Shape 16"/>
          <p:cNvSpPr/>
          <p:nvPr/>
        </p:nvSpPr>
        <p:spPr>
          <a:xfrm>
            <a:off x="960120" y="3886200"/>
            <a:ext cx="502920" cy="502920"/>
          </a:xfrm>
          <a:prstGeom prst="ellipse">
            <a:avLst/>
          </a:prstGeom>
          <a:solidFill>
            <a:srgbClr val="EB5A1B"/>
          </a:solidFill>
          <a:ln w="12700">
            <a:solidFill>
              <a:srgbClr val="EB5A1B"/>
            </a:solidFill>
            <a:prstDash val="solid"/>
          </a:ln>
        </p:spPr>
      </p:sp>
      <p:pic>
        <p:nvPicPr>
          <p:cNvPr id="22" name="Image 3" descr="/tmp/claude-0/-home-user-Marlene/67342075-d45e-5dfd-8246-b97e829a8c42/scratchpad/deck/img/FaUserGraduate-w.png">    </p:cNvPr>
          <p:cNvPicPr>
            <a:picLocks noChangeAspect="1"/>
          </p:cNvPicPr>
          <p:nvPr/>
        </p:nvPicPr>
        <p:blipFill>
          <a:blip r:embed="rId4"/>
          <a:stretch>
            <a:fillRect/>
          </a:stretch>
        </p:blipFill>
        <p:spPr>
          <a:xfrm>
            <a:off x="1090879" y="4016959"/>
            <a:ext cx="241402" cy="241402"/>
          </a:xfrm>
          <a:prstGeom prst="rect">
            <a:avLst/>
          </a:prstGeom>
        </p:spPr>
      </p:pic>
      <p:sp>
        <p:nvSpPr>
          <p:cNvPr id="23" name="Text 17"/>
          <p:cNvSpPr txBox="1"/>
          <p:nvPr/>
        </p:nvSpPr>
        <p:spPr>
          <a:xfrm>
            <a:off x="1645920" y="3886200"/>
            <a:ext cx="2286000" cy="502920"/>
          </a:xfrm>
          <a:prstGeom prst="rect">
            <a:avLst/>
          </a:prstGeom>
          <a:noFill/>
          <a:ln/>
        </p:spPr>
        <p:txBody>
          <a:bodyPr wrap="square" lIns="0" tIns="0" rIns="0" bIns="0" rtlCol="0" anchor="ctr"/>
          <a:lstStyle/>
          <a:p>
            <a:pPr indent="0" marL="0">
              <a:buNone/>
            </a:pPr>
            <a:r>
              <a:rPr lang="en-US" sz="1700" dirty="0">
                <a:solidFill>
                  <a:srgbClr val="FFFFFF"/>
                </a:solidFill>
                <a:latin typeface="Poppins ExtraBold" pitchFamily="34" charset="0"/>
                <a:ea typeface="Poppins ExtraBold" pitchFamily="34" charset="-122"/>
                <a:cs typeface="Poppins ExtraBold" pitchFamily="34" charset="-120"/>
              </a:rPr>
              <a:t>Nachwuchs</a:t>
            </a:r>
            <a:endParaRPr lang="en-US" sz="1700" dirty="0"/>
          </a:p>
        </p:txBody>
      </p:sp>
      <p:sp>
        <p:nvSpPr>
          <p:cNvPr id="24" name="Text 18"/>
          <p:cNvSpPr txBox="1"/>
          <p:nvPr/>
        </p:nvSpPr>
        <p:spPr>
          <a:xfrm>
            <a:off x="960120" y="4526280"/>
            <a:ext cx="2926080" cy="5486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Junge Leute melden sich von selbst für ein Praktikum.</a:t>
            </a:r>
            <a:endParaRPr lang="en-US" sz="1200" dirty="0"/>
          </a:p>
        </p:txBody>
      </p:sp>
      <p:sp>
        <p:nvSpPr>
          <p:cNvPr id="25" name="Shape 19"/>
          <p:cNvSpPr/>
          <p:nvPr/>
        </p:nvSpPr>
        <p:spPr>
          <a:xfrm>
            <a:off x="4343400" y="3611880"/>
            <a:ext cx="3429000" cy="1554480"/>
          </a:xfrm>
          <a:prstGeom prst="roundRect">
            <a:avLst>
              <a:gd name="adj" fmla="val 7059"/>
            </a:avLst>
          </a:prstGeom>
          <a:solidFill>
            <a:srgbClr val="222222"/>
          </a:solidFill>
          <a:ln w="12700">
            <a:solidFill>
              <a:srgbClr val="222222"/>
            </a:solidFill>
            <a:prstDash val="solid"/>
          </a:ln>
        </p:spPr>
      </p:sp>
      <p:sp>
        <p:nvSpPr>
          <p:cNvPr id="26" name="Shape 20"/>
          <p:cNvSpPr/>
          <p:nvPr/>
        </p:nvSpPr>
        <p:spPr>
          <a:xfrm>
            <a:off x="4617720" y="3886200"/>
            <a:ext cx="502920" cy="502920"/>
          </a:xfrm>
          <a:prstGeom prst="ellipse">
            <a:avLst/>
          </a:prstGeom>
          <a:solidFill>
            <a:srgbClr val="EB5A1B"/>
          </a:solidFill>
          <a:ln w="12700">
            <a:solidFill>
              <a:srgbClr val="EB5A1B"/>
            </a:solidFill>
            <a:prstDash val="solid"/>
          </a:ln>
        </p:spPr>
      </p:sp>
      <p:pic>
        <p:nvPicPr>
          <p:cNvPr id="27" name="Image 4" descr="/tmp/claude-0/-home-user-Marlene/67342075-d45e-5dfd-8246-b97e829a8c42/scratchpad/deck/img/FaUserTie-w.png">    </p:cNvPr>
          <p:cNvPicPr>
            <a:picLocks noChangeAspect="1"/>
          </p:cNvPicPr>
          <p:nvPr/>
        </p:nvPicPr>
        <p:blipFill>
          <a:blip r:embed="rId5"/>
          <a:stretch>
            <a:fillRect/>
          </a:stretch>
        </p:blipFill>
        <p:spPr>
          <a:xfrm>
            <a:off x="4748479" y="4016959"/>
            <a:ext cx="241402" cy="241402"/>
          </a:xfrm>
          <a:prstGeom prst="rect">
            <a:avLst/>
          </a:prstGeom>
        </p:spPr>
      </p:pic>
      <p:sp>
        <p:nvSpPr>
          <p:cNvPr id="28" name="Text 21"/>
          <p:cNvSpPr txBox="1"/>
          <p:nvPr/>
        </p:nvSpPr>
        <p:spPr>
          <a:xfrm>
            <a:off x="5303520" y="3886200"/>
            <a:ext cx="2286000" cy="502920"/>
          </a:xfrm>
          <a:prstGeom prst="rect">
            <a:avLst/>
          </a:prstGeom>
          <a:noFill/>
          <a:ln/>
        </p:spPr>
        <p:txBody>
          <a:bodyPr wrap="square" lIns="0" tIns="0" rIns="0" bIns="0" rtlCol="0" anchor="ctr"/>
          <a:lstStyle/>
          <a:p>
            <a:pPr indent="0" marL="0">
              <a:buNone/>
            </a:pPr>
            <a:r>
              <a:rPr lang="en-US" sz="1700" dirty="0">
                <a:solidFill>
                  <a:srgbClr val="FFFFFF"/>
                </a:solidFill>
                <a:latin typeface="Poppins ExtraBold" pitchFamily="34" charset="0"/>
                <a:ea typeface="Poppins ExtraBold" pitchFamily="34" charset="-122"/>
                <a:cs typeface="Poppins ExtraBold" pitchFamily="34" charset="-120"/>
              </a:rPr>
              <a:t>Arbeitgeberbild</a:t>
            </a:r>
            <a:endParaRPr lang="en-US" sz="1700" dirty="0"/>
          </a:p>
        </p:txBody>
      </p:sp>
      <p:sp>
        <p:nvSpPr>
          <p:cNvPr id="29" name="Text 22"/>
          <p:cNvSpPr txBox="1"/>
          <p:nvPr/>
        </p:nvSpPr>
        <p:spPr>
          <a:xfrm>
            <a:off x="4617720" y="4526280"/>
            <a:ext cx="2926080" cy="5486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Bewerber kennen uns schon, bevor sie sich bewerben.</a:t>
            </a:r>
            <a:endParaRPr lang="en-US" sz="1200" dirty="0"/>
          </a:p>
        </p:txBody>
      </p:sp>
      <p:sp>
        <p:nvSpPr>
          <p:cNvPr id="30" name="Shape 23"/>
          <p:cNvSpPr/>
          <p:nvPr/>
        </p:nvSpPr>
        <p:spPr>
          <a:xfrm>
            <a:off x="8001000" y="3611880"/>
            <a:ext cx="3429000" cy="1554480"/>
          </a:xfrm>
          <a:prstGeom prst="roundRect">
            <a:avLst>
              <a:gd name="adj" fmla="val 7059"/>
            </a:avLst>
          </a:prstGeom>
          <a:solidFill>
            <a:srgbClr val="222222"/>
          </a:solidFill>
          <a:ln w="12700">
            <a:solidFill>
              <a:srgbClr val="222222"/>
            </a:solidFill>
            <a:prstDash val="solid"/>
          </a:ln>
        </p:spPr>
      </p:sp>
      <p:sp>
        <p:nvSpPr>
          <p:cNvPr id="31" name="Shape 24"/>
          <p:cNvSpPr/>
          <p:nvPr/>
        </p:nvSpPr>
        <p:spPr>
          <a:xfrm>
            <a:off x="8275320" y="3886200"/>
            <a:ext cx="502920" cy="502920"/>
          </a:xfrm>
          <a:prstGeom prst="ellipse">
            <a:avLst/>
          </a:prstGeom>
          <a:solidFill>
            <a:srgbClr val="EB5A1B"/>
          </a:solidFill>
          <a:ln w="12700">
            <a:solidFill>
              <a:srgbClr val="EB5A1B"/>
            </a:solidFill>
            <a:prstDash val="solid"/>
          </a:ln>
        </p:spPr>
      </p:sp>
      <p:pic>
        <p:nvPicPr>
          <p:cNvPr id="32" name="Image 5" descr="/tmp/claude-0/-home-user-Marlene/67342075-d45e-5dfd-8246-b97e829a8c42/scratchpad/deck/img/FaHeart-w.png">    </p:cNvPr>
          <p:cNvPicPr>
            <a:picLocks noChangeAspect="1"/>
          </p:cNvPicPr>
          <p:nvPr/>
        </p:nvPicPr>
        <p:blipFill>
          <a:blip r:embed="rId6"/>
          <a:stretch>
            <a:fillRect/>
          </a:stretch>
        </p:blipFill>
        <p:spPr>
          <a:xfrm>
            <a:off x="8406079" y="4016959"/>
            <a:ext cx="241402" cy="241402"/>
          </a:xfrm>
          <a:prstGeom prst="rect">
            <a:avLst/>
          </a:prstGeom>
        </p:spPr>
      </p:pic>
      <p:sp>
        <p:nvSpPr>
          <p:cNvPr id="33" name="Text 25"/>
          <p:cNvSpPr txBox="1"/>
          <p:nvPr/>
        </p:nvSpPr>
        <p:spPr>
          <a:xfrm>
            <a:off x="8961120" y="3886200"/>
            <a:ext cx="2286000" cy="502920"/>
          </a:xfrm>
          <a:prstGeom prst="rect">
            <a:avLst/>
          </a:prstGeom>
          <a:noFill/>
          <a:ln/>
        </p:spPr>
        <p:txBody>
          <a:bodyPr wrap="square" lIns="0" tIns="0" rIns="0" bIns="0" rtlCol="0" anchor="ctr"/>
          <a:lstStyle/>
          <a:p>
            <a:pPr indent="0" marL="0">
              <a:buNone/>
            </a:pPr>
            <a:r>
              <a:rPr lang="en-US" sz="1700" dirty="0">
                <a:solidFill>
                  <a:srgbClr val="FFFFFF"/>
                </a:solidFill>
                <a:latin typeface="Poppins ExtraBold" pitchFamily="34" charset="0"/>
                <a:ea typeface="Poppins ExtraBold" pitchFamily="34" charset="-122"/>
                <a:cs typeface="Poppins ExtraBold" pitchFamily="34" charset="-120"/>
              </a:rPr>
              <a:t>Teamstolz</a:t>
            </a:r>
            <a:endParaRPr lang="en-US" sz="1700" dirty="0"/>
          </a:p>
        </p:txBody>
      </p:sp>
      <p:sp>
        <p:nvSpPr>
          <p:cNvPr id="34" name="Text 26"/>
          <p:cNvSpPr txBox="1"/>
          <p:nvPr/>
        </p:nvSpPr>
        <p:spPr>
          <a:xfrm>
            <a:off x="8275320" y="4526280"/>
            <a:ext cx="2926080" cy="54864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Kolleginnen und Kollegen teilen unsere Beiträge gern.</a:t>
            </a:r>
            <a:endParaRPr lang="en-US" sz="1200" dirty="0"/>
          </a:p>
        </p:txBody>
      </p:sp>
      <p:sp>
        <p:nvSpPr>
          <p:cNvPr id="35" name="Text 27"/>
          <p:cNvSpPr txBox="1"/>
          <p:nvPr/>
        </p:nvSpPr>
        <p:spPr>
          <a:xfrm>
            <a:off x="685800" y="5486400"/>
            <a:ext cx="10789920" cy="320040"/>
          </a:xfrm>
          <a:prstGeom prst="rect">
            <a:avLst/>
          </a:prstGeom>
          <a:noFill/>
          <a:ln/>
        </p:spPr>
        <p:txBody>
          <a:bodyPr wrap="square" lIns="0" tIns="0" rIns="0" bIns="0" rtlCol="0" anchor="t"/>
          <a:lstStyle/>
          <a:p>
            <a:pPr indent="0" marL="0">
              <a:buNone/>
            </a:pPr>
            <a:r>
              <a:rPr lang="en-US" sz="1300" dirty="0">
                <a:solidFill>
                  <a:srgbClr val="B4B5BB"/>
                </a:solidFill>
                <a:latin typeface="Poppins" pitchFamily="34" charset="0"/>
                <a:ea typeface="Poppins" pitchFamily="34" charset="-122"/>
                <a:cs typeface="Poppins" pitchFamily="34" charset="-120"/>
              </a:rPr>
              <a:t>Wir schauen regelmäßig, was wirkt, und berichten jeden Monat auf einer Seite.</a:t>
            </a:r>
            <a:endParaRPr lang="en-US" sz="1300" dirty="0"/>
          </a:p>
        </p:txBody>
      </p:sp>
      <p:pic>
        <p:nvPicPr>
          <p:cNvPr id="36" name="Image 6" descr="/home/user/Marlene/poleschak-social-media/assets/logo-negativ.png">    </p:cNvPr>
          <p:cNvPicPr>
            <a:picLocks noChangeAspect="1"/>
          </p:cNvPicPr>
          <p:nvPr/>
        </p:nvPicPr>
        <p:blipFill>
          <a:blip r:embed="rId7"/>
          <a:stretch>
            <a:fillRect/>
          </a:stretch>
        </p:blipFill>
        <p:spPr>
          <a:xfrm>
            <a:off x="685800" y="6291072"/>
            <a:ext cx="643680" cy="329184"/>
          </a:xfrm>
          <a:prstGeom prst="rect">
            <a:avLst/>
          </a:prstGeom>
        </p:spPr>
      </p:pic>
      <p:sp>
        <p:nvSpPr>
          <p:cNvPr id="37" name="Text 28"/>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ORGANISATION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Klein starten.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Mit Erfahrung wachsen.</a:t>
            </a:r>
            <a:endParaRPr lang="en-US" sz="3400" dirty="0"/>
          </a:p>
        </p:txBody>
      </p:sp>
      <p:sp>
        <p:nvSpPr>
          <p:cNvPr id="5" name="Shape 3"/>
          <p:cNvSpPr/>
          <p:nvPr/>
        </p:nvSpPr>
        <p:spPr>
          <a:xfrm>
            <a:off x="685800" y="1828800"/>
            <a:ext cx="5257800" cy="3931920"/>
          </a:xfrm>
          <a:prstGeom prst="roundRect">
            <a:avLst>
              <a:gd name="adj" fmla="val 2791"/>
            </a:avLst>
          </a:prstGeom>
          <a:solidFill>
            <a:srgbClr val="111111"/>
          </a:solidFill>
          <a:ln w="12700">
            <a:solidFill>
              <a:srgbClr val="111111"/>
            </a:solidFill>
            <a:prstDash val="solid"/>
          </a:ln>
        </p:spPr>
      </p:sp>
      <p:sp>
        <p:nvSpPr>
          <p:cNvPr id="6" name="Text 4"/>
          <p:cNvSpPr txBox="1"/>
          <p:nvPr/>
        </p:nvSpPr>
        <p:spPr>
          <a:xfrm>
            <a:off x="1005840" y="2057400"/>
            <a:ext cx="4572000" cy="411480"/>
          </a:xfrm>
          <a:prstGeom prst="rect">
            <a:avLst/>
          </a:prstGeom>
          <a:noFill/>
          <a:ln/>
        </p:spPr>
        <p:txBody>
          <a:bodyPr wrap="square" lIns="0" tIns="0" rIns="0" bIns="0" rtlCol="0" anchor="t"/>
          <a:lstStyle/>
          <a:p>
            <a:pPr indent="0" marL="0">
              <a:buNone/>
            </a:pPr>
            <a:r>
              <a:rPr lang="en-US" sz="2000" dirty="0">
                <a:solidFill>
                  <a:srgbClr val="EB5A1B"/>
                </a:solidFill>
                <a:latin typeface="Poppins ExtraBold" pitchFamily="34" charset="0"/>
                <a:ea typeface="Poppins ExtraBold" pitchFamily="34" charset="-122"/>
                <a:cs typeface="Poppins ExtraBold" pitchFamily="34" charset="-120"/>
              </a:rPr>
              <a:t>Stufe 1 · Start</a:t>
            </a:r>
            <a:endParaRPr lang="en-US" sz="2000" dirty="0"/>
          </a:p>
        </p:txBody>
      </p:sp>
      <p:sp>
        <p:nvSpPr>
          <p:cNvPr id="7" name="Shape 5"/>
          <p:cNvSpPr/>
          <p:nvPr/>
        </p:nvSpPr>
        <p:spPr>
          <a:xfrm>
            <a:off x="1005840" y="2767330"/>
            <a:ext cx="91440" cy="91440"/>
          </a:xfrm>
          <a:prstGeom prst="ellipse">
            <a:avLst/>
          </a:prstGeom>
          <a:solidFill>
            <a:srgbClr val="EB5A1B"/>
          </a:solidFill>
          <a:ln w="12700">
            <a:solidFill>
              <a:srgbClr val="EB5A1B"/>
            </a:solidFill>
            <a:prstDash val="solid"/>
          </a:ln>
        </p:spPr>
      </p:sp>
      <p:sp>
        <p:nvSpPr>
          <p:cNvPr id="8" name="Text 6"/>
          <p:cNvSpPr txBox="1"/>
          <p:nvPr/>
        </p:nvSpPr>
        <p:spPr>
          <a:xfrm>
            <a:off x="1234440" y="2697480"/>
            <a:ext cx="4434840" cy="26771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Feste interne Zuständigkeit für Social Media</a:t>
            </a:r>
            <a:endParaRPr lang="en-US" sz="1300" dirty="0"/>
          </a:p>
        </p:txBody>
      </p:sp>
      <p:sp>
        <p:nvSpPr>
          <p:cNvPr id="9" name="Shape 7"/>
          <p:cNvSpPr/>
          <p:nvPr/>
        </p:nvSpPr>
        <p:spPr>
          <a:xfrm>
            <a:off x="1005840" y="3144774"/>
            <a:ext cx="91440" cy="91440"/>
          </a:xfrm>
          <a:prstGeom prst="ellipse">
            <a:avLst/>
          </a:prstGeom>
          <a:solidFill>
            <a:srgbClr val="EB5A1B"/>
          </a:solidFill>
          <a:ln w="12700">
            <a:solidFill>
              <a:srgbClr val="EB5A1B"/>
            </a:solidFill>
            <a:prstDash val="solid"/>
          </a:ln>
        </p:spPr>
      </p:sp>
      <p:sp>
        <p:nvSpPr>
          <p:cNvPr id="10" name="Text 8"/>
          <p:cNvSpPr txBox="1"/>
          <p:nvPr/>
        </p:nvSpPr>
        <p:spPr>
          <a:xfrm>
            <a:off x="1234440" y="3074924"/>
            <a:ext cx="4434840" cy="49885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Klarer Stundenrahmen, getrennt von der Schichtarbeit</a:t>
            </a:r>
            <a:endParaRPr lang="en-US" sz="1300" dirty="0"/>
          </a:p>
        </p:txBody>
      </p:sp>
      <p:sp>
        <p:nvSpPr>
          <p:cNvPr id="11" name="Shape 9"/>
          <p:cNvSpPr/>
          <p:nvPr/>
        </p:nvSpPr>
        <p:spPr>
          <a:xfrm>
            <a:off x="1005840" y="3753358"/>
            <a:ext cx="91440" cy="91440"/>
          </a:xfrm>
          <a:prstGeom prst="ellipse">
            <a:avLst/>
          </a:prstGeom>
          <a:solidFill>
            <a:srgbClr val="EB5A1B"/>
          </a:solidFill>
          <a:ln w="12700">
            <a:solidFill>
              <a:srgbClr val="EB5A1B"/>
            </a:solidFill>
            <a:prstDash val="solid"/>
          </a:ln>
        </p:spPr>
      </p:sp>
      <p:sp>
        <p:nvSpPr>
          <p:cNvPr id="12" name="Text 10"/>
          <p:cNvSpPr txBox="1"/>
          <p:nvPr/>
        </p:nvSpPr>
        <p:spPr>
          <a:xfrm>
            <a:off x="1234440" y="3683508"/>
            <a:ext cx="4434840" cy="26771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Fokus auf Instagram, automatisch auch Facebook</a:t>
            </a:r>
            <a:endParaRPr lang="en-US" sz="1300" dirty="0"/>
          </a:p>
        </p:txBody>
      </p:sp>
      <p:sp>
        <p:nvSpPr>
          <p:cNvPr id="13" name="Shape 11"/>
          <p:cNvSpPr/>
          <p:nvPr/>
        </p:nvSpPr>
        <p:spPr>
          <a:xfrm>
            <a:off x="1005840" y="4130802"/>
            <a:ext cx="91440" cy="91440"/>
          </a:xfrm>
          <a:prstGeom prst="ellipse">
            <a:avLst/>
          </a:prstGeom>
          <a:solidFill>
            <a:srgbClr val="EB5A1B"/>
          </a:solidFill>
          <a:ln w="12700">
            <a:solidFill>
              <a:srgbClr val="EB5A1B"/>
            </a:solidFill>
            <a:prstDash val="solid"/>
          </a:ln>
        </p:spPr>
      </p:sp>
      <p:sp>
        <p:nvSpPr>
          <p:cNvPr id="14" name="Text 12"/>
          <p:cNvSpPr txBox="1"/>
          <p:nvPr/>
        </p:nvSpPr>
        <p:spPr>
          <a:xfrm>
            <a:off x="1234440" y="4060952"/>
            <a:ext cx="4434840" cy="49885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Wochenplan mit kurzer Freigabe durch die Geschäftsführung</a:t>
            </a:r>
            <a:endParaRPr lang="en-US" sz="1300" dirty="0"/>
          </a:p>
        </p:txBody>
      </p:sp>
      <p:sp>
        <p:nvSpPr>
          <p:cNvPr id="15" name="Shape 13"/>
          <p:cNvSpPr/>
          <p:nvPr/>
        </p:nvSpPr>
        <p:spPr>
          <a:xfrm>
            <a:off x="1005840" y="4739386"/>
            <a:ext cx="91440" cy="91440"/>
          </a:xfrm>
          <a:prstGeom prst="ellipse">
            <a:avLst/>
          </a:prstGeom>
          <a:solidFill>
            <a:srgbClr val="EB5A1B"/>
          </a:solidFill>
          <a:ln w="12700">
            <a:solidFill>
              <a:srgbClr val="EB5A1B"/>
            </a:solidFill>
            <a:prstDash val="solid"/>
          </a:ln>
        </p:spPr>
      </p:sp>
      <p:sp>
        <p:nvSpPr>
          <p:cNvPr id="16" name="Text 14"/>
          <p:cNvSpPr txBox="1"/>
          <p:nvPr/>
        </p:nvSpPr>
        <p:spPr>
          <a:xfrm>
            <a:off x="1234440" y="4669536"/>
            <a:ext cx="4434840" cy="267716"/>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Monatlicher Bericht auf einer Seite</a:t>
            </a:r>
            <a:endParaRPr lang="en-US" sz="1300" dirty="0"/>
          </a:p>
        </p:txBody>
      </p:sp>
      <p:sp>
        <p:nvSpPr>
          <p:cNvPr id="17" name="Shape 15"/>
          <p:cNvSpPr/>
          <p:nvPr/>
        </p:nvSpPr>
        <p:spPr>
          <a:xfrm>
            <a:off x="6217920" y="1828800"/>
            <a:ext cx="5257800" cy="3931920"/>
          </a:xfrm>
          <a:prstGeom prst="roundRect">
            <a:avLst>
              <a:gd name="adj" fmla="val 2791"/>
            </a:avLst>
          </a:prstGeom>
          <a:solidFill>
            <a:srgbClr val="F4F4F4"/>
          </a:solidFill>
          <a:ln w="12700">
            <a:solidFill>
              <a:srgbClr val="F4F4F4"/>
            </a:solidFill>
            <a:prstDash val="solid"/>
          </a:ln>
        </p:spPr>
      </p:sp>
      <p:sp>
        <p:nvSpPr>
          <p:cNvPr id="18" name="Text 16"/>
          <p:cNvSpPr txBox="1"/>
          <p:nvPr/>
        </p:nvSpPr>
        <p:spPr>
          <a:xfrm>
            <a:off x="6537960" y="2057400"/>
            <a:ext cx="4572000" cy="411480"/>
          </a:xfrm>
          <a:prstGeom prst="rect">
            <a:avLst/>
          </a:prstGeom>
          <a:noFill/>
          <a:ln/>
        </p:spPr>
        <p:txBody>
          <a:bodyPr wrap="square" lIns="0" tIns="0" rIns="0" bIns="0" rtlCol="0" anchor="t"/>
          <a:lstStyle/>
          <a:p>
            <a:pPr indent="0" marL="0">
              <a:buNone/>
            </a:pPr>
            <a:r>
              <a:rPr lang="en-US" sz="2000" dirty="0">
                <a:solidFill>
                  <a:srgbClr val="111111"/>
                </a:solidFill>
                <a:latin typeface="Poppins ExtraBold" pitchFamily="34" charset="0"/>
                <a:ea typeface="Poppins ExtraBold" pitchFamily="34" charset="-122"/>
                <a:cs typeface="Poppins ExtraBold" pitchFamily="34" charset="-120"/>
              </a:rPr>
              <a:t>Stufe 2 · Ausbau</a:t>
            </a:r>
            <a:endParaRPr lang="en-US" sz="2000" dirty="0"/>
          </a:p>
        </p:txBody>
      </p:sp>
      <p:sp>
        <p:nvSpPr>
          <p:cNvPr id="19" name="Text 17"/>
          <p:cNvSpPr txBox="1"/>
          <p:nvPr/>
        </p:nvSpPr>
        <p:spPr>
          <a:xfrm>
            <a:off x="6537960" y="2468880"/>
            <a:ext cx="4572000" cy="27432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nach dem Review, wenn Stufe 1 wirkt</a:t>
            </a:r>
            <a:endParaRPr lang="en-US" sz="1200" dirty="0"/>
          </a:p>
        </p:txBody>
      </p:sp>
      <p:sp>
        <p:nvSpPr>
          <p:cNvPr id="20" name="Shape 18"/>
          <p:cNvSpPr/>
          <p:nvPr/>
        </p:nvSpPr>
        <p:spPr>
          <a:xfrm>
            <a:off x="6537960" y="2995930"/>
            <a:ext cx="91440" cy="91440"/>
          </a:xfrm>
          <a:prstGeom prst="ellipse">
            <a:avLst/>
          </a:prstGeom>
          <a:solidFill>
            <a:srgbClr val="EB5A1B"/>
          </a:solidFill>
          <a:ln w="12700">
            <a:solidFill>
              <a:srgbClr val="EB5A1B"/>
            </a:solidFill>
            <a:prstDash val="solid"/>
          </a:ln>
        </p:spPr>
      </p:sp>
      <p:sp>
        <p:nvSpPr>
          <p:cNvPr id="21" name="Text 19"/>
          <p:cNvSpPr txBox="1"/>
          <p:nvPr/>
        </p:nvSpPr>
        <p:spPr>
          <a:xfrm>
            <a:off x="6766560" y="2926080"/>
            <a:ext cx="4434840" cy="267716"/>
          </a:xfrm>
          <a:prstGeom prst="rect">
            <a:avLst/>
          </a:prstGeom>
          <a:noFill/>
          <a:ln/>
        </p:spPr>
        <p:txBody>
          <a:bodyPr wrap="square" lIns="0" tIns="0" rIns="0" bIns="0" rtlCol="0" anchor="t"/>
          <a:lstStyle/>
          <a:p>
            <a:pPr indent="0" marL="0">
              <a:buNone/>
            </a:pPr>
            <a:r>
              <a:rPr lang="en-US" sz="1300" dirty="0">
                <a:solidFill>
                  <a:srgbClr val="222222"/>
                </a:solidFill>
                <a:latin typeface="Poppins" pitchFamily="34" charset="0"/>
                <a:ea typeface="Poppins" pitchFamily="34" charset="-122"/>
                <a:cs typeface="Poppins" pitchFamily="34" charset="-120"/>
              </a:rPr>
              <a:t>Mehr Videos und Serien</a:t>
            </a:r>
            <a:endParaRPr lang="en-US" sz="1300" dirty="0"/>
          </a:p>
        </p:txBody>
      </p:sp>
      <p:sp>
        <p:nvSpPr>
          <p:cNvPr id="22" name="Shape 20"/>
          <p:cNvSpPr/>
          <p:nvPr/>
        </p:nvSpPr>
        <p:spPr>
          <a:xfrm>
            <a:off x="6537960" y="3373374"/>
            <a:ext cx="91440" cy="91440"/>
          </a:xfrm>
          <a:prstGeom prst="ellipse">
            <a:avLst/>
          </a:prstGeom>
          <a:solidFill>
            <a:srgbClr val="EB5A1B"/>
          </a:solidFill>
          <a:ln w="12700">
            <a:solidFill>
              <a:srgbClr val="EB5A1B"/>
            </a:solidFill>
            <a:prstDash val="solid"/>
          </a:ln>
        </p:spPr>
      </p:sp>
      <p:sp>
        <p:nvSpPr>
          <p:cNvPr id="23" name="Text 21"/>
          <p:cNvSpPr txBox="1"/>
          <p:nvPr/>
        </p:nvSpPr>
        <p:spPr>
          <a:xfrm>
            <a:off x="6766560" y="3303524"/>
            <a:ext cx="4434840" cy="267716"/>
          </a:xfrm>
          <a:prstGeom prst="rect">
            <a:avLst/>
          </a:prstGeom>
          <a:noFill/>
          <a:ln/>
        </p:spPr>
        <p:txBody>
          <a:bodyPr wrap="square" lIns="0" tIns="0" rIns="0" bIns="0" rtlCol="0" anchor="t"/>
          <a:lstStyle/>
          <a:p>
            <a:pPr indent="0" marL="0">
              <a:buNone/>
            </a:pPr>
            <a:r>
              <a:rPr lang="en-US" sz="1300" dirty="0">
                <a:solidFill>
                  <a:srgbClr val="222222"/>
                </a:solidFill>
                <a:latin typeface="Poppins" pitchFamily="34" charset="0"/>
                <a:ea typeface="Poppins" pitchFamily="34" charset="-122"/>
                <a:cs typeface="Poppins" pitchFamily="34" charset="-120"/>
              </a:rPr>
              <a:t>LinkedIn für Gewerbekunden</a:t>
            </a:r>
            <a:endParaRPr lang="en-US" sz="1300" dirty="0"/>
          </a:p>
        </p:txBody>
      </p:sp>
      <p:sp>
        <p:nvSpPr>
          <p:cNvPr id="24" name="Shape 22"/>
          <p:cNvSpPr/>
          <p:nvPr/>
        </p:nvSpPr>
        <p:spPr>
          <a:xfrm>
            <a:off x="6537960" y="3750818"/>
            <a:ext cx="91440" cy="91440"/>
          </a:xfrm>
          <a:prstGeom prst="ellipse">
            <a:avLst/>
          </a:prstGeom>
          <a:solidFill>
            <a:srgbClr val="EB5A1B"/>
          </a:solidFill>
          <a:ln w="12700">
            <a:solidFill>
              <a:srgbClr val="EB5A1B"/>
            </a:solidFill>
            <a:prstDash val="solid"/>
          </a:ln>
        </p:spPr>
      </p:sp>
      <p:sp>
        <p:nvSpPr>
          <p:cNvPr id="25" name="Text 23"/>
          <p:cNvSpPr txBox="1"/>
          <p:nvPr/>
        </p:nvSpPr>
        <p:spPr>
          <a:xfrm>
            <a:off x="6766560" y="3680968"/>
            <a:ext cx="4434840" cy="267716"/>
          </a:xfrm>
          <a:prstGeom prst="rect">
            <a:avLst/>
          </a:prstGeom>
          <a:noFill/>
          <a:ln/>
        </p:spPr>
        <p:txBody>
          <a:bodyPr wrap="square" lIns="0" tIns="0" rIns="0" bIns="0" rtlCol="0" anchor="t"/>
          <a:lstStyle/>
          <a:p>
            <a:pPr indent="0" marL="0">
              <a:buNone/>
            </a:pPr>
            <a:r>
              <a:rPr lang="en-US" sz="1300" dirty="0">
                <a:solidFill>
                  <a:srgbClr val="222222"/>
                </a:solidFill>
                <a:latin typeface="Poppins" pitchFamily="34" charset="0"/>
                <a:ea typeface="Poppins" pitchFamily="34" charset="-122"/>
                <a:cs typeface="Poppins" pitchFamily="34" charset="-120"/>
              </a:rPr>
              <a:t>Google-Profile und Bewertungen aktiv pflegen</a:t>
            </a:r>
            <a:endParaRPr lang="en-US" sz="1300" dirty="0"/>
          </a:p>
        </p:txBody>
      </p:sp>
      <p:sp>
        <p:nvSpPr>
          <p:cNvPr id="26" name="Shape 24"/>
          <p:cNvSpPr/>
          <p:nvPr/>
        </p:nvSpPr>
        <p:spPr>
          <a:xfrm>
            <a:off x="6537960" y="4128262"/>
            <a:ext cx="91440" cy="91440"/>
          </a:xfrm>
          <a:prstGeom prst="ellipse">
            <a:avLst/>
          </a:prstGeom>
          <a:solidFill>
            <a:srgbClr val="EB5A1B"/>
          </a:solidFill>
          <a:ln w="12700">
            <a:solidFill>
              <a:srgbClr val="EB5A1B"/>
            </a:solidFill>
            <a:prstDash val="solid"/>
          </a:ln>
        </p:spPr>
      </p:sp>
      <p:sp>
        <p:nvSpPr>
          <p:cNvPr id="27" name="Text 25"/>
          <p:cNvSpPr txBox="1"/>
          <p:nvPr/>
        </p:nvSpPr>
        <p:spPr>
          <a:xfrm>
            <a:off x="6766560" y="4058412"/>
            <a:ext cx="4434840" cy="498856"/>
          </a:xfrm>
          <a:prstGeom prst="rect">
            <a:avLst/>
          </a:prstGeom>
          <a:noFill/>
          <a:ln/>
        </p:spPr>
        <p:txBody>
          <a:bodyPr wrap="square" lIns="0" tIns="0" rIns="0" bIns="0" rtlCol="0" anchor="t"/>
          <a:lstStyle/>
          <a:p>
            <a:pPr indent="0" marL="0">
              <a:buNone/>
            </a:pPr>
            <a:r>
              <a:rPr lang="en-US" sz="1300" dirty="0">
                <a:solidFill>
                  <a:srgbClr val="222222"/>
                </a:solidFill>
                <a:latin typeface="Poppins" pitchFamily="34" charset="0"/>
                <a:ea typeface="Poppins" pitchFamily="34" charset="-122"/>
                <a:cs typeface="Poppins" pitchFamily="34" charset="-120"/>
              </a:rPr>
              <a:t>Größere Kampagnen zu Ausbildung und Einbruchschutz</a:t>
            </a:r>
            <a:endParaRPr lang="en-US" sz="1300" dirty="0"/>
          </a:p>
        </p:txBody>
      </p:sp>
      <p:pic>
        <p:nvPicPr>
          <p:cNvPr id="28" name="Image 0" descr="/home/user/Marlene/poleschak-social-media/assets/logo-transparent.png">    </p:cNvPr>
          <p:cNvPicPr>
            <a:picLocks noChangeAspect="1"/>
          </p:cNvPicPr>
          <p:nvPr/>
        </p:nvPicPr>
        <p:blipFill>
          <a:blip r:embed="rId1"/>
          <a:stretch>
            <a:fillRect/>
          </a:stretch>
        </p:blipFill>
        <p:spPr>
          <a:xfrm>
            <a:off x="685800" y="6291072"/>
            <a:ext cx="643680" cy="329184"/>
          </a:xfrm>
          <a:prstGeom prst="rect">
            <a:avLst/>
          </a:prstGeom>
        </p:spPr>
      </p:pic>
      <p:sp>
        <p:nvSpPr>
          <p:cNvPr id="29" name="Text 26"/>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INTERN STATT AGENTUR</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Echt geht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nur von innen.</a:t>
            </a:r>
            <a:endParaRPr lang="en-US" sz="3400" dirty="0"/>
          </a:p>
        </p:txBody>
      </p:sp>
      <p:sp>
        <p:nvSpPr>
          <p:cNvPr id="5" name="Shape 3"/>
          <p:cNvSpPr/>
          <p:nvPr/>
        </p:nvSpPr>
        <p:spPr>
          <a:xfrm>
            <a:off x="685800" y="1828800"/>
            <a:ext cx="5257800" cy="3931920"/>
          </a:xfrm>
          <a:prstGeom prst="roundRect">
            <a:avLst>
              <a:gd name="adj" fmla="val 2791"/>
            </a:avLst>
          </a:prstGeom>
          <a:solidFill>
            <a:srgbClr val="F4F4F4"/>
          </a:solidFill>
          <a:ln w="12700">
            <a:solidFill>
              <a:srgbClr val="F4F4F4"/>
            </a:solidFill>
            <a:prstDash val="solid"/>
          </a:ln>
        </p:spPr>
      </p:sp>
      <p:sp>
        <p:nvSpPr>
          <p:cNvPr id="6" name="Shape 4"/>
          <p:cNvSpPr/>
          <p:nvPr/>
        </p:nvSpPr>
        <p:spPr>
          <a:xfrm>
            <a:off x="6217920" y="1828800"/>
            <a:ext cx="5257800" cy="3931920"/>
          </a:xfrm>
          <a:prstGeom prst="roundRect">
            <a:avLst>
              <a:gd name="adj" fmla="val 2791"/>
            </a:avLst>
          </a:prstGeom>
          <a:solidFill>
            <a:srgbClr val="111111"/>
          </a:solidFill>
          <a:ln w="12700">
            <a:solidFill>
              <a:srgbClr val="111111"/>
            </a:solidFill>
            <a:prstDash val="solid"/>
          </a:ln>
        </p:spPr>
      </p:sp>
      <p:sp>
        <p:nvSpPr>
          <p:cNvPr id="7" name="Text 5"/>
          <p:cNvSpPr txBox="1"/>
          <p:nvPr/>
        </p:nvSpPr>
        <p:spPr>
          <a:xfrm>
            <a:off x="1005840" y="2057400"/>
            <a:ext cx="4572000" cy="411480"/>
          </a:xfrm>
          <a:prstGeom prst="rect">
            <a:avLst/>
          </a:prstGeom>
          <a:noFill/>
          <a:ln/>
        </p:spPr>
        <p:txBody>
          <a:bodyPr wrap="square" lIns="0" tIns="0" rIns="0" bIns="0" rtlCol="0" anchor="t"/>
          <a:lstStyle/>
          <a:p>
            <a:pPr indent="0" marL="0">
              <a:buNone/>
            </a:pPr>
            <a:r>
              <a:rPr lang="en-US" sz="2000" dirty="0">
                <a:solidFill>
                  <a:srgbClr val="111111"/>
                </a:solidFill>
                <a:latin typeface="Poppins ExtraBold" pitchFamily="34" charset="0"/>
                <a:ea typeface="Poppins ExtraBold" pitchFamily="34" charset="-122"/>
                <a:cs typeface="Poppins ExtraBold" pitchFamily="34" charset="-120"/>
              </a:rPr>
              <a:t>Agentur</a:t>
            </a:r>
            <a:endParaRPr lang="en-US" sz="2000" dirty="0"/>
          </a:p>
        </p:txBody>
      </p:sp>
      <p:sp>
        <p:nvSpPr>
          <p:cNvPr id="8" name="Shape 6"/>
          <p:cNvSpPr/>
          <p:nvPr/>
        </p:nvSpPr>
        <p:spPr>
          <a:xfrm>
            <a:off x="1005840" y="2776220"/>
            <a:ext cx="91440" cy="91440"/>
          </a:xfrm>
          <a:prstGeom prst="ellipse">
            <a:avLst/>
          </a:prstGeom>
          <a:solidFill>
            <a:srgbClr val="EB5A1B"/>
          </a:solidFill>
          <a:ln w="12700">
            <a:solidFill>
              <a:srgbClr val="EB5A1B"/>
            </a:solidFill>
            <a:prstDash val="solid"/>
          </a:ln>
        </p:spPr>
      </p:sp>
      <p:sp>
        <p:nvSpPr>
          <p:cNvPr id="9" name="Text 7"/>
          <p:cNvSpPr txBox="1"/>
          <p:nvPr/>
        </p:nvSpPr>
        <p:spPr>
          <a:xfrm>
            <a:off x="1234440" y="2697480"/>
            <a:ext cx="4434840" cy="534416"/>
          </a:xfrm>
          <a:prstGeom prst="rect">
            <a:avLst/>
          </a:prstGeom>
          <a:noFill/>
          <a:ln/>
        </p:spPr>
        <p:txBody>
          <a:bodyPr wrap="square" lIns="0" tIns="0" rIns="0" bIns="0" rtlCol="0" anchor="t"/>
          <a:lstStyle/>
          <a:p>
            <a:pPr indent="0" marL="0">
              <a:buNone/>
            </a:pPr>
            <a:r>
              <a:rPr lang="en-US" sz="1400" dirty="0">
                <a:solidFill>
                  <a:srgbClr val="222222"/>
                </a:solidFill>
                <a:latin typeface="Poppins" pitchFamily="34" charset="0"/>
                <a:ea typeface="Poppins" pitchFamily="34" charset="-122"/>
                <a:cs typeface="Poppins" pitchFamily="34" charset="-120"/>
              </a:rPr>
              <a:t>Nicht vor Ort, Drehtermine müssen geplant werden</a:t>
            </a:r>
            <a:endParaRPr lang="en-US" sz="1400" dirty="0"/>
          </a:p>
        </p:txBody>
      </p:sp>
      <p:sp>
        <p:nvSpPr>
          <p:cNvPr id="10" name="Shape 8"/>
          <p:cNvSpPr/>
          <p:nvPr/>
        </p:nvSpPr>
        <p:spPr>
          <a:xfrm>
            <a:off x="1005840" y="3420364"/>
            <a:ext cx="91440" cy="91440"/>
          </a:xfrm>
          <a:prstGeom prst="ellipse">
            <a:avLst/>
          </a:prstGeom>
          <a:solidFill>
            <a:srgbClr val="EB5A1B"/>
          </a:solidFill>
          <a:ln w="12700">
            <a:solidFill>
              <a:srgbClr val="EB5A1B"/>
            </a:solidFill>
            <a:prstDash val="solid"/>
          </a:ln>
        </p:spPr>
      </p:sp>
      <p:sp>
        <p:nvSpPr>
          <p:cNvPr id="11" name="Text 9"/>
          <p:cNvSpPr txBox="1"/>
          <p:nvPr/>
        </p:nvSpPr>
        <p:spPr>
          <a:xfrm>
            <a:off x="1234440" y="3341624"/>
            <a:ext cx="4434840" cy="285496"/>
          </a:xfrm>
          <a:prstGeom prst="rect">
            <a:avLst/>
          </a:prstGeom>
          <a:noFill/>
          <a:ln/>
        </p:spPr>
        <p:txBody>
          <a:bodyPr wrap="square" lIns="0" tIns="0" rIns="0" bIns="0" rtlCol="0" anchor="t"/>
          <a:lstStyle/>
          <a:p>
            <a:pPr indent="0" marL="0">
              <a:buNone/>
            </a:pPr>
            <a:r>
              <a:rPr lang="en-US" sz="1400" dirty="0">
                <a:solidFill>
                  <a:srgbClr val="222222"/>
                </a:solidFill>
                <a:latin typeface="Poppins" pitchFamily="34" charset="0"/>
                <a:ea typeface="Poppins" pitchFamily="34" charset="-122"/>
                <a:cs typeface="Poppins" pitchFamily="34" charset="-120"/>
              </a:rPr>
              <a:t>Kein Zugang zur Leitstelle bei Nacht</a:t>
            </a:r>
            <a:endParaRPr lang="en-US" sz="1400" dirty="0"/>
          </a:p>
        </p:txBody>
      </p:sp>
      <p:sp>
        <p:nvSpPr>
          <p:cNvPr id="12" name="Shape 10"/>
          <p:cNvSpPr/>
          <p:nvPr/>
        </p:nvSpPr>
        <p:spPr>
          <a:xfrm>
            <a:off x="1005840" y="3815588"/>
            <a:ext cx="91440" cy="91440"/>
          </a:xfrm>
          <a:prstGeom prst="ellipse">
            <a:avLst/>
          </a:prstGeom>
          <a:solidFill>
            <a:srgbClr val="EB5A1B"/>
          </a:solidFill>
          <a:ln w="12700">
            <a:solidFill>
              <a:srgbClr val="EB5A1B"/>
            </a:solidFill>
            <a:prstDash val="solid"/>
          </a:ln>
        </p:spPr>
      </p:sp>
      <p:sp>
        <p:nvSpPr>
          <p:cNvPr id="13" name="Text 11"/>
          <p:cNvSpPr txBox="1"/>
          <p:nvPr/>
        </p:nvSpPr>
        <p:spPr>
          <a:xfrm>
            <a:off x="1234440" y="3736848"/>
            <a:ext cx="4434840" cy="285496"/>
          </a:xfrm>
          <a:prstGeom prst="rect">
            <a:avLst/>
          </a:prstGeom>
          <a:noFill/>
          <a:ln/>
        </p:spPr>
        <p:txBody>
          <a:bodyPr wrap="square" lIns="0" tIns="0" rIns="0" bIns="0" rtlCol="0" anchor="t"/>
          <a:lstStyle/>
          <a:p>
            <a:pPr indent="0" marL="0">
              <a:buNone/>
            </a:pPr>
            <a:r>
              <a:rPr lang="en-US" sz="1400" dirty="0">
                <a:solidFill>
                  <a:srgbClr val="222222"/>
                </a:solidFill>
                <a:latin typeface="Poppins" pitchFamily="34" charset="0"/>
                <a:ea typeface="Poppins" pitchFamily="34" charset="-122"/>
                <a:cs typeface="Poppins" pitchFamily="34" charset="-120"/>
              </a:rPr>
              <a:t>Muss Abläufe und Menschen erst kennenlernen</a:t>
            </a:r>
            <a:endParaRPr lang="en-US" sz="1400" dirty="0"/>
          </a:p>
        </p:txBody>
      </p:sp>
      <p:sp>
        <p:nvSpPr>
          <p:cNvPr id="14" name="Shape 12"/>
          <p:cNvSpPr/>
          <p:nvPr/>
        </p:nvSpPr>
        <p:spPr>
          <a:xfrm>
            <a:off x="1005840" y="4210812"/>
            <a:ext cx="91440" cy="91440"/>
          </a:xfrm>
          <a:prstGeom prst="ellipse">
            <a:avLst/>
          </a:prstGeom>
          <a:solidFill>
            <a:srgbClr val="EB5A1B"/>
          </a:solidFill>
          <a:ln w="12700">
            <a:solidFill>
              <a:srgbClr val="EB5A1B"/>
            </a:solidFill>
            <a:prstDash val="solid"/>
          </a:ln>
        </p:spPr>
      </p:sp>
      <p:sp>
        <p:nvSpPr>
          <p:cNvPr id="15" name="Text 13"/>
          <p:cNvSpPr txBox="1"/>
          <p:nvPr/>
        </p:nvSpPr>
        <p:spPr>
          <a:xfrm>
            <a:off x="1234440" y="4132072"/>
            <a:ext cx="4434840" cy="285496"/>
          </a:xfrm>
          <a:prstGeom prst="rect">
            <a:avLst/>
          </a:prstGeom>
          <a:noFill/>
          <a:ln/>
        </p:spPr>
        <p:txBody>
          <a:bodyPr wrap="square" lIns="0" tIns="0" rIns="0" bIns="0" rtlCol="0" anchor="t"/>
          <a:lstStyle/>
          <a:p>
            <a:pPr indent="0" marL="0">
              <a:buNone/>
            </a:pPr>
            <a:r>
              <a:rPr lang="en-US" sz="1400" dirty="0">
                <a:solidFill>
                  <a:srgbClr val="222222"/>
                </a:solidFill>
                <a:latin typeface="Poppins" pitchFamily="34" charset="0"/>
                <a:ea typeface="Poppins" pitchFamily="34" charset="-122"/>
                <a:cs typeface="Poppins" pitchFamily="34" charset="-120"/>
              </a:rPr>
              <a:t>Braucht trotzdem eine interne Ansprechperson</a:t>
            </a:r>
            <a:endParaRPr lang="en-US" sz="1400" dirty="0"/>
          </a:p>
        </p:txBody>
      </p:sp>
      <p:sp>
        <p:nvSpPr>
          <p:cNvPr id="16" name="Text 14"/>
          <p:cNvSpPr txBox="1"/>
          <p:nvPr/>
        </p:nvSpPr>
        <p:spPr>
          <a:xfrm>
            <a:off x="6537960" y="2057400"/>
            <a:ext cx="4572000" cy="411480"/>
          </a:xfrm>
          <a:prstGeom prst="rect">
            <a:avLst/>
          </a:prstGeom>
          <a:noFill/>
          <a:ln/>
        </p:spPr>
        <p:txBody>
          <a:bodyPr wrap="square" lIns="0" tIns="0" rIns="0" bIns="0" rtlCol="0" anchor="t"/>
          <a:lstStyle/>
          <a:p>
            <a:pPr indent="0" marL="0">
              <a:buNone/>
            </a:pPr>
            <a:r>
              <a:rPr lang="en-US" sz="2000" dirty="0">
                <a:solidFill>
                  <a:srgbClr val="EB5A1B"/>
                </a:solidFill>
                <a:latin typeface="Poppins ExtraBold" pitchFamily="34" charset="0"/>
                <a:ea typeface="Poppins ExtraBold" pitchFamily="34" charset="-122"/>
                <a:cs typeface="Poppins ExtraBold" pitchFamily="34" charset="-120"/>
              </a:rPr>
              <a:t>Intern</a:t>
            </a:r>
            <a:endParaRPr lang="en-US" sz="2000" dirty="0"/>
          </a:p>
        </p:txBody>
      </p:sp>
      <p:sp>
        <p:nvSpPr>
          <p:cNvPr id="17" name="Shape 15"/>
          <p:cNvSpPr/>
          <p:nvPr/>
        </p:nvSpPr>
        <p:spPr>
          <a:xfrm>
            <a:off x="6537960" y="2776220"/>
            <a:ext cx="91440" cy="91440"/>
          </a:xfrm>
          <a:prstGeom prst="ellipse">
            <a:avLst/>
          </a:prstGeom>
          <a:solidFill>
            <a:srgbClr val="EB5A1B"/>
          </a:solidFill>
          <a:ln w="12700">
            <a:solidFill>
              <a:srgbClr val="EB5A1B"/>
            </a:solidFill>
            <a:prstDash val="solid"/>
          </a:ln>
        </p:spPr>
      </p:sp>
      <p:sp>
        <p:nvSpPr>
          <p:cNvPr id="18" name="Text 16"/>
          <p:cNvSpPr txBox="1"/>
          <p:nvPr/>
        </p:nvSpPr>
        <p:spPr>
          <a:xfrm>
            <a:off x="6766560" y="2697480"/>
            <a:ext cx="4434840" cy="285496"/>
          </a:xfrm>
          <a:prstGeom prst="rect">
            <a:avLst/>
          </a:prstGeom>
          <a:noFill/>
          <a:ln/>
        </p:spPr>
        <p:txBody>
          <a:bodyPr wrap="square" lIns="0" tIns="0" rIns="0" bIns="0" rtlCol="0" anchor="t"/>
          <a:lstStyle/>
          <a:p>
            <a:pPr indent="0" marL="0">
              <a:buNone/>
            </a:pPr>
            <a:r>
              <a:rPr lang="en-US" sz="1400" dirty="0">
                <a:solidFill>
                  <a:srgbClr val="FFFFFF"/>
                </a:solidFill>
                <a:latin typeface="Poppins" pitchFamily="34" charset="0"/>
                <a:ea typeface="Poppins" pitchFamily="34" charset="-122"/>
                <a:cs typeface="Poppins" pitchFamily="34" charset="-120"/>
              </a:rPr>
              <a:t>Täglich vor Ort, spontane Momente inklusive</a:t>
            </a:r>
            <a:endParaRPr lang="en-US" sz="1400" dirty="0"/>
          </a:p>
        </p:txBody>
      </p:sp>
      <p:sp>
        <p:nvSpPr>
          <p:cNvPr id="19" name="Shape 17"/>
          <p:cNvSpPr/>
          <p:nvPr/>
        </p:nvSpPr>
        <p:spPr>
          <a:xfrm>
            <a:off x="6537960" y="3171444"/>
            <a:ext cx="91440" cy="91440"/>
          </a:xfrm>
          <a:prstGeom prst="ellipse">
            <a:avLst/>
          </a:prstGeom>
          <a:solidFill>
            <a:srgbClr val="EB5A1B"/>
          </a:solidFill>
          <a:ln w="12700">
            <a:solidFill>
              <a:srgbClr val="EB5A1B"/>
            </a:solidFill>
            <a:prstDash val="solid"/>
          </a:ln>
        </p:spPr>
      </p:sp>
      <p:sp>
        <p:nvSpPr>
          <p:cNvPr id="20" name="Text 18"/>
          <p:cNvSpPr txBox="1"/>
          <p:nvPr/>
        </p:nvSpPr>
        <p:spPr>
          <a:xfrm>
            <a:off x="6766560" y="3092704"/>
            <a:ext cx="4434840" cy="285496"/>
          </a:xfrm>
          <a:prstGeom prst="rect">
            <a:avLst/>
          </a:prstGeom>
          <a:noFill/>
          <a:ln/>
        </p:spPr>
        <p:txBody>
          <a:bodyPr wrap="square" lIns="0" tIns="0" rIns="0" bIns="0" rtlCol="0" anchor="t"/>
          <a:lstStyle/>
          <a:p>
            <a:pPr indent="0" marL="0">
              <a:buNone/>
            </a:pPr>
            <a:r>
              <a:rPr lang="en-US" sz="1400" dirty="0">
                <a:solidFill>
                  <a:srgbClr val="FFFFFF"/>
                </a:solidFill>
                <a:latin typeface="Poppins" pitchFamily="34" charset="0"/>
                <a:ea typeface="Poppins" pitchFamily="34" charset="-122"/>
                <a:cs typeface="Poppins" pitchFamily="34" charset="-120"/>
              </a:rPr>
              <a:t>Content aus erster Hand: die Nachtschicht</a:t>
            </a:r>
            <a:endParaRPr lang="en-US" sz="1400" dirty="0"/>
          </a:p>
        </p:txBody>
      </p:sp>
      <p:sp>
        <p:nvSpPr>
          <p:cNvPr id="21" name="Shape 19"/>
          <p:cNvSpPr/>
          <p:nvPr/>
        </p:nvSpPr>
        <p:spPr>
          <a:xfrm>
            <a:off x="6537960" y="3566668"/>
            <a:ext cx="91440" cy="91440"/>
          </a:xfrm>
          <a:prstGeom prst="ellipse">
            <a:avLst/>
          </a:prstGeom>
          <a:solidFill>
            <a:srgbClr val="EB5A1B"/>
          </a:solidFill>
          <a:ln w="12700">
            <a:solidFill>
              <a:srgbClr val="EB5A1B"/>
            </a:solidFill>
            <a:prstDash val="solid"/>
          </a:ln>
        </p:spPr>
      </p:sp>
      <p:sp>
        <p:nvSpPr>
          <p:cNvPr id="22" name="Text 20"/>
          <p:cNvSpPr txBox="1"/>
          <p:nvPr/>
        </p:nvSpPr>
        <p:spPr>
          <a:xfrm>
            <a:off x="6766560" y="3487928"/>
            <a:ext cx="4434840" cy="285496"/>
          </a:xfrm>
          <a:prstGeom prst="rect">
            <a:avLst/>
          </a:prstGeom>
          <a:noFill/>
          <a:ln/>
        </p:spPr>
        <p:txBody>
          <a:bodyPr wrap="square" lIns="0" tIns="0" rIns="0" bIns="0" rtlCol="0" anchor="t"/>
          <a:lstStyle/>
          <a:p>
            <a:pPr indent="0" marL="0">
              <a:buNone/>
            </a:pPr>
            <a:r>
              <a:rPr lang="en-US" sz="1400" dirty="0">
                <a:solidFill>
                  <a:srgbClr val="FFFFFF"/>
                </a:solidFill>
                <a:latin typeface="Poppins" pitchFamily="34" charset="0"/>
                <a:ea typeface="Poppins" pitchFamily="34" charset="-122"/>
                <a:cs typeface="Poppins" pitchFamily="34" charset="-120"/>
              </a:rPr>
              <a:t>Kennt Team, Technik und Abläufe</a:t>
            </a:r>
            <a:endParaRPr lang="en-US" sz="1400" dirty="0"/>
          </a:p>
        </p:txBody>
      </p:sp>
      <p:sp>
        <p:nvSpPr>
          <p:cNvPr id="23" name="Shape 21"/>
          <p:cNvSpPr/>
          <p:nvPr/>
        </p:nvSpPr>
        <p:spPr>
          <a:xfrm>
            <a:off x="6537960" y="3961892"/>
            <a:ext cx="91440" cy="91440"/>
          </a:xfrm>
          <a:prstGeom prst="ellipse">
            <a:avLst/>
          </a:prstGeom>
          <a:solidFill>
            <a:srgbClr val="EB5A1B"/>
          </a:solidFill>
          <a:ln w="12700">
            <a:solidFill>
              <a:srgbClr val="EB5A1B"/>
            </a:solidFill>
            <a:prstDash val="solid"/>
          </a:ln>
        </p:spPr>
      </p:sp>
      <p:sp>
        <p:nvSpPr>
          <p:cNvPr id="24" name="Text 22"/>
          <p:cNvSpPr txBox="1"/>
          <p:nvPr/>
        </p:nvSpPr>
        <p:spPr>
          <a:xfrm>
            <a:off x="6766560" y="3883152"/>
            <a:ext cx="4434840" cy="285496"/>
          </a:xfrm>
          <a:prstGeom prst="rect">
            <a:avLst/>
          </a:prstGeom>
          <a:noFill/>
          <a:ln/>
        </p:spPr>
        <p:txBody>
          <a:bodyPr wrap="square" lIns="0" tIns="0" rIns="0" bIns="0" rtlCol="0" anchor="t"/>
          <a:lstStyle/>
          <a:p>
            <a:pPr indent="0" marL="0">
              <a:buNone/>
            </a:pPr>
            <a:r>
              <a:rPr lang="en-US" sz="1400" dirty="0">
                <a:solidFill>
                  <a:srgbClr val="FFFFFF"/>
                </a:solidFill>
                <a:latin typeface="Poppins" pitchFamily="34" charset="0"/>
                <a:ea typeface="Poppins" pitchFamily="34" charset="-122"/>
                <a:cs typeface="Poppins" pitchFamily="34" charset="-120"/>
              </a:rPr>
              <a:t>Diskretion ist gelebter Alltag</a:t>
            </a:r>
            <a:endParaRPr lang="en-US" sz="1400" dirty="0"/>
          </a:p>
        </p:txBody>
      </p:sp>
      <p:pic>
        <p:nvPicPr>
          <p:cNvPr id="25" name="Image 0" descr="/home/user/Marlene/poleschak-social-media/assets/logo-transparent.png">    </p:cNvPr>
          <p:cNvPicPr>
            <a:picLocks noChangeAspect="1"/>
          </p:cNvPicPr>
          <p:nvPr/>
        </p:nvPicPr>
        <p:blipFill>
          <a:blip r:embed="rId1"/>
          <a:stretch>
            <a:fillRect/>
          </a:stretch>
        </p:blipFill>
        <p:spPr>
          <a:xfrm>
            <a:off x="685800" y="6291072"/>
            <a:ext cx="643680" cy="329184"/>
          </a:xfrm>
          <a:prstGeom prst="rect">
            <a:avLst/>
          </a:prstGeom>
        </p:spPr>
      </p:pic>
      <p:sp>
        <p:nvSpPr>
          <p:cNvPr id="26" name="Text 23"/>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WARUM INTERN</a:t>
            </a:r>
            <a:endParaRPr lang="en-US" sz="1200" dirty="0"/>
          </a:p>
        </p:txBody>
      </p:sp>
      <p:sp>
        <p:nvSpPr>
          <p:cNvPr id="4" name="Text 2"/>
          <p:cNvSpPr txBox="1"/>
          <p:nvPr/>
        </p:nvSpPr>
        <p:spPr>
          <a:xfrm>
            <a:off x="685800" y="868680"/>
            <a:ext cx="6858000" cy="118872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Ich bin nachts wach.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Ich bin das Versprechen.</a:t>
            </a:r>
            <a:endParaRPr lang="en-US" sz="3400" dirty="0"/>
          </a:p>
        </p:txBody>
      </p:sp>
      <p:sp>
        <p:nvSpPr>
          <p:cNvPr id="5" name="Shape 3"/>
          <p:cNvSpPr/>
          <p:nvPr/>
        </p:nvSpPr>
        <p:spPr>
          <a:xfrm>
            <a:off x="7863840" y="914400"/>
            <a:ext cx="3657600" cy="4754880"/>
          </a:xfrm>
          <a:prstGeom prst="roundRect">
            <a:avLst>
              <a:gd name="adj" fmla="val 3000"/>
            </a:avLst>
          </a:prstGeom>
          <a:solidFill>
            <a:srgbClr val="222222"/>
          </a:solidFill>
          <a:ln w="12700">
            <a:solidFill>
              <a:srgbClr val="222222"/>
            </a:solidFill>
            <a:prstDash val="solid"/>
          </a:ln>
        </p:spPr>
      </p:sp>
      <p:pic>
        <p:nvPicPr>
          <p:cNvPr id="6" name="Image 0" descr="/tmp/claude-0/-home-user-Marlene/67342075-d45e-5dfd-8246-b97e829a8c42/scratchpad/deck/img/FaCamera-o.png">    </p:cNvPr>
          <p:cNvPicPr>
            <a:picLocks noChangeAspect="1"/>
          </p:cNvPicPr>
          <p:nvPr/>
        </p:nvPicPr>
        <p:blipFill>
          <a:blip r:embed="rId1"/>
          <a:stretch>
            <a:fillRect/>
          </a:stretch>
        </p:blipFill>
        <p:spPr>
          <a:xfrm>
            <a:off x="9372600" y="2651760"/>
            <a:ext cx="640080" cy="640080"/>
          </a:xfrm>
          <a:prstGeom prst="rect">
            <a:avLst/>
          </a:prstGeom>
        </p:spPr>
      </p:pic>
      <p:sp>
        <p:nvSpPr>
          <p:cNvPr id="7" name="Text 4"/>
          <p:cNvSpPr txBox="1"/>
          <p:nvPr/>
        </p:nvSpPr>
        <p:spPr>
          <a:xfrm>
            <a:off x="7863840" y="3429000"/>
            <a:ext cx="3657600" cy="365760"/>
          </a:xfrm>
          <a:prstGeom prst="rect">
            <a:avLst/>
          </a:prstGeom>
          <a:noFill/>
          <a:ln/>
        </p:spPr>
        <p:txBody>
          <a:bodyPr wrap="square" lIns="0" tIns="0" rIns="0" bIns="0" rtlCol="0" anchor="t"/>
          <a:lstStyle/>
          <a:p>
            <a:pPr algn="ctr" indent="0" marL="0">
              <a:buNone/>
            </a:pPr>
            <a:r>
              <a:rPr lang="en-US" sz="1300" dirty="0">
                <a:solidFill>
                  <a:srgbClr val="B4B5BB"/>
                </a:solidFill>
                <a:latin typeface="Poppins SemiBold" pitchFamily="34" charset="0"/>
                <a:ea typeface="Poppins SemiBold" pitchFamily="34" charset="-122"/>
                <a:cs typeface="Poppins SemiBold" pitchFamily="34" charset="-120"/>
              </a:rPr>
              <a:t>Foto von dir einsetzen</a:t>
            </a:r>
            <a:endParaRPr lang="en-US" sz="1300" dirty="0"/>
          </a:p>
        </p:txBody>
      </p:sp>
      <p:sp>
        <p:nvSpPr>
          <p:cNvPr id="8" name="Shape 5"/>
          <p:cNvSpPr/>
          <p:nvPr/>
        </p:nvSpPr>
        <p:spPr>
          <a:xfrm>
            <a:off x="685800" y="2331720"/>
            <a:ext cx="548640" cy="548640"/>
          </a:xfrm>
          <a:prstGeom prst="ellipse">
            <a:avLst/>
          </a:prstGeom>
          <a:solidFill>
            <a:srgbClr val="EB5A1B"/>
          </a:solidFill>
          <a:ln w="12700">
            <a:solidFill>
              <a:srgbClr val="EB5A1B"/>
            </a:solidFill>
            <a:prstDash val="solid"/>
          </a:ln>
        </p:spPr>
      </p:sp>
      <p:pic>
        <p:nvPicPr>
          <p:cNvPr id="9" name="Image 1" descr="/tmp/claude-0/-home-user-Marlene/67342075-d45e-5dfd-8246-b97e829a8c42/scratchpad/deck/img/FaHeadset-w.png">    </p:cNvPr>
          <p:cNvPicPr>
            <a:picLocks noChangeAspect="1"/>
          </p:cNvPicPr>
          <p:nvPr/>
        </p:nvPicPr>
        <p:blipFill>
          <a:blip r:embed="rId2"/>
          <a:stretch>
            <a:fillRect/>
          </a:stretch>
        </p:blipFill>
        <p:spPr>
          <a:xfrm>
            <a:off x="828446" y="2474366"/>
            <a:ext cx="263347" cy="263347"/>
          </a:xfrm>
          <a:prstGeom prst="rect">
            <a:avLst/>
          </a:prstGeom>
        </p:spPr>
      </p:pic>
      <p:sp>
        <p:nvSpPr>
          <p:cNvPr id="10" name="Text 6"/>
          <p:cNvSpPr txBox="1"/>
          <p:nvPr/>
        </p:nvSpPr>
        <p:spPr>
          <a:xfrm>
            <a:off x="1463040" y="2313432"/>
            <a:ext cx="6035040" cy="365760"/>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Ich arbeite im Nachtdienst der Leitstelle</a:t>
            </a:r>
            <a:endParaRPr lang="en-US" sz="1600" dirty="0"/>
          </a:p>
        </p:txBody>
      </p:sp>
      <p:sp>
        <p:nvSpPr>
          <p:cNvPr id="11" name="Text 7"/>
          <p:cNvSpPr txBox="1"/>
          <p:nvPr/>
        </p:nvSpPr>
        <p:spPr>
          <a:xfrm>
            <a:off x="1463040" y="2679192"/>
            <a:ext cx="6035040" cy="59436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Ich kenne die Abläufe, die Menschen und die Momente, die man zeigen kann und die man nicht zeigen darf.</a:t>
            </a:r>
            <a:endParaRPr lang="en-US" sz="1200" dirty="0"/>
          </a:p>
        </p:txBody>
      </p:sp>
      <p:sp>
        <p:nvSpPr>
          <p:cNvPr id="12" name="Shape 8"/>
          <p:cNvSpPr/>
          <p:nvPr/>
        </p:nvSpPr>
        <p:spPr>
          <a:xfrm>
            <a:off x="685800" y="3474720"/>
            <a:ext cx="548640" cy="548640"/>
          </a:xfrm>
          <a:prstGeom prst="ellipse">
            <a:avLst/>
          </a:prstGeom>
          <a:solidFill>
            <a:srgbClr val="EB5A1B"/>
          </a:solidFill>
          <a:ln w="12700">
            <a:solidFill>
              <a:srgbClr val="EB5A1B"/>
            </a:solidFill>
            <a:prstDash val="solid"/>
          </a:ln>
        </p:spPr>
      </p:sp>
      <p:pic>
        <p:nvPicPr>
          <p:cNvPr id="13" name="Image 2" descr="/tmp/claude-0/-home-user-Marlene/67342075-d45e-5dfd-8246-b97e829a8c42/scratchpad/deck/img/FaEyeSlash-w.png">    </p:cNvPr>
          <p:cNvPicPr>
            <a:picLocks noChangeAspect="1"/>
          </p:cNvPicPr>
          <p:nvPr/>
        </p:nvPicPr>
        <p:blipFill>
          <a:blip r:embed="rId3"/>
          <a:stretch>
            <a:fillRect/>
          </a:stretch>
        </p:blipFill>
        <p:spPr>
          <a:xfrm>
            <a:off x="828446" y="3617366"/>
            <a:ext cx="263347" cy="263347"/>
          </a:xfrm>
          <a:prstGeom prst="rect">
            <a:avLst/>
          </a:prstGeom>
        </p:spPr>
      </p:pic>
      <p:sp>
        <p:nvSpPr>
          <p:cNvPr id="14" name="Text 9"/>
          <p:cNvSpPr txBox="1"/>
          <p:nvPr/>
        </p:nvSpPr>
        <p:spPr>
          <a:xfrm>
            <a:off x="1463040" y="3456432"/>
            <a:ext cx="6035040" cy="365760"/>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Diskretion ist mein Alltag</a:t>
            </a:r>
            <a:endParaRPr lang="en-US" sz="1600" dirty="0"/>
          </a:p>
        </p:txBody>
      </p:sp>
      <p:sp>
        <p:nvSpPr>
          <p:cNvPr id="15" name="Text 10"/>
          <p:cNvSpPr txBox="1"/>
          <p:nvPr/>
        </p:nvSpPr>
        <p:spPr>
          <a:xfrm>
            <a:off x="1463040" y="3822192"/>
            <a:ext cx="6035040" cy="59436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Datenschutz und Sicherheit sind in unserem Geschäft nicht verhandelbar. Das bringe ich mit.</a:t>
            </a:r>
            <a:endParaRPr lang="en-US" sz="1200" dirty="0"/>
          </a:p>
        </p:txBody>
      </p:sp>
      <p:sp>
        <p:nvSpPr>
          <p:cNvPr id="16" name="Shape 11"/>
          <p:cNvSpPr/>
          <p:nvPr/>
        </p:nvSpPr>
        <p:spPr>
          <a:xfrm>
            <a:off x="685800" y="4617720"/>
            <a:ext cx="548640" cy="548640"/>
          </a:xfrm>
          <a:prstGeom prst="ellipse">
            <a:avLst/>
          </a:prstGeom>
          <a:solidFill>
            <a:srgbClr val="EB5A1B"/>
          </a:solidFill>
          <a:ln w="12700">
            <a:solidFill>
              <a:srgbClr val="EB5A1B"/>
            </a:solidFill>
            <a:prstDash val="solid"/>
          </a:ln>
        </p:spPr>
      </p:sp>
      <p:pic>
        <p:nvPicPr>
          <p:cNvPr id="17" name="Image 3" descr="/tmp/claude-0/-home-user-Marlene/67342075-d45e-5dfd-8246-b97e829a8c42/scratchpad/deck/img/FaUsers-w.png">    </p:cNvPr>
          <p:cNvPicPr>
            <a:picLocks noChangeAspect="1"/>
          </p:cNvPicPr>
          <p:nvPr/>
        </p:nvPicPr>
        <p:blipFill>
          <a:blip r:embed="rId4"/>
          <a:stretch>
            <a:fillRect/>
          </a:stretch>
        </p:blipFill>
        <p:spPr>
          <a:xfrm>
            <a:off x="828446" y="4760366"/>
            <a:ext cx="263347" cy="263347"/>
          </a:xfrm>
          <a:prstGeom prst="rect">
            <a:avLst/>
          </a:prstGeom>
        </p:spPr>
      </p:pic>
      <p:sp>
        <p:nvSpPr>
          <p:cNvPr id="18" name="Text 12"/>
          <p:cNvSpPr txBox="1"/>
          <p:nvPr/>
        </p:nvSpPr>
        <p:spPr>
          <a:xfrm>
            <a:off x="1463040" y="4599432"/>
            <a:ext cx="6035040" cy="365760"/>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Ich bin mittendrin</a:t>
            </a:r>
            <a:endParaRPr lang="en-US" sz="1600" dirty="0"/>
          </a:p>
        </p:txBody>
      </p:sp>
      <p:sp>
        <p:nvSpPr>
          <p:cNvPr id="19" name="Text 13"/>
          <p:cNvSpPr txBox="1"/>
          <p:nvPr/>
        </p:nvSpPr>
        <p:spPr>
          <a:xfrm>
            <a:off x="1463040" y="4965192"/>
            <a:ext cx="6035040" cy="59436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Nah an Team, Azubis und Technik. Kein Briefing, keine Anfahrt, keine Drehtag-Pauschale.</a:t>
            </a:r>
            <a:endParaRPr lang="en-US" sz="1200" dirty="0"/>
          </a:p>
        </p:txBody>
      </p:sp>
      <p:pic>
        <p:nvPicPr>
          <p:cNvPr id="20" name="Image 4" descr="/home/user/Marlene/poleschak-social-media/assets/logo-negativ.png">    </p:cNvPr>
          <p:cNvPicPr>
            <a:picLocks noChangeAspect="1"/>
          </p:cNvPicPr>
          <p:nvPr/>
        </p:nvPicPr>
        <p:blipFill>
          <a:blip r:embed="rId5"/>
          <a:stretch>
            <a:fillRect/>
          </a:stretch>
        </p:blipFill>
        <p:spPr>
          <a:xfrm>
            <a:off x="685800" y="6291072"/>
            <a:ext cx="643680" cy="329184"/>
          </a:xfrm>
          <a:prstGeom prst="rect">
            <a:avLst/>
          </a:prstGeom>
        </p:spPr>
      </p:pic>
      <p:sp>
        <p:nvSpPr>
          <p:cNvPr id="21" name="Text 14"/>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VORAUSSETZUNGEN &amp; SPIELREGELN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Was es braucht, damit es funktioniert.</a:t>
            </a:r>
            <a:endParaRPr lang="en-US" sz="3400" dirty="0"/>
          </a:p>
        </p:txBody>
      </p:sp>
      <p:sp>
        <p:nvSpPr>
          <p:cNvPr id="5" name="Shape 3"/>
          <p:cNvSpPr/>
          <p:nvPr/>
        </p:nvSpPr>
        <p:spPr>
          <a:xfrm>
            <a:off x="685800" y="1874520"/>
            <a:ext cx="502920" cy="502920"/>
          </a:xfrm>
          <a:prstGeom prst="ellipse">
            <a:avLst/>
          </a:prstGeom>
          <a:solidFill>
            <a:srgbClr val="EB5A1B"/>
          </a:solidFill>
          <a:ln w="12700">
            <a:solidFill>
              <a:srgbClr val="EB5A1B"/>
            </a:solidFill>
            <a:prstDash val="solid"/>
          </a:ln>
        </p:spPr>
      </p:sp>
      <p:pic>
        <p:nvPicPr>
          <p:cNvPr id="6" name="Image 0" descr="/tmp/claude-0/-home-user-Marlene/67342075-d45e-5dfd-8246-b97e829a8c42/scratchpad/deck/img/FaKey-w.png">    </p:cNvPr>
          <p:cNvPicPr>
            <a:picLocks noChangeAspect="1"/>
          </p:cNvPicPr>
          <p:nvPr/>
        </p:nvPicPr>
        <p:blipFill>
          <a:blip r:embed="rId1"/>
          <a:stretch>
            <a:fillRect/>
          </a:stretch>
        </p:blipFill>
        <p:spPr>
          <a:xfrm>
            <a:off x="816559" y="2005279"/>
            <a:ext cx="241402" cy="241402"/>
          </a:xfrm>
          <a:prstGeom prst="rect">
            <a:avLst/>
          </a:prstGeom>
        </p:spPr>
      </p:pic>
      <p:sp>
        <p:nvSpPr>
          <p:cNvPr id="7" name="Text 4"/>
          <p:cNvSpPr txBox="1"/>
          <p:nvPr/>
        </p:nvSpPr>
        <p:spPr>
          <a:xfrm>
            <a:off x="1371600" y="1856232"/>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Admin-Zugang</a:t>
            </a:r>
            <a:endParaRPr lang="en-US" sz="1500" dirty="0"/>
          </a:p>
        </p:txBody>
      </p:sp>
      <p:sp>
        <p:nvSpPr>
          <p:cNvPr id="8" name="Text 5"/>
          <p:cNvSpPr txBox="1"/>
          <p:nvPr/>
        </p:nvSpPr>
        <p:spPr>
          <a:xfrm>
            <a:off x="1371600" y="2176272"/>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Instagram, Facebook, Meta Business Suite + Werbekonto</a:t>
            </a:r>
            <a:endParaRPr lang="en-US" sz="1200" dirty="0"/>
          </a:p>
        </p:txBody>
      </p:sp>
      <p:sp>
        <p:nvSpPr>
          <p:cNvPr id="9" name="Shape 6"/>
          <p:cNvSpPr/>
          <p:nvPr/>
        </p:nvSpPr>
        <p:spPr>
          <a:xfrm>
            <a:off x="685800" y="2862072"/>
            <a:ext cx="502920" cy="502920"/>
          </a:xfrm>
          <a:prstGeom prst="ellipse">
            <a:avLst/>
          </a:prstGeom>
          <a:solidFill>
            <a:srgbClr val="EB5A1B"/>
          </a:solidFill>
          <a:ln w="12700">
            <a:solidFill>
              <a:srgbClr val="EB5A1B"/>
            </a:solidFill>
            <a:prstDash val="solid"/>
          </a:ln>
        </p:spPr>
      </p:sp>
      <p:pic>
        <p:nvPicPr>
          <p:cNvPr id="10" name="Image 1" descr="/tmp/claude-0/-home-user-Marlene/67342075-d45e-5dfd-8246-b97e829a8c42/scratchpad/deck/img/FaHandshake-w.png">    </p:cNvPr>
          <p:cNvPicPr>
            <a:picLocks noChangeAspect="1"/>
          </p:cNvPicPr>
          <p:nvPr/>
        </p:nvPicPr>
        <p:blipFill>
          <a:blip r:embed="rId2"/>
          <a:stretch>
            <a:fillRect/>
          </a:stretch>
        </p:blipFill>
        <p:spPr>
          <a:xfrm>
            <a:off x="816559" y="2992831"/>
            <a:ext cx="241402" cy="241402"/>
          </a:xfrm>
          <a:prstGeom prst="rect">
            <a:avLst/>
          </a:prstGeom>
        </p:spPr>
      </p:pic>
      <p:sp>
        <p:nvSpPr>
          <p:cNvPr id="11" name="Text 7"/>
          <p:cNvSpPr txBox="1"/>
          <p:nvPr/>
        </p:nvSpPr>
        <p:spPr>
          <a:xfrm>
            <a:off x="1371600" y="2843784"/>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Freigabe in 24 h</a:t>
            </a:r>
            <a:endParaRPr lang="en-US" sz="1500" dirty="0"/>
          </a:p>
        </p:txBody>
      </p:sp>
      <p:sp>
        <p:nvSpPr>
          <p:cNvPr id="12" name="Text 8"/>
          <p:cNvSpPr txBox="1"/>
          <p:nvPr/>
        </p:nvSpPr>
        <p:spPr>
          <a:xfrm>
            <a:off x="1371600" y="3163824"/>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Wochenplan montags, eine feste Ansprechperson</a:t>
            </a:r>
            <a:endParaRPr lang="en-US" sz="1200" dirty="0"/>
          </a:p>
        </p:txBody>
      </p:sp>
      <p:sp>
        <p:nvSpPr>
          <p:cNvPr id="13" name="Shape 9"/>
          <p:cNvSpPr/>
          <p:nvPr/>
        </p:nvSpPr>
        <p:spPr>
          <a:xfrm>
            <a:off x="685800" y="3849624"/>
            <a:ext cx="502920" cy="502920"/>
          </a:xfrm>
          <a:prstGeom prst="ellipse">
            <a:avLst/>
          </a:prstGeom>
          <a:solidFill>
            <a:srgbClr val="EB5A1B"/>
          </a:solidFill>
          <a:ln w="12700">
            <a:solidFill>
              <a:srgbClr val="EB5A1B"/>
            </a:solidFill>
            <a:prstDash val="solid"/>
          </a:ln>
        </p:spPr>
      </p:sp>
      <p:pic>
        <p:nvPicPr>
          <p:cNvPr id="14" name="Image 2" descr="/tmp/claude-0/-home-user-Marlene/67342075-d45e-5dfd-8246-b97e829a8c42/scratchpad/deck/img/FaCamera-w.png">    </p:cNvPr>
          <p:cNvPicPr>
            <a:picLocks noChangeAspect="1"/>
          </p:cNvPicPr>
          <p:nvPr/>
        </p:nvPicPr>
        <p:blipFill>
          <a:blip r:embed="rId3"/>
          <a:stretch>
            <a:fillRect/>
          </a:stretch>
        </p:blipFill>
        <p:spPr>
          <a:xfrm>
            <a:off x="816559" y="3980383"/>
            <a:ext cx="241402" cy="241402"/>
          </a:xfrm>
          <a:prstGeom prst="rect">
            <a:avLst/>
          </a:prstGeom>
        </p:spPr>
      </p:pic>
      <p:sp>
        <p:nvSpPr>
          <p:cNvPr id="15" name="Text 10"/>
          <p:cNvSpPr txBox="1"/>
          <p:nvPr/>
        </p:nvSpPr>
        <p:spPr>
          <a:xfrm>
            <a:off x="1371600" y="3831336"/>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Foto-Einwilligungen</a:t>
            </a:r>
            <a:endParaRPr lang="en-US" sz="1500" dirty="0"/>
          </a:p>
        </p:txBody>
      </p:sp>
      <p:sp>
        <p:nvSpPr>
          <p:cNvPr id="16" name="Text 11"/>
          <p:cNvSpPr txBox="1"/>
          <p:nvPr/>
        </p:nvSpPr>
        <p:spPr>
          <a:xfrm>
            <a:off x="1371600" y="4151376"/>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schriftlich, freiwillig, jederzeit widerrufbar (Vorlage fertig)</a:t>
            </a:r>
            <a:endParaRPr lang="en-US" sz="1200" dirty="0"/>
          </a:p>
        </p:txBody>
      </p:sp>
      <p:sp>
        <p:nvSpPr>
          <p:cNvPr id="17" name="Shape 12"/>
          <p:cNvSpPr/>
          <p:nvPr/>
        </p:nvSpPr>
        <p:spPr>
          <a:xfrm>
            <a:off x="685800" y="4837176"/>
            <a:ext cx="502920" cy="502920"/>
          </a:xfrm>
          <a:prstGeom prst="ellipse">
            <a:avLst/>
          </a:prstGeom>
          <a:solidFill>
            <a:srgbClr val="EB5A1B"/>
          </a:solidFill>
          <a:ln w="12700">
            <a:solidFill>
              <a:srgbClr val="EB5A1B"/>
            </a:solidFill>
            <a:prstDash val="solid"/>
          </a:ln>
        </p:spPr>
      </p:sp>
      <p:pic>
        <p:nvPicPr>
          <p:cNvPr id="18" name="Image 3" descr="/tmp/claude-0/-home-user-Marlene/67342075-d45e-5dfd-8246-b97e829a8c42/scratchpad/deck/img/FaClock-w.png">    </p:cNvPr>
          <p:cNvPicPr>
            <a:picLocks noChangeAspect="1"/>
          </p:cNvPicPr>
          <p:nvPr/>
        </p:nvPicPr>
        <p:blipFill>
          <a:blip r:embed="rId4"/>
          <a:stretch>
            <a:fillRect/>
          </a:stretch>
        </p:blipFill>
        <p:spPr>
          <a:xfrm>
            <a:off x="816559" y="4967935"/>
            <a:ext cx="241402" cy="241402"/>
          </a:xfrm>
          <a:prstGeom prst="rect">
            <a:avLst/>
          </a:prstGeom>
        </p:spPr>
      </p:pic>
      <p:sp>
        <p:nvSpPr>
          <p:cNvPr id="19" name="Text 13"/>
          <p:cNvSpPr txBox="1"/>
          <p:nvPr/>
        </p:nvSpPr>
        <p:spPr>
          <a:xfrm>
            <a:off x="1371600" y="4818888"/>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Arbeitszeit getrennt</a:t>
            </a:r>
            <a:endParaRPr lang="en-US" sz="1500" dirty="0"/>
          </a:p>
        </p:txBody>
      </p:sp>
      <p:sp>
        <p:nvSpPr>
          <p:cNvPr id="20" name="Text 14"/>
          <p:cNvSpPr txBox="1"/>
          <p:nvPr/>
        </p:nvSpPr>
        <p:spPr>
          <a:xfrm>
            <a:off x="1371600" y="5138928"/>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Social Media in eigener Arbeitszeit, nie während der Schicht</a:t>
            </a:r>
            <a:endParaRPr lang="en-US" sz="1200" dirty="0"/>
          </a:p>
        </p:txBody>
      </p:sp>
      <p:sp>
        <p:nvSpPr>
          <p:cNvPr id="21" name="Shape 15"/>
          <p:cNvSpPr/>
          <p:nvPr/>
        </p:nvSpPr>
        <p:spPr>
          <a:xfrm>
            <a:off x="6263640" y="1874520"/>
            <a:ext cx="502920" cy="502920"/>
          </a:xfrm>
          <a:prstGeom prst="ellipse">
            <a:avLst/>
          </a:prstGeom>
          <a:solidFill>
            <a:srgbClr val="EB5A1B"/>
          </a:solidFill>
          <a:ln w="12700">
            <a:solidFill>
              <a:srgbClr val="EB5A1B"/>
            </a:solidFill>
            <a:prstDash val="solid"/>
          </a:ln>
        </p:spPr>
      </p:sp>
      <p:pic>
        <p:nvPicPr>
          <p:cNvPr id="22" name="Image 4" descr="/tmp/claude-0/-home-user-Marlene/67342075-d45e-5dfd-8246-b97e829a8c42/scratchpad/deck/img/FaEyeSlash-w.png">    </p:cNvPr>
          <p:cNvPicPr>
            <a:picLocks noChangeAspect="1"/>
          </p:cNvPicPr>
          <p:nvPr/>
        </p:nvPicPr>
        <p:blipFill>
          <a:blip r:embed="rId5"/>
          <a:stretch>
            <a:fillRect/>
          </a:stretch>
        </p:blipFill>
        <p:spPr>
          <a:xfrm>
            <a:off x="6394399" y="2005279"/>
            <a:ext cx="241402" cy="241402"/>
          </a:xfrm>
          <a:prstGeom prst="rect">
            <a:avLst/>
          </a:prstGeom>
        </p:spPr>
      </p:pic>
      <p:sp>
        <p:nvSpPr>
          <p:cNvPr id="23" name="Text 16"/>
          <p:cNvSpPr txBox="1"/>
          <p:nvPr/>
        </p:nvSpPr>
        <p:spPr>
          <a:xfrm>
            <a:off x="6949440" y="1856232"/>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Diskretionsregel</a:t>
            </a:r>
            <a:endParaRPr lang="en-US" sz="1500" dirty="0"/>
          </a:p>
        </p:txBody>
      </p:sp>
      <p:sp>
        <p:nvSpPr>
          <p:cNvPr id="24" name="Text 17"/>
          <p:cNvSpPr txBox="1"/>
          <p:nvPr/>
        </p:nvSpPr>
        <p:spPr>
          <a:xfrm>
            <a:off x="6949440" y="2176272"/>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„Könnte ein Einbrecher aus dem Bild etwas lernen?“ Dann nicht.</a:t>
            </a:r>
            <a:endParaRPr lang="en-US" sz="1200" dirty="0"/>
          </a:p>
        </p:txBody>
      </p:sp>
      <p:sp>
        <p:nvSpPr>
          <p:cNvPr id="25" name="Shape 18"/>
          <p:cNvSpPr/>
          <p:nvPr/>
        </p:nvSpPr>
        <p:spPr>
          <a:xfrm>
            <a:off x="6263640" y="2862072"/>
            <a:ext cx="502920" cy="502920"/>
          </a:xfrm>
          <a:prstGeom prst="ellipse">
            <a:avLst/>
          </a:prstGeom>
          <a:solidFill>
            <a:srgbClr val="EB5A1B"/>
          </a:solidFill>
          <a:ln w="12700">
            <a:solidFill>
              <a:srgbClr val="EB5A1B"/>
            </a:solidFill>
            <a:prstDash val="solid"/>
          </a:ln>
        </p:spPr>
      </p:sp>
      <p:pic>
        <p:nvPicPr>
          <p:cNvPr id="26" name="Image 5" descr="/tmp/claude-0/-home-user-Marlene/67342075-d45e-5dfd-8246-b97e829a8c42/scratchpad/deck/img/FaStar-w.png">    </p:cNvPr>
          <p:cNvPicPr>
            <a:picLocks noChangeAspect="1"/>
          </p:cNvPicPr>
          <p:nvPr/>
        </p:nvPicPr>
        <p:blipFill>
          <a:blip r:embed="rId6"/>
          <a:stretch>
            <a:fillRect/>
          </a:stretch>
        </p:blipFill>
        <p:spPr>
          <a:xfrm>
            <a:off x="6394399" y="2992831"/>
            <a:ext cx="241402" cy="241402"/>
          </a:xfrm>
          <a:prstGeom prst="rect">
            <a:avLst/>
          </a:prstGeom>
        </p:spPr>
      </p:pic>
      <p:sp>
        <p:nvSpPr>
          <p:cNvPr id="27" name="Text 19"/>
          <p:cNvSpPr txBox="1"/>
          <p:nvPr/>
        </p:nvSpPr>
        <p:spPr>
          <a:xfrm>
            <a:off x="6949440" y="2843784"/>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QR-Karten für Google</a:t>
            </a:r>
            <a:endParaRPr lang="en-US" sz="1500" dirty="0"/>
          </a:p>
        </p:txBody>
      </p:sp>
      <p:sp>
        <p:nvSpPr>
          <p:cNvPr id="28" name="Text 20"/>
          <p:cNvSpPr txBox="1"/>
          <p:nvPr/>
        </p:nvSpPr>
        <p:spPr>
          <a:xfrm>
            <a:off x="6949440" y="3163824"/>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Techniker geben sie nach dem Auftrag ab (Firmenprozess)</a:t>
            </a:r>
            <a:endParaRPr lang="en-US" sz="1200" dirty="0"/>
          </a:p>
        </p:txBody>
      </p:sp>
      <p:sp>
        <p:nvSpPr>
          <p:cNvPr id="29" name="Shape 21"/>
          <p:cNvSpPr/>
          <p:nvPr/>
        </p:nvSpPr>
        <p:spPr>
          <a:xfrm>
            <a:off x="6263640" y="3849624"/>
            <a:ext cx="502920" cy="502920"/>
          </a:xfrm>
          <a:prstGeom prst="ellipse">
            <a:avLst/>
          </a:prstGeom>
          <a:solidFill>
            <a:srgbClr val="EB5A1B"/>
          </a:solidFill>
          <a:ln w="12700">
            <a:solidFill>
              <a:srgbClr val="EB5A1B"/>
            </a:solidFill>
            <a:prstDash val="solid"/>
          </a:ln>
        </p:spPr>
      </p:sp>
      <p:pic>
        <p:nvPicPr>
          <p:cNvPr id="30" name="Image 6" descr="/tmp/claude-0/-home-user-Marlene/67342075-d45e-5dfd-8246-b97e829a8c42/scratchpad/deck/img/FaMagnifyingGlass-w.png">    </p:cNvPr>
          <p:cNvPicPr>
            <a:picLocks noChangeAspect="1"/>
          </p:cNvPicPr>
          <p:nvPr/>
        </p:nvPicPr>
        <p:blipFill>
          <a:blip r:embed="rId7"/>
          <a:stretch>
            <a:fillRect/>
          </a:stretch>
        </p:blipFill>
        <p:spPr>
          <a:xfrm>
            <a:off x="6394399" y="3980383"/>
            <a:ext cx="241402" cy="241402"/>
          </a:xfrm>
          <a:prstGeom prst="rect">
            <a:avLst/>
          </a:prstGeom>
        </p:spPr>
      </p:pic>
      <p:sp>
        <p:nvSpPr>
          <p:cNvPr id="31" name="Text 22"/>
          <p:cNvSpPr txBox="1"/>
          <p:nvPr/>
        </p:nvSpPr>
        <p:spPr>
          <a:xfrm>
            <a:off x="6949440" y="3831336"/>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„Wie aufmerksam geworden?“</a:t>
            </a:r>
            <a:endParaRPr lang="en-US" sz="1500" dirty="0"/>
          </a:p>
        </p:txBody>
      </p:sp>
      <p:sp>
        <p:nvSpPr>
          <p:cNvPr id="32" name="Text 23"/>
          <p:cNvSpPr txBox="1"/>
          <p:nvPr/>
        </p:nvSpPr>
        <p:spPr>
          <a:xfrm>
            <a:off x="6949440" y="4151376"/>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bei jeder Anfrage im Büro erfassen</a:t>
            </a:r>
            <a:endParaRPr lang="en-US" sz="1200" dirty="0"/>
          </a:p>
        </p:txBody>
      </p:sp>
      <p:sp>
        <p:nvSpPr>
          <p:cNvPr id="33" name="Shape 24"/>
          <p:cNvSpPr/>
          <p:nvPr/>
        </p:nvSpPr>
        <p:spPr>
          <a:xfrm>
            <a:off x="6263640" y="4837176"/>
            <a:ext cx="502920" cy="502920"/>
          </a:xfrm>
          <a:prstGeom prst="ellipse">
            <a:avLst/>
          </a:prstGeom>
          <a:solidFill>
            <a:srgbClr val="EB5A1B"/>
          </a:solidFill>
          <a:ln w="12700">
            <a:solidFill>
              <a:srgbClr val="EB5A1B"/>
            </a:solidFill>
            <a:prstDash val="solid"/>
          </a:ln>
        </p:spPr>
      </p:sp>
      <p:pic>
        <p:nvPicPr>
          <p:cNvPr id="34" name="Image 7" descr="/tmp/claude-0/-home-user-Marlene/67342075-d45e-5dfd-8246-b97e829a8c42/scratchpad/deck/img/FaHouse-w.png">    </p:cNvPr>
          <p:cNvPicPr>
            <a:picLocks noChangeAspect="1"/>
          </p:cNvPicPr>
          <p:nvPr/>
        </p:nvPicPr>
        <p:blipFill>
          <a:blip r:embed="rId8"/>
          <a:stretch>
            <a:fillRect/>
          </a:stretch>
        </p:blipFill>
        <p:spPr>
          <a:xfrm>
            <a:off x="6394399" y="4967935"/>
            <a:ext cx="241402" cy="241402"/>
          </a:xfrm>
          <a:prstGeom prst="rect">
            <a:avLst/>
          </a:prstGeom>
        </p:spPr>
      </p:pic>
      <p:sp>
        <p:nvSpPr>
          <p:cNvPr id="35" name="Text 25"/>
          <p:cNvSpPr txBox="1"/>
          <p:nvPr/>
        </p:nvSpPr>
        <p:spPr>
          <a:xfrm>
            <a:off x="6949440" y="4818888"/>
            <a:ext cx="4480560" cy="320040"/>
          </a:xfrm>
          <a:prstGeom prst="rect">
            <a:avLst/>
          </a:prstGeom>
          <a:noFill/>
          <a:ln/>
        </p:spPr>
        <p:txBody>
          <a:bodyPr wrap="square" lIns="0" tIns="0" rIns="0" bIns="0" rtlCol="0" anchor="t"/>
          <a:lstStyle/>
          <a:p>
            <a:pPr indent="0" marL="0">
              <a:buNone/>
            </a:pPr>
            <a:r>
              <a:rPr lang="en-US" sz="1500" dirty="0">
                <a:solidFill>
                  <a:srgbClr val="111111"/>
                </a:solidFill>
                <a:latin typeface="Poppins SemiBold" pitchFamily="34" charset="0"/>
                <a:ea typeface="Poppins SemiBold" pitchFamily="34" charset="-122"/>
                <a:cs typeface="Poppins SemiBold" pitchFamily="34" charset="-120"/>
              </a:rPr>
              <a:t>Website-Korrekturen</a:t>
            </a:r>
            <a:endParaRPr lang="en-US" sz="1500" dirty="0"/>
          </a:p>
        </p:txBody>
      </p:sp>
      <p:sp>
        <p:nvSpPr>
          <p:cNvPr id="36" name="Text 26"/>
          <p:cNvSpPr txBox="1"/>
          <p:nvPr/>
        </p:nvSpPr>
        <p:spPr>
          <a:xfrm>
            <a:off x="6949440" y="5138928"/>
            <a:ext cx="4480560" cy="457200"/>
          </a:xfrm>
          <a:prstGeom prst="rect">
            <a:avLst/>
          </a:prstGeom>
          <a:noFill/>
          <a:ln/>
        </p:spPr>
        <p:txBody>
          <a:bodyPr wrap="square" lIns="0" tIns="0" rIns="0" bIns="0" rtlCol="0" anchor="t"/>
          <a:lstStyle/>
          <a:p>
            <a:pPr indent="0" marL="0">
              <a:buNone/>
            </a:pPr>
            <a:r>
              <a:rPr lang="en-US" sz="1200" dirty="0">
                <a:solidFill>
                  <a:srgbClr val="545559"/>
                </a:solidFill>
                <a:latin typeface="Poppins" pitchFamily="34" charset="0"/>
                <a:ea typeface="Poppins" pitchFamily="34" charset="-122"/>
                <a:cs typeface="Poppins" pitchFamily="34" charset="-120"/>
              </a:rPr>
              <a:t>Firmenalter, FAQ 2023, © 2024 (einmalig)</a:t>
            </a:r>
            <a:endParaRPr lang="en-US" sz="1200" dirty="0"/>
          </a:p>
        </p:txBody>
      </p:sp>
      <p:pic>
        <p:nvPicPr>
          <p:cNvPr id="37" name="Image 8" descr="/home/user/Marlene/poleschak-social-media/assets/logo-transparent.png">    </p:cNvPr>
          <p:cNvPicPr>
            <a:picLocks noChangeAspect="1"/>
          </p:cNvPicPr>
          <p:nvPr/>
        </p:nvPicPr>
        <p:blipFill>
          <a:blip r:embed="rId9"/>
          <a:stretch>
            <a:fillRect/>
          </a:stretch>
        </p:blipFill>
        <p:spPr>
          <a:xfrm>
            <a:off x="685800" y="6291072"/>
            <a:ext cx="643680" cy="329184"/>
          </a:xfrm>
          <a:prstGeom prst="rect">
            <a:avLst/>
          </a:prstGeom>
        </p:spPr>
      </p:pic>
      <p:sp>
        <p:nvSpPr>
          <p:cNvPr id="38" name="Text 27"/>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66928"/>
            <a:ext cx="146304" cy="146304"/>
          </a:xfrm>
          <a:prstGeom prst="ellipse">
            <a:avLst/>
          </a:prstGeom>
          <a:solidFill>
            <a:srgbClr val="EB5A1B"/>
          </a:solidFill>
          <a:ln w="12700">
            <a:solidFill>
              <a:srgbClr val="EB5A1B"/>
            </a:solidFill>
            <a:prstDash val="solid"/>
          </a:ln>
        </p:spPr>
      </p:sp>
      <p:sp>
        <p:nvSpPr>
          <p:cNvPr id="3" name="Text 1"/>
          <p:cNvSpPr txBox="1"/>
          <p:nvPr/>
        </p:nvSpPr>
        <p:spPr>
          <a:xfrm>
            <a:off x="941832" y="502920"/>
            <a:ext cx="8229600" cy="274320"/>
          </a:xfrm>
          <a:prstGeom prst="rect">
            <a:avLst/>
          </a:prstGeom>
          <a:noFill/>
          <a:ln/>
        </p:spPr>
        <p:txBody>
          <a:bodyPr wrap="square" lIns="0" tIns="0" rIns="0" bIns="0" rtlCol="0" anchor="ctr"/>
          <a:lstStyle/>
          <a:p>
            <a:pPr indent="0" marL="0">
              <a:buNone/>
            </a:pPr>
            <a:r>
              <a:rPr lang="en-US" sz="1200" spc="500" kern="0" dirty="0">
                <a:solidFill>
                  <a:srgbClr val="545559"/>
                </a:solidFill>
                <a:latin typeface="Poppins Light" pitchFamily="34" charset="0"/>
                <a:ea typeface="Poppins Light" pitchFamily="34" charset="-122"/>
                <a:cs typeface="Poppins Light" pitchFamily="34" charset="-120"/>
              </a:rPr>
              <a:t>FAHRPLAN</a:t>
            </a:r>
            <a:endParaRPr lang="en-US" sz="1200" dirty="0"/>
          </a:p>
        </p:txBody>
      </p:sp>
      <p:sp>
        <p:nvSpPr>
          <p:cNvPr id="4" name="Text 2"/>
          <p:cNvSpPr txBox="1"/>
          <p:nvPr/>
        </p:nvSpPr>
        <p:spPr>
          <a:xfrm>
            <a:off x="685800" y="868680"/>
            <a:ext cx="10789920" cy="822960"/>
          </a:xfrm>
          <a:prstGeom prst="rect">
            <a:avLst/>
          </a:prstGeom>
          <a:noFill/>
          <a:ln/>
        </p:spPr>
        <p:txBody>
          <a:bodyPr wrap="square" lIns="0" tIns="0" rIns="0" bIns="0" rtlCol="0" anchor="t"/>
          <a:lstStyle/>
          <a:p>
            <a:pPr indent="0" marL="0">
              <a:buNone/>
            </a:pPr>
            <a:r>
              <a:rPr lang="en-US" sz="3400" dirty="0">
                <a:solidFill>
                  <a:srgbClr val="111111"/>
                </a:solidFill>
                <a:latin typeface="Poppins ExtraBold" pitchFamily="34" charset="0"/>
                <a:ea typeface="Poppins ExtraBold" pitchFamily="34" charset="-122"/>
                <a:cs typeface="Poppins ExtraBold" pitchFamily="34" charset="-120"/>
              </a:rPr>
              <a:t>Von der Entscheidung zum </a:t>
            </a:r>
            <a:pPr indent="0" marL="0">
              <a:buNone/>
            </a:pPr>
            <a:r>
              <a:rPr lang="en-US" sz="3400" dirty="0">
                <a:solidFill>
                  <a:srgbClr val="EB5A1B"/>
                </a:solidFill>
                <a:latin typeface="Poppins ExtraBold" pitchFamily="34" charset="0"/>
                <a:ea typeface="Poppins ExtraBold" pitchFamily="34" charset="-122"/>
                <a:cs typeface="Poppins ExtraBold" pitchFamily="34" charset="-120"/>
              </a:rPr>
              <a:t>Start am 25.10.</a:t>
            </a:r>
            <a:endParaRPr lang="en-US" sz="3400" dirty="0"/>
          </a:p>
        </p:txBody>
      </p:sp>
      <p:sp>
        <p:nvSpPr>
          <p:cNvPr id="5" name="Shape 3"/>
          <p:cNvSpPr/>
          <p:nvPr/>
        </p:nvSpPr>
        <p:spPr>
          <a:xfrm>
            <a:off x="1143000" y="3200400"/>
            <a:ext cx="9372600" cy="0"/>
          </a:xfrm>
          <a:prstGeom prst="line">
            <a:avLst/>
          </a:prstGeom>
          <a:noFill/>
          <a:ln w="25400">
            <a:solidFill>
              <a:srgbClr val="B4B5BB"/>
            </a:solidFill>
            <a:prstDash val="solid"/>
          </a:ln>
        </p:spPr>
      </p:sp>
      <p:sp>
        <p:nvSpPr>
          <p:cNvPr id="6" name="Shape 4"/>
          <p:cNvSpPr/>
          <p:nvPr/>
        </p:nvSpPr>
        <p:spPr>
          <a:xfrm>
            <a:off x="960120" y="3017520"/>
            <a:ext cx="365760" cy="365760"/>
          </a:xfrm>
          <a:prstGeom prst="ellipse">
            <a:avLst/>
          </a:prstGeom>
          <a:solidFill>
            <a:srgbClr val="111111"/>
          </a:solidFill>
          <a:ln w="25400">
            <a:solidFill>
              <a:srgbClr val="FFFFFF"/>
            </a:solidFill>
            <a:prstDash val="solid"/>
          </a:ln>
        </p:spPr>
      </p:sp>
      <p:sp>
        <p:nvSpPr>
          <p:cNvPr id="7" name="Text 5"/>
          <p:cNvSpPr txBox="1"/>
          <p:nvPr/>
        </p:nvSpPr>
        <p:spPr>
          <a:xfrm>
            <a:off x="685800" y="2377440"/>
            <a:ext cx="1828800" cy="365760"/>
          </a:xfrm>
          <a:prstGeom prst="rect">
            <a:avLst/>
          </a:prstGeom>
          <a:noFill/>
          <a:ln/>
        </p:spPr>
        <p:txBody>
          <a:bodyPr wrap="square" lIns="0" tIns="0" rIns="0" bIns="0" rtlCol="0" anchor="t"/>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07.10.</a:t>
            </a:r>
            <a:endParaRPr lang="en-US" sz="1600" dirty="0"/>
          </a:p>
        </p:txBody>
      </p:sp>
      <p:sp>
        <p:nvSpPr>
          <p:cNvPr id="8" name="Text 6"/>
          <p:cNvSpPr txBox="1"/>
          <p:nvPr/>
        </p:nvSpPr>
        <p:spPr>
          <a:xfrm>
            <a:off x="685800" y="3566160"/>
            <a:ext cx="1737360" cy="320040"/>
          </a:xfrm>
          <a:prstGeom prst="rect">
            <a:avLst/>
          </a:prstGeom>
          <a:noFill/>
          <a:ln/>
        </p:spPr>
        <p:txBody>
          <a:bodyPr wrap="square" lIns="0" tIns="0" rIns="0" bIns="0" rtlCol="0" anchor="t"/>
          <a:lstStyle/>
          <a:p>
            <a:pPr indent="0" marL="0">
              <a:buNone/>
            </a:pPr>
            <a:r>
              <a:rPr lang="en-US" sz="1400" dirty="0">
                <a:solidFill>
                  <a:srgbClr val="111111"/>
                </a:solidFill>
                <a:latin typeface="Poppins SemiBold" pitchFamily="34" charset="0"/>
                <a:ea typeface="Poppins SemiBold" pitchFamily="34" charset="-122"/>
                <a:cs typeface="Poppins SemiBold" pitchFamily="34" charset="-120"/>
              </a:rPr>
              <a:t>Entscheidung</a:t>
            </a:r>
            <a:endParaRPr lang="en-US" sz="1400" dirty="0"/>
          </a:p>
        </p:txBody>
      </p:sp>
      <p:sp>
        <p:nvSpPr>
          <p:cNvPr id="9" name="Text 7"/>
          <p:cNvSpPr txBox="1"/>
          <p:nvPr/>
        </p:nvSpPr>
        <p:spPr>
          <a:xfrm>
            <a:off x="685800" y="3886200"/>
            <a:ext cx="1645920" cy="91440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Freigabe von Modell, Budget, Profilbild</a:t>
            </a:r>
            <a:endParaRPr lang="en-US" sz="1100" dirty="0"/>
          </a:p>
        </p:txBody>
      </p:sp>
      <p:sp>
        <p:nvSpPr>
          <p:cNvPr id="10" name="Shape 8"/>
          <p:cNvSpPr/>
          <p:nvPr/>
        </p:nvSpPr>
        <p:spPr>
          <a:xfrm>
            <a:off x="2834640" y="3017520"/>
            <a:ext cx="365760" cy="365760"/>
          </a:xfrm>
          <a:prstGeom prst="ellipse">
            <a:avLst/>
          </a:prstGeom>
          <a:solidFill>
            <a:srgbClr val="111111"/>
          </a:solidFill>
          <a:ln w="25400">
            <a:solidFill>
              <a:srgbClr val="FFFFFF"/>
            </a:solidFill>
            <a:prstDash val="solid"/>
          </a:ln>
        </p:spPr>
      </p:sp>
      <p:sp>
        <p:nvSpPr>
          <p:cNvPr id="11" name="Text 9"/>
          <p:cNvSpPr txBox="1"/>
          <p:nvPr/>
        </p:nvSpPr>
        <p:spPr>
          <a:xfrm>
            <a:off x="2560320" y="2377440"/>
            <a:ext cx="1828800" cy="365760"/>
          </a:xfrm>
          <a:prstGeom prst="rect">
            <a:avLst/>
          </a:prstGeom>
          <a:noFill/>
          <a:ln/>
        </p:spPr>
        <p:txBody>
          <a:bodyPr wrap="square" lIns="0" tIns="0" rIns="0" bIns="0" rtlCol="0" anchor="t"/>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Okt.</a:t>
            </a:r>
            <a:endParaRPr lang="en-US" sz="1600" dirty="0"/>
          </a:p>
        </p:txBody>
      </p:sp>
      <p:sp>
        <p:nvSpPr>
          <p:cNvPr id="12" name="Text 10"/>
          <p:cNvSpPr txBox="1"/>
          <p:nvPr/>
        </p:nvSpPr>
        <p:spPr>
          <a:xfrm>
            <a:off x="2560320" y="3566160"/>
            <a:ext cx="1737360" cy="320040"/>
          </a:xfrm>
          <a:prstGeom prst="rect">
            <a:avLst/>
          </a:prstGeom>
          <a:noFill/>
          <a:ln/>
        </p:spPr>
        <p:txBody>
          <a:bodyPr wrap="square" lIns="0" tIns="0" rIns="0" bIns="0" rtlCol="0" anchor="t"/>
          <a:lstStyle/>
          <a:p>
            <a:pPr indent="0" marL="0">
              <a:buNone/>
            </a:pPr>
            <a:r>
              <a:rPr lang="en-US" sz="1400" dirty="0">
                <a:solidFill>
                  <a:srgbClr val="111111"/>
                </a:solidFill>
                <a:latin typeface="Poppins SemiBold" pitchFamily="34" charset="0"/>
                <a:ea typeface="Poppins SemiBold" pitchFamily="34" charset="-122"/>
                <a:cs typeface="Poppins SemiBold" pitchFamily="34" charset="-120"/>
              </a:rPr>
              <a:t>Aufbaumonat</a:t>
            </a:r>
            <a:endParaRPr lang="en-US" sz="1400" dirty="0"/>
          </a:p>
        </p:txBody>
      </p:sp>
      <p:sp>
        <p:nvSpPr>
          <p:cNvPr id="13" name="Text 11"/>
          <p:cNvSpPr txBox="1"/>
          <p:nvPr/>
        </p:nvSpPr>
        <p:spPr>
          <a:xfrm>
            <a:off x="2560320" y="3886200"/>
            <a:ext cx="1645920" cy="91440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Zugang, Profil, Gestaltung, Einwilligungen</a:t>
            </a:r>
            <a:endParaRPr lang="en-US" sz="1100" dirty="0"/>
          </a:p>
        </p:txBody>
      </p:sp>
      <p:sp>
        <p:nvSpPr>
          <p:cNvPr id="14" name="Shape 12"/>
          <p:cNvSpPr/>
          <p:nvPr/>
        </p:nvSpPr>
        <p:spPr>
          <a:xfrm>
            <a:off x="4709160" y="3017520"/>
            <a:ext cx="365760" cy="365760"/>
          </a:xfrm>
          <a:prstGeom prst="ellipse">
            <a:avLst/>
          </a:prstGeom>
          <a:solidFill>
            <a:srgbClr val="EB5A1B"/>
          </a:solidFill>
          <a:ln w="25400">
            <a:solidFill>
              <a:srgbClr val="FFFFFF"/>
            </a:solidFill>
            <a:prstDash val="solid"/>
          </a:ln>
        </p:spPr>
      </p:sp>
      <p:sp>
        <p:nvSpPr>
          <p:cNvPr id="15" name="Text 13"/>
          <p:cNvSpPr txBox="1"/>
          <p:nvPr/>
        </p:nvSpPr>
        <p:spPr>
          <a:xfrm>
            <a:off x="4434840" y="2377440"/>
            <a:ext cx="1828800" cy="365760"/>
          </a:xfrm>
          <a:prstGeom prst="rect">
            <a:avLst/>
          </a:prstGeom>
          <a:noFill/>
          <a:ln/>
        </p:spPr>
        <p:txBody>
          <a:bodyPr wrap="square" lIns="0" tIns="0" rIns="0" bIns="0" rtlCol="0" anchor="t"/>
          <a:lstStyle/>
          <a:p>
            <a:pPr indent="0" marL="0">
              <a:buNone/>
            </a:pPr>
            <a:r>
              <a:rPr lang="en-US" sz="1600" dirty="0">
                <a:solidFill>
                  <a:srgbClr val="EB5A1B"/>
                </a:solidFill>
                <a:latin typeface="Poppins ExtraBold" pitchFamily="34" charset="0"/>
                <a:ea typeface="Poppins ExtraBold" pitchFamily="34" charset="-122"/>
                <a:cs typeface="Poppins ExtraBold" pitchFamily="34" charset="-120"/>
              </a:rPr>
              <a:t>25.10.</a:t>
            </a:r>
            <a:endParaRPr lang="en-US" sz="1600" dirty="0"/>
          </a:p>
        </p:txBody>
      </p:sp>
      <p:sp>
        <p:nvSpPr>
          <p:cNvPr id="16" name="Text 14"/>
          <p:cNvSpPr txBox="1"/>
          <p:nvPr/>
        </p:nvSpPr>
        <p:spPr>
          <a:xfrm>
            <a:off x="4434840" y="3566160"/>
            <a:ext cx="1737360" cy="320040"/>
          </a:xfrm>
          <a:prstGeom prst="rect">
            <a:avLst/>
          </a:prstGeom>
          <a:noFill/>
          <a:ln/>
        </p:spPr>
        <p:txBody>
          <a:bodyPr wrap="square" lIns="0" tIns="0" rIns="0" bIns="0" rtlCol="0" anchor="t"/>
          <a:lstStyle/>
          <a:p>
            <a:pPr indent="0" marL="0">
              <a:buNone/>
            </a:pPr>
            <a:r>
              <a:rPr lang="en-US" sz="1400" dirty="0">
                <a:solidFill>
                  <a:srgbClr val="111111"/>
                </a:solidFill>
                <a:latin typeface="Poppins SemiBold" pitchFamily="34" charset="0"/>
                <a:ea typeface="Poppins SemiBold" pitchFamily="34" charset="-122"/>
                <a:cs typeface="Poppins SemiBold" pitchFamily="34" charset="-120"/>
              </a:rPr>
              <a:t>Start</a:t>
            </a:r>
            <a:endParaRPr lang="en-US" sz="1400" dirty="0"/>
          </a:p>
        </p:txBody>
      </p:sp>
      <p:sp>
        <p:nvSpPr>
          <p:cNvPr id="17" name="Text 15"/>
          <p:cNvSpPr txBox="1"/>
          <p:nvPr/>
        </p:nvSpPr>
        <p:spPr>
          <a:xfrm>
            <a:off x="4434840" y="3886200"/>
            <a:ext cx="1645920" cy="91440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Tag des Einbruchschutzes, erster großer Post</a:t>
            </a:r>
            <a:endParaRPr lang="en-US" sz="1100" dirty="0"/>
          </a:p>
        </p:txBody>
      </p:sp>
      <p:sp>
        <p:nvSpPr>
          <p:cNvPr id="18" name="Shape 16"/>
          <p:cNvSpPr/>
          <p:nvPr/>
        </p:nvSpPr>
        <p:spPr>
          <a:xfrm>
            <a:off x="6583680" y="3017520"/>
            <a:ext cx="365760" cy="365760"/>
          </a:xfrm>
          <a:prstGeom prst="ellipse">
            <a:avLst/>
          </a:prstGeom>
          <a:solidFill>
            <a:srgbClr val="111111"/>
          </a:solidFill>
          <a:ln w="25400">
            <a:solidFill>
              <a:srgbClr val="FFFFFF"/>
            </a:solidFill>
            <a:prstDash val="solid"/>
          </a:ln>
        </p:spPr>
      </p:sp>
      <p:sp>
        <p:nvSpPr>
          <p:cNvPr id="19" name="Text 17"/>
          <p:cNvSpPr txBox="1"/>
          <p:nvPr/>
        </p:nvSpPr>
        <p:spPr>
          <a:xfrm>
            <a:off x="6309360" y="2377440"/>
            <a:ext cx="1828800" cy="365760"/>
          </a:xfrm>
          <a:prstGeom prst="rect">
            <a:avLst/>
          </a:prstGeom>
          <a:noFill/>
          <a:ln/>
        </p:spPr>
        <p:txBody>
          <a:bodyPr wrap="square" lIns="0" tIns="0" rIns="0" bIns="0" rtlCol="0" anchor="t"/>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Jan. 2027</a:t>
            </a:r>
            <a:endParaRPr lang="en-US" sz="1600" dirty="0"/>
          </a:p>
        </p:txBody>
      </p:sp>
      <p:sp>
        <p:nvSpPr>
          <p:cNvPr id="20" name="Text 18"/>
          <p:cNvSpPr txBox="1"/>
          <p:nvPr/>
        </p:nvSpPr>
        <p:spPr>
          <a:xfrm>
            <a:off x="6309360" y="3566160"/>
            <a:ext cx="1737360" cy="320040"/>
          </a:xfrm>
          <a:prstGeom prst="rect">
            <a:avLst/>
          </a:prstGeom>
          <a:noFill/>
          <a:ln/>
        </p:spPr>
        <p:txBody>
          <a:bodyPr wrap="square" lIns="0" tIns="0" rIns="0" bIns="0" rtlCol="0" anchor="t"/>
          <a:lstStyle/>
          <a:p>
            <a:pPr indent="0" marL="0">
              <a:buNone/>
            </a:pPr>
            <a:r>
              <a:rPr lang="en-US" sz="1400" dirty="0">
                <a:solidFill>
                  <a:srgbClr val="111111"/>
                </a:solidFill>
                <a:latin typeface="Poppins SemiBold" pitchFamily="34" charset="0"/>
                <a:ea typeface="Poppins SemiBold" pitchFamily="34" charset="-122"/>
                <a:cs typeface="Poppins SemiBold" pitchFamily="34" charset="-120"/>
              </a:rPr>
              <a:t>Azubi-Kampagne</a:t>
            </a:r>
            <a:endParaRPr lang="en-US" sz="1400" dirty="0"/>
          </a:p>
        </p:txBody>
      </p:sp>
      <p:sp>
        <p:nvSpPr>
          <p:cNvPr id="21" name="Text 19"/>
          <p:cNvSpPr txBox="1"/>
          <p:nvPr/>
        </p:nvSpPr>
        <p:spPr>
          <a:xfrm>
            <a:off x="6309360" y="3886200"/>
            <a:ext cx="1645920" cy="91440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„Mach Alarm. Beruflich.“</a:t>
            </a:r>
            <a:endParaRPr lang="en-US" sz="1100" dirty="0"/>
          </a:p>
        </p:txBody>
      </p:sp>
      <p:sp>
        <p:nvSpPr>
          <p:cNvPr id="22" name="Shape 20"/>
          <p:cNvSpPr/>
          <p:nvPr/>
        </p:nvSpPr>
        <p:spPr>
          <a:xfrm>
            <a:off x="8458200" y="3017520"/>
            <a:ext cx="365760" cy="365760"/>
          </a:xfrm>
          <a:prstGeom prst="ellipse">
            <a:avLst/>
          </a:prstGeom>
          <a:solidFill>
            <a:srgbClr val="111111"/>
          </a:solidFill>
          <a:ln w="25400">
            <a:solidFill>
              <a:srgbClr val="FFFFFF"/>
            </a:solidFill>
            <a:prstDash val="solid"/>
          </a:ln>
        </p:spPr>
      </p:sp>
      <p:sp>
        <p:nvSpPr>
          <p:cNvPr id="23" name="Text 21"/>
          <p:cNvSpPr txBox="1"/>
          <p:nvPr/>
        </p:nvSpPr>
        <p:spPr>
          <a:xfrm>
            <a:off x="8183880" y="2377440"/>
            <a:ext cx="1828800" cy="365760"/>
          </a:xfrm>
          <a:prstGeom prst="rect">
            <a:avLst/>
          </a:prstGeom>
          <a:noFill/>
          <a:ln/>
        </p:spPr>
        <p:txBody>
          <a:bodyPr wrap="square" lIns="0" tIns="0" rIns="0" bIns="0" rtlCol="0" anchor="t"/>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Apr. 2027</a:t>
            </a:r>
            <a:endParaRPr lang="en-US" sz="1600" dirty="0"/>
          </a:p>
        </p:txBody>
      </p:sp>
      <p:sp>
        <p:nvSpPr>
          <p:cNvPr id="24" name="Text 22"/>
          <p:cNvSpPr txBox="1"/>
          <p:nvPr/>
        </p:nvSpPr>
        <p:spPr>
          <a:xfrm>
            <a:off x="8183880" y="3566160"/>
            <a:ext cx="1737360" cy="320040"/>
          </a:xfrm>
          <a:prstGeom prst="rect">
            <a:avLst/>
          </a:prstGeom>
          <a:noFill/>
          <a:ln/>
        </p:spPr>
        <p:txBody>
          <a:bodyPr wrap="square" lIns="0" tIns="0" rIns="0" bIns="0" rtlCol="0" anchor="t"/>
          <a:lstStyle/>
          <a:p>
            <a:pPr indent="0" marL="0">
              <a:buNone/>
            </a:pPr>
            <a:r>
              <a:rPr lang="en-US" sz="1400" dirty="0">
                <a:solidFill>
                  <a:srgbClr val="111111"/>
                </a:solidFill>
                <a:latin typeface="Poppins SemiBold" pitchFamily="34" charset="0"/>
                <a:ea typeface="Poppins SemiBold" pitchFamily="34" charset="-122"/>
                <a:cs typeface="Poppins SemiBold" pitchFamily="34" charset="-120"/>
              </a:rPr>
              <a:t>6-Monats-Review</a:t>
            </a:r>
            <a:endParaRPr lang="en-US" sz="1400" dirty="0"/>
          </a:p>
        </p:txBody>
      </p:sp>
      <p:sp>
        <p:nvSpPr>
          <p:cNvPr id="25" name="Text 23"/>
          <p:cNvSpPr txBox="1"/>
          <p:nvPr/>
        </p:nvSpPr>
        <p:spPr>
          <a:xfrm>
            <a:off x="8183880" y="3886200"/>
            <a:ext cx="1645920" cy="91440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Zahlen auf den Tisch, Entscheidung Stufe 2</a:t>
            </a:r>
            <a:endParaRPr lang="en-US" sz="1100" dirty="0"/>
          </a:p>
        </p:txBody>
      </p:sp>
      <p:sp>
        <p:nvSpPr>
          <p:cNvPr id="26" name="Shape 24"/>
          <p:cNvSpPr/>
          <p:nvPr/>
        </p:nvSpPr>
        <p:spPr>
          <a:xfrm>
            <a:off x="10332720" y="3017520"/>
            <a:ext cx="365760" cy="365760"/>
          </a:xfrm>
          <a:prstGeom prst="ellipse">
            <a:avLst/>
          </a:prstGeom>
          <a:solidFill>
            <a:srgbClr val="111111"/>
          </a:solidFill>
          <a:ln w="25400">
            <a:solidFill>
              <a:srgbClr val="FFFFFF"/>
            </a:solidFill>
            <a:prstDash val="solid"/>
          </a:ln>
        </p:spPr>
      </p:sp>
      <p:sp>
        <p:nvSpPr>
          <p:cNvPr id="27" name="Text 25"/>
          <p:cNvSpPr txBox="1"/>
          <p:nvPr/>
        </p:nvSpPr>
        <p:spPr>
          <a:xfrm>
            <a:off x="10058400" y="2377440"/>
            <a:ext cx="1828800" cy="365760"/>
          </a:xfrm>
          <a:prstGeom prst="rect">
            <a:avLst/>
          </a:prstGeom>
          <a:noFill/>
          <a:ln/>
        </p:spPr>
        <p:txBody>
          <a:bodyPr wrap="square" lIns="0" tIns="0" rIns="0" bIns="0" rtlCol="0" anchor="t"/>
          <a:lstStyle/>
          <a:p>
            <a:pPr indent="0" marL="0">
              <a:buNone/>
            </a:pPr>
            <a:r>
              <a:rPr lang="en-US" sz="1600" dirty="0">
                <a:solidFill>
                  <a:srgbClr val="111111"/>
                </a:solidFill>
                <a:latin typeface="Poppins ExtraBold" pitchFamily="34" charset="0"/>
                <a:ea typeface="Poppins ExtraBold" pitchFamily="34" charset="-122"/>
                <a:cs typeface="Poppins ExtraBold" pitchFamily="34" charset="-120"/>
              </a:rPr>
              <a:t>Okt. 2027</a:t>
            </a:r>
            <a:endParaRPr lang="en-US" sz="1600" dirty="0"/>
          </a:p>
        </p:txBody>
      </p:sp>
      <p:sp>
        <p:nvSpPr>
          <p:cNvPr id="28" name="Text 26"/>
          <p:cNvSpPr txBox="1"/>
          <p:nvPr/>
        </p:nvSpPr>
        <p:spPr>
          <a:xfrm>
            <a:off x="10058400" y="3566160"/>
            <a:ext cx="1737360" cy="320040"/>
          </a:xfrm>
          <a:prstGeom prst="rect">
            <a:avLst/>
          </a:prstGeom>
          <a:noFill/>
          <a:ln/>
        </p:spPr>
        <p:txBody>
          <a:bodyPr wrap="square" lIns="0" tIns="0" rIns="0" bIns="0" rtlCol="0" anchor="t"/>
          <a:lstStyle/>
          <a:p>
            <a:pPr indent="0" marL="0">
              <a:buNone/>
            </a:pPr>
            <a:r>
              <a:rPr lang="en-US" sz="1400" dirty="0">
                <a:solidFill>
                  <a:srgbClr val="111111"/>
                </a:solidFill>
                <a:latin typeface="Poppins SemiBold" pitchFamily="34" charset="0"/>
                <a:ea typeface="Poppins SemiBold" pitchFamily="34" charset="-122"/>
                <a:cs typeface="Poppins SemiBold" pitchFamily="34" charset="-120"/>
              </a:rPr>
              <a:t>Jahresbilanz</a:t>
            </a:r>
            <a:endParaRPr lang="en-US" sz="1400" dirty="0"/>
          </a:p>
        </p:txBody>
      </p:sp>
      <p:sp>
        <p:nvSpPr>
          <p:cNvPr id="29" name="Text 27"/>
          <p:cNvSpPr txBox="1"/>
          <p:nvPr/>
        </p:nvSpPr>
        <p:spPr>
          <a:xfrm>
            <a:off x="10058400" y="3886200"/>
            <a:ext cx="1645920" cy="914400"/>
          </a:xfrm>
          <a:prstGeom prst="rect">
            <a:avLst/>
          </a:prstGeom>
          <a:noFill/>
          <a:ln/>
        </p:spPr>
        <p:txBody>
          <a:bodyPr wrap="square" lIns="0" tIns="0" rIns="0" bIns="0" rtlCol="0" anchor="t"/>
          <a:lstStyle/>
          <a:p>
            <a:pPr indent="0" marL="0">
              <a:buNone/>
            </a:pPr>
            <a:r>
              <a:rPr lang="en-US" sz="1100" dirty="0">
                <a:solidFill>
                  <a:srgbClr val="545559"/>
                </a:solidFill>
                <a:latin typeface="Poppins" pitchFamily="34" charset="0"/>
                <a:ea typeface="Poppins" pitchFamily="34" charset="-122"/>
                <a:cs typeface="Poppins" pitchFamily="34" charset="-120"/>
              </a:rPr>
              <a:t>12 Monate, alle Ziele im Check</a:t>
            </a:r>
            <a:endParaRPr lang="en-US" sz="1100" dirty="0"/>
          </a:p>
        </p:txBody>
      </p:sp>
      <p:sp>
        <p:nvSpPr>
          <p:cNvPr id="30" name="Shape 28"/>
          <p:cNvSpPr/>
          <p:nvPr/>
        </p:nvSpPr>
        <p:spPr>
          <a:xfrm>
            <a:off x="685800" y="5120640"/>
            <a:ext cx="10789920" cy="640080"/>
          </a:xfrm>
          <a:prstGeom prst="roundRect">
            <a:avLst>
              <a:gd name="adj" fmla="val 17143"/>
            </a:avLst>
          </a:prstGeom>
          <a:solidFill>
            <a:srgbClr val="F4F4F4"/>
          </a:solidFill>
          <a:ln w="12700">
            <a:solidFill>
              <a:srgbClr val="F4F4F4"/>
            </a:solidFill>
            <a:prstDash val="solid"/>
          </a:ln>
        </p:spPr>
      </p:sp>
      <p:sp>
        <p:nvSpPr>
          <p:cNvPr id="31" name="Text 29"/>
          <p:cNvSpPr txBox="1"/>
          <p:nvPr/>
        </p:nvSpPr>
        <p:spPr>
          <a:xfrm>
            <a:off x="960120" y="5120640"/>
            <a:ext cx="10241280" cy="640080"/>
          </a:xfrm>
          <a:prstGeom prst="rect">
            <a:avLst/>
          </a:prstGeom>
          <a:noFill/>
          <a:ln/>
        </p:spPr>
        <p:txBody>
          <a:bodyPr wrap="square" lIns="0" tIns="0" rIns="0" bIns="0" rtlCol="0" anchor="ctr"/>
          <a:lstStyle/>
          <a:p>
            <a:pPr indent="0" marL="0">
              <a:buNone/>
            </a:pPr>
            <a:r>
              <a:rPr lang="en-US" sz="1300" dirty="0">
                <a:solidFill>
                  <a:srgbClr val="111111"/>
                </a:solidFill>
                <a:latin typeface="Poppins SemiBold" pitchFamily="34" charset="0"/>
                <a:ea typeface="Poppins SemiBold" pitchFamily="34" charset="-122"/>
                <a:cs typeface="Poppins SemiBold" pitchFamily="34" charset="-120"/>
              </a:rPr>
              <a:t>Stufe 2 (nach Zielerreichung): </a:t>
            </a:r>
            <a:pPr indent="0" marL="0">
              <a:buNone/>
            </a:pPr>
            <a:r>
              <a:rPr lang="en-US" sz="1300" dirty="0">
                <a:solidFill>
                  <a:srgbClr val="222222"/>
                </a:solidFill>
                <a:latin typeface="Poppins" pitchFamily="34" charset="0"/>
                <a:ea typeface="Poppins" pitchFamily="34" charset="-122"/>
                <a:cs typeface="Poppins" pitchFamily="34" charset="-120"/>
              </a:rPr>
              <a:t>mehr Videos, Ausbau auf LinkedIn und Google, größere Kampagnen.</a:t>
            </a:r>
            <a:endParaRPr lang="en-US" sz="1300" dirty="0"/>
          </a:p>
        </p:txBody>
      </p:sp>
      <p:pic>
        <p:nvPicPr>
          <p:cNvPr id="32" name="Image 0" descr="/home/user/Marlene/poleschak-social-media/assets/logo-transparent.png">    </p:cNvPr>
          <p:cNvPicPr>
            <a:picLocks noChangeAspect="1"/>
          </p:cNvPicPr>
          <p:nvPr/>
        </p:nvPicPr>
        <p:blipFill>
          <a:blip r:embed="rId1"/>
          <a:stretch>
            <a:fillRect/>
          </a:stretch>
        </p:blipFill>
        <p:spPr>
          <a:xfrm>
            <a:off x="685800" y="6291072"/>
            <a:ext cx="643680" cy="329184"/>
          </a:xfrm>
          <a:prstGeom prst="rect">
            <a:avLst/>
          </a:prstGeom>
        </p:spPr>
      </p:pic>
      <p:sp>
        <p:nvSpPr>
          <p:cNvPr id="33" name="Text 30"/>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545559"/>
                </a:solidFill>
                <a:latin typeface="Poppins Light" pitchFamily="34" charset="0"/>
                <a:ea typeface="Poppins Light" pitchFamily="34" charset="-122"/>
                <a:cs typeface="Poppins Light"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p:bgPr>
    </p:bg>
    <p:spTree>
      <p:nvGrpSpPr>
        <p:cNvPr id="1" name=""/>
        <p:cNvGrpSpPr/>
        <p:nvPr/>
      </p:nvGrpSpPr>
      <p:grpSpPr>
        <a:xfrm>
          <a:off x="0" y="0"/>
          <a:ext cx="0" cy="0"/>
          <a:chOff x="0" y="0"/>
          <a:chExt cx="0" cy="0"/>
        </a:xfrm>
      </p:grpSpPr>
      <p:pic>
        <p:nvPicPr>
          <p:cNvPr id="2" name="Image 0" descr="/tmp/claude-0/-home-user-Marlene/67342075-d45e-5dfd-8246-b97e829a8c42/scratchpad/deck/img/waves.png">    </p:cNvPr>
          <p:cNvPicPr>
            <a:picLocks noChangeAspect="1"/>
          </p:cNvPicPr>
          <p:nvPr/>
        </p:nvPicPr>
        <p:blipFill>
          <a:blip r:embed="rId1"/>
          <a:stretch>
            <a:fillRect/>
          </a:stretch>
        </p:blipFill>
        <p:spPr>
          <a:xfrm>
            <a:off x="8412480" y="2103120"/>
            <a:ext cx="3931920" cy="3931920"/>
          </a:xfrm>
          <a:prstGeom prst="rect">
            <a:avLst/>
          </a:prstGeom>
        </p:spPr>
      </p:pic>
      <p:sp>
        <p:nvSpPr>
          <p:cNvPr id="3" name="Shape 0"/>
          <p:cNvSpPr/>
          <p:nvPr/>
        </p:nvSpPr>
        <p:spPr>
          <a:xfrm>
            <a:off x="685800" y="704088"/>
            <a:ext cx="146304" cy="146304"/>
          </a:xfrm>
          <a:prstGeom prst="ellipse">
            <a:avLst/>
          </a:prstGeom>
          <a:solidFill>
            <a:srgbClr val="EB5A1B"/>
          </a:solidFill>
          <a:ln w="12700">
            <a:solidFill>
              <a:srgbClr val="EB5A1B"/>
            </a:solidFill>
            <a:prstDash val="solid"/>
          </a:ln>
        </p:spPr>
      </p:sp>
      <p:sp>
        <p:nvSpPr>
          <p:cNvPr id="4" name="Text 1"/>
          <p:cNvSpPr txBox="1"/>
          <p:nvPr/>
        </p:nvSpPr>
        <p:spPr>
          <a:xfrm>
            <a:off x="941832" y="640080"/>
            <a:ext cx="8229600" cy="274320"/>
          </a:xfrm>
          <a:prstGeom prst="rect">
            <a:avLst/>
          </a:prstGeom>
          <a:noFill/>
          <a:ln/>
        </p:spPr>
        <p:txBody>
          <a:bodyPr wrap="square" lIns="0" tIns="0" rIns="0" bIns="0" rtlCol="0" anchor="ctr"/>
          <a:lstStyle/>
          <a:p>
            <a:pPr indent="0" marL="0">
              <a:buNone/>
            </a:pPr>
            <a:r>
              <a:rPr lang="en-US" sz="1200" spc="500" kern="0" dirty="0">
                <a:solidFill>
                  <a:srgbClr val="B4B5BB"/>
                </a:solidFill>
                <a:latin typeface="Poppins Light" pitchFamily="34" charset="0"/>
                <a:ea typeface="Poppins Light" pitchFamily="34" charset="-122"/>
                <a:cs typeface="Poppins Light" pitchFamily="34" charset="-120"/>
              </a:rPr>
              <a:t>MEINE BITTE AN SIE</a:t>
            </a:r>
            <a:endParaRPr lang="en-US" sz="1200" dirty="0"/>
          </a:p>
        </p:txBody>
      </p:sp>
      <p:sp>
        <p:nvSpPr>
          <p:cNvPr id="5" name="Text 2"/>
          <p:cNvSpPr txBox="1"/>
          <p:nvPr/>
        </p:nvSpPr>
        <p:spPr>
          <a:xfrm>
            <a:off x="685800" y="1097280"/>
            <a:ext cx="8229600" cy="1371600"/>
          </a:xfrm>
          <a:prstGeom prst="rect">
            <a:avLst/>
          </a:prstGeom>
          <a:noFill/>
          <a:ln/>
        </p:spPr>
        <p:txBody>
          <a:bodyPr wrap="square" lIns="0" tIns="0" rIns="0" bIns="0" rtlCol="0" anchor="t"/>
          <a:lstStyle/>
          <a:p>
            <a:pPr indent="0" marL="0">
              <a:buNone/>
            </a:pPr>
            <a:r>
              <a:rPr lang="en-US" sz="4000" dirty="0">
                <a:solidFill>
                  <a:srgbClr val="FFFFFF"/>
                </a:solidFill>
                <a:latin typeface="Poppins ExtraBold" pitchFamily="34" charset="0"/>
                <a:ea typeface="Poppins ExtraBold" pitchFamily="34" charset="-122"/>
                <a:cs typeface="Poppins ExtraBold" pitchFamily="34" charset="-120"/>
              </a:rPr>
              <a:t>Lassen Sie uns zeigen, </a:t>
            </a:r>
            <a:endParaRPr lang="en-US" sz="4000" dirty="0"/>
          </a:p>
          <a:p>
            <a:pPr indent="0" marL="0">
              <a:buNone/>
            </a:pPr>
            <a:r>
              <a:rPr lang="en-US" sz="4000" dirty="0">
                <a:solidFill>
                  <a:srgbClr val="EB5A1B"/>
                </a:solidFill>
                <a:latin typeface="Poppins ExtraBold" pitchFamily="34" charset="0"/>
                <a:ea typeface="Poppins ExtraBold" pitchFamily="34" charset="-122"/>
                <a:cs typeface="Poppins ExtraBold" pitchFamily="34" charset="-120"/>
              </a:rPr>
              <a:t>dass wir wach sind.</a:t>
            </a:r>
            <a:endParaRPr lang="en-US" sz="4000" dirty="0"/>
          </a:p>
        </p:txBody>
      </p:sp>
      <p:sp>
        <p:nvSpPr>
          <p:cNvPr id="6" name="Shape 3"/>
          <p:cNvSpPr/>
          <p:nvPr/>
        </p:nvSpPr>
        <p:spPr>
          <a:xfrm>
            <a:off x="685800" y="2880360"/>
            <a:ext cx="502920" cy="502920"/>
          </a:xfrm>
          <a:prstGeom prst="ellipse">
            <a:avLst/>
          </a:prstGeom>
          <a:solidFill>
            <a:srgbClr val="EB5A1B"/>
          </a:solidFill>
          <a:ln w="12700">
            <a:solidFill>
              <a:srgbClr val="EB5A1B"/>
            </a:solidFill>
            <a:prstDash val="solid"/>
          </a:ln>
        </p:spPr>
      </p:sp>
      <p:sp>
        <p:nvSpPr>
          <p:cNvPr id="7" name="Text 4"/>
          <p:cNvSpPr txBox="1"/>
          <p:nvPr/>
        </p:nvSpPr>
        <p:spPr>
          <a:xfrm>
            <a:off x="685800" y="2880360"/>
            <a:ext cx="50292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Poppins ExtraBold" pitchFamily="34" charset="0"/>
                <a:ea typeface="Poppins ExtraBold" pitchFamily="34" charset="-122"/>
                <a:cs typeface="Poppins ExtraBold" pitchFamily="34" charset="-120"/>
              </a:rPr>
              <a:t>1</a:t>
            </a:r>
            <a:endParaRPr lang="en-US" sz="1600" dirty="0"/>
          </a:p>
        </p:txBody>
      </p:sp>
      <p:sp>
        <p:nvSpPr>
          <p:cNvPr id="8" name="Text 5"/>
          <p:cNvSpPr txBox="1"/>
          <p:nvPr/>
        </p:nvSpPr>
        <p:spPr>
          <a:xfrm>
            <a:off x="1417320" y="2852928"/>
            <a:ext cx="7132320" cy="320040"/>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Grünes Licht für den Start</a:t>
            </a:r>
            <a:endParaRPr lang="en-US" sz="1600" dirty="0"/>
          </a:p>
        </p:txBody>
      </p:sp>
      <p:sp>
        <p:nvSpPr>
          <p:cNvPr id="9" name="Text 6"/>
          <p:cNvSpPr txBox="1"/>
          <p:nvPr/>
        </p:nvSpPr>
        <p:spPr>
          <a:xfrm>
            <a:off x="1417320" y="3172968"/>
            <a:ext cx="7132320" cy="2743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Aufbau im Oktober, Startschuss zum Tag des Einbruchschutzes</a:t>
            </a:r>
            <a:endParaRPr lang="en-US" sz="1200" dirty="0"/>
          </a:p>
        </p:txBody>
      </p:sp>
      <p:sp>
        <p:nvSpPr>
          <p:cNvPr id="10" name="Shape 7"/>
          <p:cNvSpPr/>
          <p:nvPr/>
        </p:nvSpPr>
        <p:spPr>
          <a:xfrm>
            <a:off x="685800" y="3794760"/>
            <a:ext cx="502920" cy="502920"/>
          </a:xfrm>
          <a:prstGeom prst="ellipse">
            <a:avLst/>
          </a:prstGeom>
          <a:solidFill>
            <a:srgbClr val="EB5A1B"/>
          </a:solidFill>
          <a:ln w="12700">
            <a:solidFill>
              <a:srgbClr val="EB5A1B"/>
            </a:solidFill>
            <a:prstDash val="solid"/>
          </a:ln>
        </p:spPr>
      </p:sp>
      <p:sp>
        <p:nvSpPr>
          <p:cNvPr id="11" name="Text 8"/>
          <p:cNvSpPr txBox="1"/>
          <p:nvPr/>
        </p:nvSpPr>
        <p:spPr>
          <a:xfrm>
            <a:off x="685800" y="3794760"/>
            <a:ext cx="50292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Poppins ExtraBold" pitchFamily="34" charset="0"/>
                <a:ea typeface="Poppins ExtraBold" pitchFamily="34" charset="-122"/>
                <a:cs typeface="Poppins ExtraBold" pitchFamily="34" charset="-120"/>
              </a:rPr>
              <a:t>2</a:t>
            </a:r>
            <a:endParaRPr lang="en-US" sz="1600" dirty="0"/>
          </a:p>
        </p:txBody>
      </p:sp>
      <p:sp>
        <p:nvSpPr>
          <p:cNvPr id="12" name="Text 9"/>
          <p:cNvSpPr txBox="1"/>
          <p:nvPr/>
        </p:nvSpPr>
        <p:spPr>
          <a:xfrm>
            <a:off x="1417320" y="3767328"/>
            <a:ext cx="7132320" cy="320040"/>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Rahmen und Werbebudget festlegen</a:t>
            </a:r>
            <a:endParaRPr lang="en-US" sz="1600" dirty="0"/>
          </a:p>
        </p:txBody>
      </p:sp>
      <p:sp>
        <p:nvSpPr>
          <p:cNvPr id="13" name="Text 10"/>
          <p:cNvSpPr txBox="1"/>
          <p:nvPr/>
        </p:nvSpPr>
        <p:spPr>
          <a:xfrm>
            <a:off x="1417320" y="4087368"/>
            <a:ext cx="7132320" cy="2743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besprechen wir gern persönlich</a:t>
            </a:r>
            <a:endParaRPr lang="en-US" sz="1200" dirty="0"/>
          </a:p>
        </p:txBody>
      </p:sp>
      <p:sp>
        <p:nvSpPr>
          <p:cNvPr id="14" name="Shape 11"/>
          <p:cNvSpPr/>
          <p:nvPr/>
        </p:nvSpPr>
        <p:spPr>
          <a:xfrm>
            <a:off x="685800" y="4709160"/>
            <a:ext cx="502920" cy="502920"/>
          </a:xfrm>
          <a:prstGeom prst="ellipse">
            <a:avLst/>
          </a:prstGeom>
          <a:solidFill>
            <a:srgbClr val="EB5A1B"/>
          </a:solidFill>
          <a:ln w="12700">
            <a:solidFill>
              <a:srgbClr val="EB5A1B"/>
            </a:solidFill>
            <a:prstDash val="solid"/>
          </a:ln>
        </p:spPr>
      </p:sp>
      <p:sp>
        <p:nvSpPr>
          <p:cNvPr id="15" name="Text 12"/>
          <p:cNvSpPr txBox="1"/>
          <p:nvPr/>
        </p:nvSpPr>
        <p:spPr>
          <a:xfrm>
            <a:off x="685800" y="4709160"/>
            <a:ext cx="50292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Poppins ExtraBold" pitchFamily="34" charset="0"/>
                <a:ea typeface="Poppins ExtraBold" pitchFamily="34" charset="-122"/>
                <a:cs typeface="Poppins ExtraBold" pitchFamily="34" charset="-120"/>
              </a:rPr>
              <a:t>3</a:t>
            </a:r>
            <a:endParaRPr lang="en-US" sz="1600" dirty="0"/>
          </a:p>
        </p:txBody>
      </p:sp>
      <p:sp>
        <p:nvSpPr>
          <p:cNvPr id="16" name="Text 13"/>
          <p:cNvSpPr txBox="1"/>
          <p:nvPr/>
        </p:nvSpPr>
        <p:spPr>
          <a:xfrm>
            <a:off x="1417320" y="4681728"/>
            <a:ext cx="7132320" cy="320040"/>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Freigabe von Profilbild und Ansprache</a:t>
            </a:r>
            <a:endParaRPr lang="en-US" sz="1600" dirty="0"/>
          </a:p>
        </p:txBody>
      </p:sp>
      <p:sp>
        <p:nvSpPr>
          <p:cNvPr id="17" name="Text 14"/>
          <p:cNvSpPr txBox="1"/>
          <p:nvPr/>
        </p:nvSpPr>
        <p:spPr>
          <a:xfrm>
            <a:off x="1417320" y="5001768"/>
            <a:ext cx="7132320" cy="274320"/>
          </a:xfrm>
          <a:prstGeom prst="rect">
            <a:avLst/>
          </a:prstGeom>
          <a:noFill/>
          <a:ln/>
        </p:spPr>
        <p:txBody>
          <a:bodyPr wrap="square" lIns="0" tIns="0" rIns="0" bIns="0" rtlCol="0" anchor="t"/>
          <a:lstStyle/>
          <a:p>
            <a:pPr indent="0" marL="0">
              <a:buNone/>
            </a:pPr>
            <a:r>
              <a:rPr lang="en-US" sz="1200" dirty="0">
                <a:solidFill>
                  <a:srgbClr val="B4B5BB"/>
                </a:solidFill>
                <a:latin typeface="Poppins" pitchFamily="34" charset="0"/>
                <a:ea typeface="Poppins" pitchFamily="34" charset="-122"/>
                <a:cs typeface="Poppins" pitchFamily="34" charset="-120"/>
              </a:rPr>
              <a:t>Signal-Symbol aus dem Logo, „du“ auf Instagram</a:t>
            </a:r>
            <a:endParaRPr lang="en-US" sz="1200" dirty="0"/>
          </a:p>
        </p:txBody>
      </p:sp>
      <p:pic>
        <p:nvPicPr>
          <p:cNvPr id="18" name="Image 1" descr="/home/user/Marlene/poleschak-social-media/assets/logo-negativ.png">    </p:cNvPr>
          <p:cNvPicPr>
            <a:picLocks noChangeAspect="1"/>
          </p:cNvPicPr>
          <p:nvPr/>
        </p:nvPicPr>
        <p:blipFill>
          <a:blip r:embed="rId2"/>
          <a:stretch>
            <a:fillRect/>
          </a:stretch>
        </p:blipFill>
        <p:spPr>
          <a:xfrm>
            <a:off x="685800" y="6291072"/>
            <a:ext cx="643680" cy="329184"/>
          </a:xfrm>
          <a:prstGeom prst="rect">
            <a:avLst/>
          </a:prstGeom>
        </p:spPr>
      </p:pic>
      <p:sp>
        <p:nvSpPr>
          <p:cNvPr id="19" name="Text 15"/>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1100" spc="300" kern="0" dirty="0">
                <a:solidFill>
                  <a:srgbClr val="B4B5BB"/>
                </a:solidFill>
                <a:latin typeface="Poppins Light" pitchFamily="34" charset="0"/>
                <a:ea typeface="Poppins Light" pitchFamily="34" charset="-122"/>
                <a:cs typeface="Poppins Light"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Social-Media-Masterplan Alarmanlagen Poleschak</dc:title>
  <dc:subject>PptxGenJS Presentation</dc:subject>
  <dc:creator>Social Media · Alarmanlagen Poleschak</dc:creator>
  <cp:lastModifiedBy>Social Media · Alarmanlagen Poleschak</cp:lastModifiedBy>
  <cp:revision>1</cp:revision>
  <dcterms:created xsi:type="dcterms:W3CDTF">2026-10-07T08:04:28Z</dcterms:created>
  <dcterms:modified xsi:type="dcterms:W3CDTF">2026-10-07T08:04:28Z</dcterms:modified>
</cp:coreProperties>
</file>